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5"/>
  </p:notesMasterIdLst>
  <p:sldIdLst>
    <p:sldId id="313" r:id="rId2"/>
    <p:sldId id="314" r:id="rId3"/>
    <p:sldId id="591" r:id="rId4"/>
    <p:sldId id="592" r:id="rId5"/>
    <p:sldId id="593" r:id="rId6"/>
    <p:sldId id="667" r:id="rId7"/>
    <p:sldId id="668" r:id="rId8"/>
    <p:sldId id="669" r:id="rId9"/>
    <p:sldId id="670" r:id="rId10"/>
    <p:sldId id="671" r:id="rId11"/>
    <p:sldId id="672" r:id="rId12"/>
    <p:sldId id="673" r:id="rId13"/>
    <p:sldId id="674" r:id="rId14"/>
    <p:sldId id="675" r:id="rId15"/>
    <p:sldId id="676" r:id="rId16"/>
    <p:sldId id="677" r:id="rId17"/>
    <p:sldId id="678" r:id="rId18"/>
    <p:sldId id="679" r:id="rId19"/>
    <p:sldId id="680" r:id="rId20"/>
    <p:sldId id="681" r:id="rId21"/>
    <p:sldId id="682" r:id="rId22"/>
    <p:sldId id="594" r:id="rId23"/>
    <p:sldId id="683" r:id="rId24"/>
    <p:sldId id="684" r:id="rId25"/>
    <p:sldId id="685" r:id="rId26"/>
    <p:sldId id="686" r:id="rId27"/>
    <p:sldId id="687" r:id="rId28"/>
    <p:sldId id="688" r:id="rId29"/>
    <p:sldId id="689" r:id="rId30"/>
    <p:sldId id="690" r:id="rId31"/>
    <p:sldId id="691" r:id="rId32"/>
    <p:sldId id="692" r:id="rId33"/>
    <p:sldId id="693" r:id="rId34"/>
    <p:sldId id="694" r:id="rId35"/>
    <p:sldId id="695" r:id="rId36"/>
    <p:sldId id="696" r:id="rId37"/>
    <p:sldId id="697" r:id="rId38"/>
    <p:sldId id="698" r:id="rId39"/>
    <p:sldId id="699" r:id="rId40"/>
    <p:sldId id="700" r:id="rId41"/>
    <p:sldId id="701" r:id="rId42"/>
    <p:sldId id="598" r:id="rId43"/>
    <p:sldId id="702" r:id="rId44"/>
    <p:sldId id="703" r:id="rId45"/>
    <p:sldId id="704" r:id="rId46"/>
    <p:sldId id="705" r:id="rId47"/>
    <p:sldId id="706" r:id="rId48"/>
    <p:sldId id="707" r:id="rId49"/>
    <p:sldId id="708" r:id="rId50"/>
    <p:sldId id="709" r:id="rId51"/>
    <p:sldId id="710" r:id="rId52"/>
    <p:sldId id="711" r:id="rId53"/>
    <p:sldId id="712" r:id="rId54"/>
    <p:sldId id="713" r:id="rId55"/>
    <p:sldId id="714" r:id="rId56"/>
    <p:sldId id="715" r:id="rId57"/>
    <p:sldId id="716" r:id="rId58"/>
    <p:sldId id="717" r:id="rId59"/>
    <p:sldId id="718" r:id="rId60"/>
    <p:sldId id="719" r:id="rId61"/>
    <p:sldId id="595" r:id="rId62"/>
    <p:sldId id="720" r:id="rId63"/>
    <p:sldId id="721" r:id="rId64"/>
    <p:sldId id="722" r:id="rId65"/>
    <p:sldId id="723" r:id="rId66"/>
    <p:sldId id="724" r:id="rId67"/>
    <p:sldId id="725" r:id="rId68"/>
    <p:sldId id="726" r:id="rId69"/>
    <p:sldId id="727" r:id="rId70"/>
    <p:sldId id="728" r:id="rId71"/>
    <p:sldId id="729" r:id="rId72"/>
    <p:sldId id="730" r:id="rId73"/>
    <p:sldId id="731" r:id="rId74"/>
    <p:sldId id="732" r:id="rId75"/>
    <p:sldId id="733" r:id="rId76"/>
    <p:sldId id="734" r:id="rId77"/>
    <p:sldId id="596" r:id="rId78"/>
    <p:sldId id="735" r:id="rId79"/>
    <p:sldId id="736" r:id="rId80"/>
    <p:sldId id="737" r:id="rId81"/>
    <p:sldId id="738" r:id="rId82"/>
    <p:sldId id="739" r:id="rId83"/>
    <p:sldId id="740" r:id="rId84"/>
    <p:sldId id="741" r:id="rId85"/>
    <p:sldId id="742" r:id="rId86"/>
    <p:sldId id="743" r:id="rId87"/>
    <p:sldId id="744" r:id="rId88"/>
    <p:sldId id="597" r:id="rId89"/>
    <p:sldId id="745" r:id="rId90"/>
    <p:sldId id="399" r:id="rId91"/>
    <p:sldId id="746" r:id="rId92"/>
    <p:sldId id="666" r:id="rId93"/>
    <p:sldId id="400" r:id="rId9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user" initials="u" lastIdx="1" clrIdx="0">
    <p:extLst>
      <p:ext uri="{19B8F6BF-5375-455C-9EA6-DF929625EA0E}">
        <p15:presenceInfo xmlns:p15="http://schemas.microsoft.com/office/powerpoint/2012/main" userId="user"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000" autoAdjust="0"/>
    <p:restoredTop sz="94674"/>
  </p:normalViewPr>
  <p:slideViewPr>
    <p:cSldViewPr snapToGrid="0" snapToObjects="1">
      <p:cViewPr varScale="1">
        <p:scale>
          <a:sx n="73" d="100"/>
          <a:sy n="73" d="100"/>
        </p:scale>
        <p:origin x="30"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notesMaster" Target="notesMasters/notesMaster1.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A833221-8C44-4940-85C0-05B84ECE8C2C}" type="datetimeFigureOut">
              <a:rPr lang="en-US" smtClean="0"/>
              <a:t>9/12/2026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C55960C-F4FE-1446-BB46-33B2B8ACB8BB}" type="slidenum">
              <a:rPr lang="en-US" smtClean="0"/>
              <a:t>‹#›</a:t>
            </a:fld>
            <a:endParaRPr lang="en-US"/>
          </a:p>
        </p:txBody>
      </p:sp>
    </p:spTree>
    <p:extLst>
      <p:ext uri="{BB962C8B-B14F-4D97-AF65-F5344CB8AC3E}">
        <p14:creationId xmlns:p14="http://schemas.microsoft.com/office/powerpoint/2010/main" val="15483395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3" name="矩形 12">
            <a:extLst>
              <a:ext uri="{FF2B5EF4-FFF2-40B4-BE49-F238E27FC236}">
                <a16:creationId xmlns:a16="http://schemas.microsoft.com/office/drawing/2014/main" id="{BEE1E178-0F7E-40DF-818B-ED6BE04D2D57}"/>
              </a:ext>
            </a:extLst>
          </p:cNvPr>
          <p:cNvSpPr/>
          <p:nvPr userDrawn="1"/>
        </p:nvSpPr>
        <p:spPr>
          <a:xfrm>
            <a:off x="1" y="0"/>
            <a:ext cx="12192000" cy="1122364"/>
          </a:xfrm>
          <a:prstGeom prst="rect">
            <a:avLst/>
          </a:prstGeom>
          <a:gradFill>
            <a:gsLst>
              <a:gs pos="0">
                <a:schemeClr val="bg1"/>
              </a:gs>
              <a:gs pos="100000">
                <a:schemeClr val="accent1">
                  <a:lumMod val="40000"/>
                  <a:lumOff val="60000"/>
                </a:schemeClr>
              </a:gs>
            </a:gsLst>
            <a:lin ang="60000" scaled="0"/>
          </a:gradFill>
          <a:ln>
            <a:noFill/>
          </a:ln>
          <a:effectLst>
            <a:outerShdw blurRad="635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MO" altLang="en-US"/>
          </a:p>
        </p:txBody>
      </p:sp>
      <p:sp>
        <p:nvSpPr>
          <p:cNvPr id="14" name="矩形 13">
            <a:extLst>
              <a:ext uri="{FF2B5EF4-FFF2-40B4-BE49-F238E27FC236}">
                <a16:creationId xmlns:a16="http://schemas.microsoft.com/office/drawing/2014/main" id="{C7F489B8-EDBD-493E-AE28-EE4DFED23257}"/>
              </a:ext>
            </a:extLst>
          </p:cNvPr>
          <p:cNvSpPr/>
          <p:nvPr userDrawn="1"/>
        </p:nvSpPr>
        <p:spPr>
          <a:xfrm>
            <a:off x="1" y="6271591"/>
            <a:ext cx="12192000" cy="586408"/>
          </a:xfrm>
          <a:prstGeom prst="rect">
            <a:avLst/>
          </a:prstGeom>
          <a:gradFill>
            <a:gsLst>
              <a:gs pos="0">
                <a:schemeClr val="bg1"/>
              </a:gs>
              <a:gs pos="100000">
                <a:schemeClr val="accent1">
                  <a:lumMod val="40000"/>
                  <a:lumOff val="6000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MO" dirty="0"/>
              <a:t>©</a:t>
            </a:r>
            <a:endParaRPr lang="zh-MO" altLang="en-US" dirty="0"/>
          </a:p>
        </p:txBody>
      </p:sp>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i="1"/>
            </a:lvl1pPr>
          </a:lstStyle>
          <a:p>
            <a:r>
              <a:rPr lang="en-US" dirty="0"/>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p:cNvSpPr>
            <a:spLocks noGrp="1"/>
          </p:cNvSpPr>
          <p:nvPr>
            <p:ph type="dt" sz="half" idx="10"/>
          </p:nvPr>
        </p:nvSpPr>
        <p:spPr>
          <a:xfrm>
            <a:off x="838200" y="6382233"/>
            <a:ext cx="2743200" cy="365125"/>
          </a:xfrm>
          <a:prstGeom prst="rect">
            <a:avLst/>
          </a:prstGeom>
        </p:spPr>
        <p:txBody>
          <a:bodyPr/>
          <a:lstStyle/>
          <a:p>
            <a:fld id="{11FA04E9-0EE2-40C8-BFBC-BC04484C29D5}" type="datetime1">
              <a:rPr lang="en-US" altLang="zh-MO" smtClean="0"/>
              <a:t>9/12/2026</a:t>
            </a:fld>
            <a:endParaRPr lang="en-US"/>
          </a:p>
        </p:txBody>
      </p:sp>
      <p:sp>
        <p:nvSpPr>
          <p:cNvPr id="6" name="Slide Number Placeholder 5"/>
          <p:cNvSpPr>
            <a:spLocks noGrp="1"/>
          </p:cNvSpPr>
          <p:nvPr>
            <p:ph type="sldNum" sz="quarter" idx="12"/>
          </p:nvPr>
        </p:nvSpPr>
        <p:spPr>
          <a:xfrm>
            <a:off x="8610600" y="6382233"/>
            <a:ext cx="2743200" cy="365125"/>
          </a:xfrm>
          <a:prstGeom prst="rect">
            <a:avLst/>
          </a:prstGeom>
        </p:spPr>
        <p:txBody>
          <a:bodyPr/>
          <a:lstStyle/>
          <a:p>
            <a:fld id="{157A70C7-976B-1545-8BFA-34AB1D1A2AF1}" type="slidenum">
              <a:rPr lang="en-US" smtClean="0"/>
              <a:t>‹#›</a:t>
            </a:fld>
            <a:endParaRPr lang="en-US"/>
          </a:p>
        </p:txBody>
      </p:sp>
      <p:pic>
        <p:nvPicPr>
          <p:cNvPr id="15" name="圖片 14">
            <a:extLst>
              <a:ext uri="{FF2B5EF4-FFF2-40B4-BE49-F238E27FC236}">
                <a16:creationId xmlns:a16="http://schemas.microsoft.com/office/drawing/2014/main" id="{30BF4434-C93C-40EC-81D3-04B9B0FDD79C}"/>
              </a:ext>
            </a:extLst>
          </p:cNvPr>
          <p:cNvPicPr>
            <a:picLocks noChangeAspect="1"/>
          </p:cNvPicPr>
          <p:nvPr userDrawn="1"/>
        </p:nvPicPr>
        <p:blipFill>
          <a:blip r:embed="rId2"/>
          <a:stretch>
            <a:fillRect/>
          </a:stretch>
        </p:blipFill>
        <p:spPr>
          <a:xfrm>
            <a:off x="9248634" y="167622"/>
            <a:ext cx="2754355" cy="787120"/>
          </a:xfrm>
          <a:prstGeom prst="rect">
            <a:avLst/>
          </a:prstGeom>
        </p:spPr>
      </p:pic>
      <p:pic>
        <p:nvPicPr>
          <p:cNvPr id="16" name="圖片 15">
            <a:extLst>
              <a:ext uri="{FF2B5EF4-FFF2-40B4-BE49-F238E27FC236}">
                <a16:creationId xmlns:a16="http://schemas.microsoft.com/office/drawing/2014/main" id="{57CEB274-ED76-492E-A58F-D1FE96D63205}"/>
              </a:ext>
            </a:extLst>
          </p:cNvPr>
          <p:cNvPicPr>
            <a:picLocks noChangeAspect="1"/>
          </p:cNvPicPr>
          <p:nvPr userDrawn="1"/>
        </p:nvPicPr>
        <p:blipFill>
          <a:blip r:embed="rId3"/>
          <a:stretch>
            <a:fillRect/>
          </a:stretch>
        </p:blipFill>
        <p:spPr>
          <a:xfrm>
            <a:off x="8223337" y="167622"/>
            <a:ext cx="774526" cy="787120"/>
          </a:xfrm>
          <a:prstGeom prst="rect">
            <a:avLst/>
          </a:prstGeom>
        </p:spPr>
      </p:pic>
    </p:spTree>
    <p:extLst>
      <p:ext uri="{BB962C8B-B14F-4D97-AF65-F5344CB8AC3E}">
        <p14:creationId xmlns:p14="http://schemas.microsoft.com/office/powerpoint/2010/main" val="10618231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tmplLst>
          <p:tmpl lvl="1">
            <p:tnLst>
              <p:par>
                <p:cTn presetID="10"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Lst>
      </p:bldP>
    </p:bld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9" name="矩形 8">
            <a:extLst>
              <a:ext uri="{FF2B5EF4-FFF2-40B4-BE49-F238E27FC236}">
                <a16:creationId xmlns:a16="http://schemas.microsoft.com/office/drawing/2014/main" id="{C88190DD-962B-4357-9524-67BD8E515910}"/>
              </a:ext>
            </a:extLst>
          </p:cNvPr>
          <p:cNvSpPr/>
          <p:nvPr userDrawn="1"/>
        </p:nvSpPr>
        <p:spPr>
          <a:xfrm>
            <a:off x="1" y="-1"/>
            <a:ext cx="12192000" cy="1689101"/>
          </a:xfrm>
          <a:prstGeom prst="rect">
            <a:avLst/>
          </a:prstGeom>
          <a:gradFill>
            <a:gsLst>
              <a:gs pos="0">
                <a:schemeClr val="bg1"/>
              </a:gs>
              <a:gs pos="100000">
                <a:schemeClr val="accent1">
                  <a:lumMod val="40000"/>
                  <a:lumOff val="60000"/>
                </a:schemeClr>
              </a:gs>
            </a:gsLst>
            <a:lin ang="60000" scaled="0"/>
          </a:gradFill>
          <a:ln>
            <a:noFill/>
          </a:ln>
          <a:effectLst>
            <a:outerShdw blurRad="635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MO" altLang="en-US"/>
          </a:p>
        </p:txBody>
      </p:sp>
      <p:sp>
        <p:nvSpPr>
          <p:cNvPr id="10" name="矩形 9">
            <a:extLst>
              <a:ext uri="{FF2B5EF4-FFF2-40B4-BE49-F238E27FC236}">
                <a16:creationId xmlns:a16="http://schemas.microsoft.com/office/drawing/2014/main" id="{3A58229C-C7D7-44A7-A29D-A6B3E874472E}"/>
              </a:ext>
            </a:extLst>
          </p:cNvPr>
          <p:cNvSpPr/>
          <p:nvPr userDrawn="1"/>
        </p:nvSpPr>
        <p:spPr>
          <a:xfrm>
            <a:off x="1" y="6271591"/>
            <a:ext cx="12192000" cy="586408"/>
          </a:xfrm>
          <a:prstGeom prst="rect">
            <a:avLst/>
          </a:prstGeom>
          <a:gradFill>
            <a:gsLst>
              <a:gs pos="0">
                <a:schemeClr val="bg1"/>
              </a:gs>
              <a:gs pos="100000">
                <a:schemeClr val="accent1">
                  <a:lumMod val="40000"/>
                  <a:lumOff val="6000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MO" dirty="0"/>
              <a:t>©</a:t>
            </a:r>
            <a:endParaRPr lang="zh-MO" altLang="en-US" dirty="0"/>
          </a:p>
        </p:txBody>
      </p:sp>
      <p:sp>
        <p:nvSpPr>
          <p:cNvPr id="2" name="Title 1"/>
          <p:cNvSpPr>
            <a:spLocks noGrp="1"/>
          </p:cNvSpPr>
          <p:nvPr>
            <p:ph type="title" hasCustomPrompt="1"/>
          </p:nvPr>
        </p:nvSpPr>
        <p:spPr>
          <a:xfrm>
            <a:off x="838200" y="774948"/>
            <a:ext cx="9210261" cy="915740"/>
          </a:xfrm>
          <a:prstGeom prst="rect">
            <a:avLst/>
          </a:prstGeom>
        </p:spPr>
        <p:txBody>
          <a:bodyPr anchor="b">
            <a:normAutofit/>
          </a:bodyPr>
          <a:lstStyle>
            <a:lvl1pPr algn="r">
              <a:defRPr sz="4000">
                <a:solidFill>
                  <a:schemeClr val="tx1">
                    <a:lumMod val="50000"/>
                    <a:lumOff val="50000"/>
                  </a:schemeClr>
                </a:solidFill>
                <a:latin typeface="Gill Sans"/>
              </a:defRPr>
            </a:lvl1pPr>
          </a:lstStyle>
          <a:p>
            <a:r>
              <a:rPr lang="en-US" dirty="0"/>
              <a:t>Sub-title</a:t>
            </a:r>
          </a:p>
        </p:txBody>
      </p:sp>
      <p:sp>
        <p:nvSpPr>
          <p:cNvPr id="3" name="Content Placeholder 2"/>
          <p:cNvSpPr>
            <a:spLocks noGrp="1"/>
          </p:cNvSpPr>
          <p:nvPr>
            <p:ph idx="1"/>
          </p:nvPr>
        </p:nvSpPr>
        <p:spPr>
          <a:xfrm>
            <a:off x="838200" y="1825625"/>
            <a:ext cx="10515600" cy="4351338"/>
          </a:xfrm>
        </p:spPr>
        <p:txBody>
          <a:bodyPr/>
          <a:lstStyle>
            <a:lvl1pPr>
              <a:spcBef>
                <a:spcPts val="1600"/>
              </a:spcBef>
              <a:defRPr>
                <a:latin typeface="Gill Sans"/>
              </a:defRPr>
            </a:lvl1pPr>
            <a:lvl2pPr>
              <a:defRPr>
                <a:solidFill>
                  <a:srgbClr val="0070C0"/>
                </a:solidFill>
                <a:latin typeface="Gill Sans"/>
              </a:defRPr>
            </a:lvl2pPr>
            <a:lvl3pPr>
              <a:defRPr>
                <a:latin typeface="Gill Sans"/>
              </a:defRPr>
            </a:lvl3pPr>
            <a:lvl4pPr>
              <a:defRPr>
                <a:latin typeface="Gill Sans"/>
              </a:defRPr>
            </a:lvl4pPr>
            <a:lvl5pPr>
              <a:defRPr>
                <a:latin typeface="Gill Sans"/>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a:xfrm>
            <a:off x="838200" y="6382233"/>
            <a:ext cx="2743200" cy="365125"/>
          </a:xfrm>
          <a:prstGeom prst="rect">
            <a:avLst/>
          </a:prstGeom>
        </p:spPr>
        <p:txBody>
          <a:bodyPr/>
          <a:lstStyle/>
          <a:p>
            <a:fld id="{D2B9E08E-9F60-4924-A1F4-6136D473996B}" type="datetime1">
              <a:rPr lang="en-US" altLang="zh-MO" smtClean="0"/>
              <a:t>9/12/2026</a:t>
            </a:fld>
            <a:endParaRPr lang="en-US"/>
          </a:p>
        </p:txBody>
      </p:sp>
      <p:sp>
        <p:nvSpPr>
          <p:cNvPr id="5" name="Footer Placeholder 4"/>
          <p:cNvSpPr>
            <a:spLocks noGrp="1"/>
          </p:cNvSpPr>
          <p:nvPr>
            <p:ph type="ftr" sz="quarter" idx="11"/>
          </p:nvPr>
        </p:nvSpPr>
        <p:spPr>
          <a:xfrm>
            <a:off x="7765774" y="6382233"/>
            <a:ext cx="4114800" cy="365125"/>
          </a:xfrm>
          <a:prstGeom prst="rect">
            <a:avLst/>
          </a:prstGeom>
        </p:spPr>
        <p:txBody>
          <a:bodyPr/>
          <a:lstStyle/>
          <a:p>
            <a:pPr algn="r"/>
            <a:fld id="{215E7548-F18C-4C4B-B96B-B6533EE29CBB}" type="slidenum">
              <a:rPr lang="en-US" altLang="zh-MO" smtClean="0"/>
              <a:pPr algn="r"/>
              <a:t>‹#›</a:t>
            </a:fld>
            <a:endParaRPr lang="en-US" dirty="0"/>
          </a:p>
        </p:txBody>
      </p:sp>
      <p:pic>
        <p:nvPicPr>
          <p:cNvPr id="7" name="圖片 6">
            <a:extLst>
              <a:ext uri="{FF2B5EF4-FFF2-40B4-BE49-F238E27FC236}">
                <a16:creationId xmlns:a16="http://schemas.microsoft.com/office/drawing/2014/main" id="{6A189AF2-73F6-440E-A230-1CD4358680A2}"/>
              </a:ext>
            </a:extLst>
          </p:cNvPr>
          <p:cNvPicPr>
            <a:picLocks noChangeAspect="1"/>
          </p:cNvPicPr>
          <p:nvPr userDrawn="1"/>
        </p:nvPicPr>
        <p:blipFill>
          <a:blip r:embed="rId2"/>
          <a:stretch>
            <a:fillRect/>
          </a:stretch>
        </p:blipFill>
        <p:spPr>
          <a:xfrm>
            <a:off x="9694355" y="115203"/>
            <a:ext cx="2308634" cy="659745"/>
          </a:xfrm>
          <a:prstGeom prst="rect">
            <a:avLst/>
          </a:prstGeom>
        </p:spPr>
      </p:pic>
      <p:pic>
        <p:nvPicPr>
          <p:cNvPr id="8" name="圖片 7">
            <a:extLst>
              <a:ext uri="{FF2B5EF4-FFF2-40B4-BE49-F238E27FC236}">
                <a16:creationId xmlns:a16="http://schemas.microsoft.com/office/drawing/2014/main" id="{9D6FD876-0747-449E-ADC2-1296E1CB4E0F}"/>
              </a:ext>
            </a:extLst>
          </p:cNvPr>
          <p:cNvPicPr>
            <a:picLocks noChangeAspect="1"/>
          </p:cNvPicPr>
          <p:nvPr userDrawn="1"/>
        </p:nvPicPr>
        <p:blipFill>
          <a:blip r:embed="rId3"/>
          <a:stretch>
            <a:fillRect/>
          </a:stretch>
        </p:blipFill>
        <p:spPr>
          <a:xfrm>
            <a:off x="8861833" y="115203"/>
            <a:ext cx="649189" cy="659745"/>
          </a:xfrm>
          <a:prstGeom prst="rect">
            <a:avLst/>
          </a:prstGeom>
        </p:spPr>
      </p:pic>
      <p:sp>
        <p:nvSpPr>
          <p:cNvPr id="19" name="文字版面配置區 18">
            <a:extLst>
              <a:ext uri="{FF2B5EF4-FFF2-40B4-BE49-F238E27FC236}">
                <a16:creationId xmlns:a16="http://schemas.microsoft.com/office/drawing/2014/main" id="{CE93BD6E-8F1D-47FF-A212-46E65C13D2B3}"/>
              </a:ext>
            </a:extLst>
          </p:cNvPr>
          <p:cNvSpPr>
            <a:spLocks noGrp="1"/>
          </p:cNvSpPr>
          <p:nvPr>
            <p:ph type="body" sz="quarter" idx="13" hasCustomPrompt="1"/>
          </p:nvPr>
        </p:nvSpPr>
        <p:spPr>
          <a:xfrm>
            <a:off x="838200" y="407318"/>
            <a:ext cx="8667143" cy="915740"/>
          </a:xfr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a:buNone/>
              <a:tabLst/>
              <a:defRPr sz="4400" b="1">
                <a:latin typeface="Gill Sans"/>
              </a:defRPr>
            </a:lvl1pPr>
          </a:lstStyle>
          <a:p>
            <a:pPr marL="0" marR="0" lvl="0" indent="0" algn="l" defTabSz="914400" rtl="0" eaLnBrk="1" fontAlgn="auto" latinLnBrk="0" hangingPunct="1">
              <a:lnSpc>
                <a:spcPct val="90000"/>
              </a:lnSpc>
              <a:spcBef>
                <a:spcPts val="1000"/>
              </a:spcBef>
              <a:spcAft>
                <a:spcPts val="0"/>
              </a:spcAft>
              <a:buClrTx/>
              <a:buSzTx/>
              <a:buFont typeface="Arial"/>
              <a:buNone/>
              <a:tabLst/>
              <a:defRPr/>
            </a:pPr>
            <a:r>
              <a:rPr lang="en-US" altLang="zh-MO" dirty="0"/>
              <a:t>Click to edit Master title style</a:t>
            </a:r>
          </a:p>
          <a:p>
            <a:pPr lvl="0"/>
            <a:endParaRPr lang="zh-MO" altLang="en-US" dirty="0"/>
          </a:p>
        </p:txBody>
      </p:sp>
      <p:sp>
        <p:nvSpPr>
          <p:cNvPr id="6" name="矩形 5">
            <a:extLst>
              <a:ext uri="{FF2B5EF4-FFF2-40B4-BE49-F238E27FC236}">
                <a16:creationId xmlns:a16="http://schemas.microsoft.com/office/drawing/2014/main" id="{9DB09FA7-6A0C-4C9C-9C4C-DA280E903506}"/>
              </a:ext>
            </a:extLst>
          </p:cNvPr>
          <p:cNvSpPr/>
          <p:nvPr userDrawn="1"/>
        </p:nvSpPr>
        <p:spPr>
          <a:xfrm>
            <a:off x="10258216" y="1319768"/>
            <a:ext cx="1744773" cy="369332"/>
          </a:xfrm>
          <a:prstGeom prst="rect">
            <a:avLst/>
          </a:prstGeom>
        </p:spPr>
        <p:txBody>
          <a:bodyPr wrap="none">
            <a:spAutoFit/>
          </a:bodyPr>
          <a:lstStyle/>
          <a:p>
            <a:r>
              <a:rPr lang="en-US" altLang="zh-MO" sz="1800" b="1" dirty="0">
                <a:solidFill>
                  <a:srgbClr val="4472C4">
                    <a:lumMod val="75000"/>
                  </a:srgbClr>
                </a:solidFill>
              </a:rPr>
              <a:t>Dr. Kam Hou Vat</a:t>
            </a:r>
            <a:endParaRPr lang="zh-MO" altLang="en-US" b="1" dirty="0"/>
          </a:p>
        </p:txBody>
      </p:sp>
    </p:spTree>
    <p:extLst>
      <p:ext uri="{BB962C8B-B14F-4D97-AF65-F5344CB8AC3E}">
        <p14:creationId xmlns:p14="http://schemas.microsoft.com/office/powerpoint/2010/main" val="4729116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500"/>
                                        <p:tgtEl>
                                          <p:spTgt spid="3">
                                            <p:txEl>
                                              <p:pRg st="2" end="2"/>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fade">
                                      <p:cBhvr>
                                        <p:cTn id="16" dur="500"/>
                                        <p:tgtEl>
                                          <p:spTgt spid="3">
                                            <p:txEl>
                                              <p:pRg st="3" end="3"/>
                                            </p:txEl>
                                          </p:spTgt>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Effect transition="in" filter="fade">
                                      <p:cBhvr>
                                        <p:cTn id="19"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tmplLst>
          <p:tmpl lvl="1">
            <p:tnLst>
              <p:par>
                <p:cTn presetID="10"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2">
            <p:tnLst>
              <p:par>
                <p:cTn presetID="10"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3">
            <p:tnLst>
              <p:par>
                <p:cTn presetID="10"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4">
            <p:tnLst>
              <p:par>
                <p:cTn presetID="10"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5">
            <p:tnLst>
              <p:par>
                <p:cTn presetID="10"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Lst>
      </p:bldP>
    </p:bld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矩形 6">
            <a:extLst>
              <a:ext uri="{FF2B5EF4-FFF2-40B4-BE49-F238E27FC236}">
                <a16:creationId xmlns:a16="http://schemas.microsoft.com/office/drawing/2014/main" id="{475CCDB0-E652-45F4-8630-E51FBBA1F368}"/>
              </a:ext>
            </a:extLst>
          </p:cNvPr>
          <p:cNvSpPr/>
          <p:nvPr userDrawn="1"/>
        </p:nvSpPr>
        <p:spPr>
          <a:xfrm>
            <a:off x="1" y="0"/>
            <a:ext cx="12192000" cy="1122364"/>
          </a:xfrm>
          <a:prstGeom prst="rect">
            <a:avLst/>
          </a:prstGeom>
          <a:gradFill>
            <a:gsLst>
              <a:gs pos="0">
                <a:schemeClr val="bg1"/>
              </a:gs>
              <a:gs pos="100000">
                <a:schemeClr val="accent1">
                  <a:lumMod val="40000"/>
                  <a:lumOff val="60000"/>
                </a:schemeClr>
              </a:gs>
            </a:gsLst>
            <a:lin ang="60000" scaled="0"/>
          </a:gradFill>
          <a:ln>
            <a:noFill/>
          </a:ln>
          <a:effectLst>
            <a:outerShdw blurRad="635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MO" altLang="en-US"/>
          </a:p>
        </p:txBody>
      </p:sp>
      <p:sp>
        <p:nvSpPr>
          <p:cNvPr id="8" name="矩形 7">
            <a:extLst>
              <a:ext uri="{FF2B5EF4-FFF2-40B4-BE49-F238E27FC236}">
                <a16:creationId xmlns:a16="http://schemas.microsoft.com/office/drawing/2014/main" id="{D86AF766-04C9-43AB-ABA0-53BF82A38BC3}"/>
              </a:ext>
            </a:extLst>
          </p:cNvPr>
          <p:cNvSpPr/>
          <p:nvPr userDrawn="1"/>
        </p:nvSpPr>
        <p:spPr>
          <a:xfrm>
            <a:off x="1" y="6271591"/>
            <a:ext cx="12192000" cy="586408"/>
          </a:xfrm>
          <a:prstGeom prst="rect">
            <a:avLst/>
          </a:prstGeom>
          <a:gradFill>
            <a:gsLst>
              <a:gs pos="0">
                <a:schemeClr val="bg1"/>
              </a:gs>
              <a:gs pos="100000">
                <a:schemeClr val="accent1">
                  <a:lumMod val="40000"/>
                  <a:lumOff val="6000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MO" dirty="0"/>
              <a:t>©</a:t>
            </a:r>
            <a:endParaRPr lang="zh-MO" altLang="en-US" dirty="0"/>
          </a:p>
        </p:txBody>
      </p:sp>
      <p:sp>
        <p:nvSpPr>
          <p:cNvPr id="2" name="Title 1"/>
          <p:cNvSpPr>
            <a:spLocks noGrp="1"/>
          </p:cNvSpPr>
          <p:nvPr>
            <p:ph type="title"/>
          </p:nvPr>
        </p:nvSpPr>
        <p:spPr>
          <a:xfrm>
            <a:off x="831850" y="1709738"/>
            <a:ext cx="10515600" cy="2852737"/>
          </a:xfrm>
          <a:prstGeom prst="rect">
            <a:avLst/>
          </a:prstGeom>
        </p:spPr>
        <p:txBody>
          <a:bodyPr anchor="b"/>
          <a:lstStyle>
            <a:lvl1pPr>
              <a:defRPr sz="6000"/>
            </a:lvl1pPr>
          </a:lstStyle>
          <a:p>
            <a:r>
              <a:rPr lang="en-US" dirty="0"/>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a:xfrm>
            <a:off x="838200" y="6382233"/>
            <a:ext cx="2743200" cy="365125"/>
          </a:xfrm>
          <a:prstGeom prst="rect">
            <a:avLst/>
          </a:prstGeom>
        </p:spPr>
        <p:txBody>
          <a:bodyPr/>
          <a:lstStyle/>
          <a:p>
            <a:fld id="{F1071087-2106-41B9-B375-99DC49731707}" type="datetime1">
              <a:rPr lang="en-US" altLang="zh-MO" smtClean="0"/>
              <a:t>9/12/2026</a:t>
            </a:fld>
            <a:endParaRPr lang="en-US"/>
          </a:p>
        </p:txBody>
      </p:sp>
      <p:sp>
        <p:nvSpPr>
          <p:cNvPr id="5" name="Footer Placeholder 4"/>
          <p:cNvSpPr>
            <a:spLocks noGrp="1"/>
          </p:cNvSpPr>
          <p:nvPr>
            <p:ph type="ftr" sz="quarter" idx="11"/>
          </p:nvPr>
        </p:nvSpPr>
        <p:spPr>
          <a:xfrm>
            <a:off x="7232650" y="6382233"/>
            <a:ext cx="4114800" cy="365125"/>
          </a:xfrm>
          <a:prstGeom prst="rect">
            <a:avLst/>
          </a:prstGeom>
        </p:spPr>
        <p:txBody>
          <a:bodyPr/>
          <a:lstStyle/>
          <a:p>
            <a:r>
              <a:rPr lang="en-US"/>
              <a:t>‹#›</a:t>
            </a:r>
          </a:p>
        </p:txBody>
      </p:sp>
      <p:pic>
        <p:nvPicPr>
          <p:cNvPr id="9" name="圖片 8">
            <a:extLst>
              <a:ext uri="{FF2B5EF4-FFF2-40B4-BE49-F238E27FC236}">
                <a16:creationId xmlns:a16="http://schemas.microsoft.com/office/drawing/2014/main" id="{A9645388-C1C2-4144-85AD-57A0F9DA4F39}"/>
              </a:ext>
            </a:extLst>
          </p:cNvPr>
          <p:cNvPicPr>
            <a:picLocks noChangeAspect="1"/>
          </p:cNvPicPr>
          <p:nvPr userDrawn="1"/>
        </p:nvPicPr>
        <p:blipFill>
          <a:blip r:embed="rId2"/>
          <a:stretch>
            <a:fillRect/>
          </a:stretch>
        </p:blipFill>
        <p:spPr>
          <a:xfrm>
            <a:off x="9248634" y="167622"/>
            <a:ext cx="2754355" cy="787120"/>
          </a:xfrm>
          <a:prstGeom prst="rect">
            <a:avLst/>
          </a:prstGeom>
        </p:spPr>
      </p:pic>
      <p:pic>
        <p:nvPicPr>
          <p:cNvPr id="10" name="圖片 9">
            <a:extLst>
              <a:ext uri="{FF2B5EF4-FFF2-40B4-BE49-F238E27FC236}">
                <a16:creationId xmlns:a16="http://schemas.microsoft.com/office/drawing/2014/main" id="{D10891DA-5990-40F4-B662-99E8B55686BA}"/>
              </a:ext>
            </a:extLst>
          </p:cNvPr>
          <p:cNvPicPr>
            <a:picLocks noChangeAspect="1"/>
          </p:cNvPicPr>
          <p:nvPr userDrawn="1"/>
        </p:nvPicPr>
        <p:blipFill>
          <a:blip r:embed="rId3"/>
          <a:stretch>
            <a:fillRect/>
          </a:stretch>
        </p:blipFill>
        <p:spPr>
          <a:xfrm>
            <a:off x="8223337" y="167622"/>
            <a:ext cx="774526" cy="787120"/>
          </a:xfrm>
          <a:prstGeom prst="rect">
            <a:avLst/>
          </a:prstGeom>
        </p:spPr>
      </p:pic>
    </p:spTree>
    <p:extLst>
      <p:ext uri="{BB962C8B-B14F-4D97-AF65-F5344CB8AC3E}">
        <p14:creationId xmlns:p14="http://schemas.microsoft.com/office/powerpoint/2010/main" val="3886197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8693078D-4544-43BA-BDA3-64305BED2C84}" type="datetime1">
              <a:rPr lang="en-US" altLang="zh-MO" smtClean="0"/>
              <a:t>9/12/2026</a:t>
            </a:fld>
            <a:endParaRPr lang="en-US"/>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r>
              <a:rPr lang="en-US"/>
              <a:t>‹#›</a:t>
            </a:r>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157A70C7-976B-1545-8BFA-34AB1D1A2AF1}" type="slidenum">
              <a:rPr lang="en-US" smtClean="0"/>
              <a:t>‹#›</a:t>
            </a:fld>
            <a:endParaRPr lang="en-US"/>
          </a:p>
        </p:txBody>
      </p:sp>
    </p:spTree>
    <p:extLst>
      <p:ext uri="{BB962C8B-B14F-4D97-AF65-F5344CB8AC3E}">
        <p14:creationId xmlns:p14="http://schemas.microsoft.com/office/powerpoint/2010/main" val="19351664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fld id="{63BE0CE2-1837-4951-989D-19A49263D811}" type="datetime1">
              <a:rPr lang="en-US" altLang="zh-MO" smtClean="0"/>
              <a:t>9/12/2026</a:t>
            </a:fld>
            <a:endParaRPr lang="en-US"/>
          </a:p>
        </p:txBody>
      </p:sp>
      <p:sp>
        <p:nvSpPr>
          <p:cNvPr id="3" name="Footer Placeholder 2"/>
          <p:cNvSpPr>
            <a:spLocks noGrp="1"/>
          </p:cNvSpPr>
          <p:nvPr>
            <p:ph type="ftr" sz="quarter" idx="11"/>
          </p:nvPr>
        </p:nvSpPr>
        <p:spPr>
          <a:xfrm>
            <a:off x="4038600" y="6356350"/>
            <a:ext cx="4114800" cy="365125"/>
          </a:xfrm>
          <a:prstGeom prst="rect">
            <a:avLst/>
          </a:prstGeom>
        </p:spPr>
        <p:txBody>
          <a:bodyPr/>
          <a:lstStyle/>
          <a:p>
            <a:r>
              <a:rPr lang="en-US"/>
              <a:t>‹#›</a:t>
            </a:r>
          </a:p>
        </p:txBody>
      </p:sp>
      <p:sp>
        <p:nvSpPr>
          <p:cNvPr id="4" name="Slide Number Placeholder 3"/>
          <p:cNvSpPr>
            <a:spLocks noGrp="1"/>
          </p:cNvSpPr>
          <p:nvPr>
            <p:ph type="sldNum" sz="quarter" idx="12"/>
          </p:nvPr>
        </p:nvSpPr>
        <p:spPr>
          <a:xfrm>
            <a:off x="8610600" y="6356350"/>
            <a:ext cx="2743200" cy="365125"/>
          </a:xfrm>
          <a:prstGeom prst="rect">
            <a:avLst/>
          </a:prstGeom>
        </p:spPr>
        <p:txBody>
          <a:bodyPr/>
          <a:lstStyle/>
          <a:p>
            <a:fld id="{157A70C7-976B-1545-8BFA-34AB1D1A2AF1}" type="slidenum">
              <a:rPr lang="en-US" smtClean="0"/>
              <a:t>‹#›</a:t>
            </a:fld>
            <a:endParaRPr lang="en-US"/>
          </a:p>
        </p:txBody>
      </p:sp>
    </p:spTree>
    <p:extLst>
      <p:ext uri="{BB962C8B-B14F-4D97-AF65-F5344CB8AC3E}">
        <p14:creationId xmlns:p14="http://schemas.microsoft.com/office/powerpoint/2010/main" val="7033300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C25E9072-7367-4097-90A9-AC54EAB1D92C}" type="datetime1">
              <a:rPr lang="en-US" altLang="zh-MO" smtClean="0"/>
              <a:t>9/12/2026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r>
              <a:rPr lang="en-US"/>
              <a:t>‹#›</a:t>
            </a:r>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157A70C7-976B-1545-8BFA-34AB1D1A2AF1}" type="slidenum">
              <a:rPr lang="en-US" smtClean="0"/>
              <a:t>‹#›</a:t>
            </a:fld>
            <a:endParaRPr lang="en-US"/>
          </a:p>
        </p:txBody>
      </p:sp>
    </p:spTree>
    <p:extLst>
      <p:ext uri="{BB962C8B-B14F-4D97-AF65-F5344CB8AC3E}">
        <p14:creationId xmlns:p14="http://schemas.microsoft.com/office/powerpoint/2010/main" val="11173337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C9CD4EDE-1970-459A-928C-CA424CFAE20A}" type="datetime1">
              <a:rPr lang="en-US" altLang="zh-MO" smtClean="0"/>
              <a:t>9/12/2026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r>
              <a:rPr lang="en-US"/>
              <a:t>‹#›</a:t>
            </a:r>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157A70C7-976B-1545-8BFA-34AB1D1A2AF1}" type="slidenum">
              <a:rPr lang="en-US" smtClean="0"/>
              <a:t>‹#›</a:t>
            </a:fld>
            <a:endParaRPr lang="en-US"/>
          </a:p>
        </p:txBody>
      </p:sp>
    </p:spTree>
    <p:extLst>
      <p:ext uri="{BB962C8B-B14F-4D97-AF65-F5344CB8AC3E}">
        <p14:creationId xmlns:p14="http://schemas.microsoft.com/office/powerpoint/2010/main" val="14308058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73D8AC0A-DB13-4D1D-BAC9-536F69905D01}" type="datetime1">
              <a:rPr lang="en-US" altLang="zh-MO" smtClean="0"/>
              <a:t>9/12/2026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r>
              <a:rPr lang="en-US"/>
              <a:t>‹#›</a:t>
            </a: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157A70C7-976B-1545-8BFA-34AB1D1A2AF1}" type="slidenum">
              <a:rPr lang="en-US" smtClean="0"/>
              <a:t>‹#›</a:t>
            </a:fld>
            <a:endParaRPr lang="en-US"/>
          </a:p>
        </p:txBody>
      </p:sp>
    </p:spTree>
    <p:extLst>
      <p:ext uri="{BB962C8B-B14F-4D97-AF65-F5344CB8AC3E}">
        <p14:creationId xmlns:p14="http://schemas.microsoft.com/office/powerpoint/2010/main" val="322939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97B7C262-35A8-49AB-B4C6-9F919F08D4DE}" type="datetime1">
              <a:rPr lang="en-US" altLang="zh-MO" smtClean="0"/>
              <a:t>9/12/2026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r>
              <a:rPr lang="en-US"/>
              <a:t>‹#›</a:t>
            </a: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157A70C7-976B-1545-8BFA-34AB1D1A2AF1}" type="slidenum">
              <a:rPr lang="en-US" smtClean="0"/>
              <a:t>‹#›</a:t>
            </a:fld>
            <a:endParaRPr lang="en-US"/>
          </a:p>
        </p:txBody>
      </p:sp>
    </p:spTree>
    <p:extLst>
      <p:ext uri="{BB962C8B-B14F-4D97-AF65-F5344CB8AC3E}">
        <p14:creationId xmlns:p14="http://schemas.microsoft.com/office/powerpoint/2010/main" val="15985217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FCD09C8-A0A6-4FE8-BF64-A25B869732E8}" type="datetime1">
              <a:rPr lang="en-US" altLang="zh-MO" smtClean="0"/>
              <a:t>9/12/2026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a:t>
            </a:r>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57A70C7-976B-1545-8BFA-34AB1D1A2AF1}" type="slidenum">
              <a:rPr lang="en-US" smtClean="0"/>
              <a:t>‹#›</a:t>
            </a:fld>
            <a:endParaRPr lang="en-US" dirty="0"/>
          </a:p>
        </p:txBody>
      </p:sp>
    </p:spTree>
    <p:extLst>
      <p:ext uri="{BB962C8B-B14F-4D97-AF65-F5344CB8AC3E}">
        <p14:creationId xmlns:p14="http://schemas.microsoft.com/office/powerpoint/2010/main" val="102122634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4" r:id="rId4"/>
    <p:sldLayoutId id="2147483655" r:id="rId5"/>
    <p:sldLayoutId id="2147483656" r:id="rId6"/>
    <p:sldLayoutId id="2147483657" r:id="rId7"/>
    <p:sldLayoutId id="2147483658" r:id="rId8"/>
    <p:sldLayoutId id="2147483659" r:id="rId9"/>
  </p:sldLayoutIdLst>
  <p:hf sldNum="0" hdr="0" dt="0"/>
  <p:txStyles>
    <p:titleStyle>
      <a:lvl1pPr algn="l" defTabSz="914400" rtl="0" eaLnBrk="1" latinLnBrk="0" hangingPunct="1">
        <a:lnSpc>
          <a:spcPct val="90000"/>
        </a:lnSpc>
        <a:spcBef>
          <a:spcPct val="0"/>
        </a:spcBef>
        <a:buNone/>
        <a:defRPr sz="4400" b="1" i="0" kern="1200">
          <a:solidFill>
            <a:schemeClr val="tx1"/>
          </a:solidFill>
          <a:latin typeface="Gill Sans" charset="0"/>
          <a:ea typeface="Gill Sans" charset="0"/>
          <a:cs typeface="Gill Sans" charset="0"/>
        </a:defRPr>
      </a:lvl1pPr>
    </p:titleStyle>
    <p:bodyStyle>
      <a:lvl1pPr marL="228600" indent="-228600" algn="l" defTabSz="914400" rtl="0" eaLnBrk="1" latinLnBrk="0" hangingPunct="1">
        <a:lnSpc>
          <a:spcPct val="90000"/>
        </a:lnSpc>
        <a:spcBef>
          <a:spcPts val="1000"/>
        </a:spcBef>
        <a:buFont typeface="Arial"/>
        <a:buChar char="•"/>
        <a:defRPr sz="3000" kern="1200">
          <a:solidFill>
            <a:schemeClr val="tx1"/>
          </a:solidFill>
          <a:latin typeface="Gill Sans" charset="0"/>
          <a:ea typeface="Gill Sans" charset="0"/>
          <a:cs typeface="Gill Sans" charset="0"/>
        </a:defRPr>
      </a:lvl1pPr>
      <a:lvl2pPr marL="685800" indent="-228600" algn="l" defTabSz="914400" rtl="0" eaLnBrk="1" latinLnBrk="0" hangingPunct="1">
        <a:lnSpc>
          <a:spcPct val="90000"/>
        </a:lnSpc>
        <a:spcBef>
          <a:spcPts val="500"/>
        </a:spcBef>
        <a:buFont typeface="Arial"/>
        <a:buChar char="•"/>
        <a:defRPr sz="2600" kern="1200">
          <a:solidFill>
            <a:schemeClr val="tx1"/>
          </a:solidFill>
          <a:latin typeface="Gill Sans" charset="0"/>
          <a:ea typeface="Gill Sans" charset="0"/>
          <a:cs typeface="Gill Sans" charset="0"/>
        </a:defRPr>
      </a:lvl2pPr>
      <a:lvl3pPr marL="1143000" indent="-228600" algn="l" defTabSz="914400" rtl="0" eaLnBrk="1" latinLnBrk="0" hangingPunct="1">
        <a:lnSpc>
          <a:spcPct val="90000"/>
        </a:lnSpc>
        <a:spcBef>
          <a:spcPts val="500"/>
        </a:spcBef>
        <a:buFont typeface="Arial"/>
        <a:buChar char="•"/>
        <a:defRPr sz="2200" kern="1200">
          <a:solidFill>
            <a:schemeClr val="tx1"/>
          </a:solidFill>
          <a:latin typeface="Gill Sans" charset="0"/>
          <a:ea typeface="Gill Sans" charset="0"/>
          <a:cs typeface="Gill Sans" charset="0"/>
        </a:defRPr>
      </a:lvl3pPr>
      <a:lvl4pPr marL="1600200" indent="-228600" algn="l" defTabSz="914400" rtl="0" eaLnBrk="1" latinLnBrk="0" hangingPunct="1">
        <a:lnSpc>
          <a:spcPct val="90000"/>
        </a:lnSpc>
        <a:spcBef>
          <a:spcPts val="500"/>
        </a:spcBef>
        <a:buFont typeface="Arial"/>
        <a:buChar char="•"/>
        <a:defRPr sz="2000" kern="1200">
          <a:solidFill>
            <a:schemeClr val="tx1"/>
          </a:solidFill>
          <a:latin typeface="Gill Sans" charset="0"/>
          <a:ea typeface="Gill Sans" charset="0"/>
          <a:cs typeface="Gill Sans" charset="0"/>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Gill Sans" charset="0"/>
          <a:ea typeface="Gill Sans" charset="0"/>
          <a:cs typeface="Gill Sans"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標題 5">
            <a:extLst>
              <a:ext uri="{FF2B5EF4-FFF2-40B4-BE49-F238E27FC236}">
                <a16:creationId xmlns:a16="http://schemas.microsoft.com/office/drawing/2014/main" id="{893C94AE-3169-40C5-B0F9-F5C884CCA39E}"/>
              </a:ext>
            </a:extLst>
          </p:cNvPr>
          <p:cNvSpPr>
            <a:spLocks noGrp="1"/>
          </p:cNvSpPr>
          <p:nvPr>
            <p:ph type="ctrTitle"/>
          </p:nvPr>
        </p:nvSpPr>
        <p:spPr>
          <a:xfrm>
            <a:off x="1524000" y="1070811"/>
            <a:ext cx="9144000" cy="1610605"/>
          </a:xfrm>
        </p:spPr>
        <p:txBody>
          <a:bodyPr>
            <a:normAutofit fontScale="90000"/>
          </a:bodyPr>
          <a:lstStyle/>
          <a:p>
            <a:pPr>
              <a:lnSpc>
                <a:spcPct val="100000"/>
              </a:lnSpc>
            </a:pPr>
            <a:br>
              <a:rPr lang="en-US" altLang="zh-MO" sz="3600" dirty="0"/>
            </a:br>
            <a:br>
              <a:rPr lang="en-US" altLang="zh-MO" sz="3600" dirty="0"/>
            </a:br>
            <a:br>
              <a:rPr lang="en-US" altLang="zh-MO" sz="3600" dirty="0"/>
            </a:br>
            <a:br>
              <a:rPr lang="en-US" altLang="zh-MO" sz="3600" dirty="0"/>
            </a:br>
            <a:br>
              <a:rPr lang="en-US" altLang="zh-MO" sz="3600" dirty="0"/>
            </a:br>
            <a:r>
              <a:rPr lang="en-US" altLang="zh-MO" sz="4000" i="0" dirty="0">
                <a:solidFill>
                  <a:srgbClr val="FF0000"/>
                </a:solidFill>
              </a:rPr>
              <a:t>CISC7204</a:t>
            </a:r>
            <a:br>
              <a:rPr lang="en-US" altLang="zh-MO" sz="4000" dirty="0"/>
            </a:br>
            <a:r>
              <a:rPr lang="en-US" altLang="zh-MO" sz="4000" i="0" dirty="0"/>
              <a:t>Data Science and Data Visualization</a:t>
            </a:r>
            <a:br>
              <a:rPr lang="en-US" altLang="zh-MO" sz="3600" i="0" dirty="0"/>
            </a:br>
            <a:r>
              <a:rPr lang="en-US" altLang="zh-MO" sz="2800" i="0" dirty="0">
                <a:solidFill>
                  <a:schemeClr val="accent1"/>
                </a:solidFill>
              </a:rPr>
              <a:t>Day 05, 2026 September 16 07:00 pm – 08:00 pm E4-G078</a:t>
            </a:r>
            <a:endParaRPr lang="zh-MO" altLang="en-US" sz="4000" i="0" dirty="0">
              <a:solidFill>
                <a:schemeClr val="accent1"/>
              </a:solidFill>
            </a:endParaRPr>
          </a:p>
        </p:txBody>
      </p:sp>
      <p:sp>
        <p:nvSpPr>
          <p:cNvPr id="7" name="副標題 6">
            <a:extLst>
              <a:ext uri="{FF2B5EF4-FFF2-40B4-BE49-F238E27FC236}">
                <a16:creationId xmlns:a16="http://schemas.microsoft.com/office/drawing/2014/main" id="{AD5A8C9D-305F-48B1-B936-FB43D5752688}"/>
              </a:ext>
            </a:extLst>
          </p:cNvPr>
          <p:cNvSpPr>
            <a:spLocks noGrp="1"/>
          </p:cNvSpPr>
          <p:nvPr>
            <p:ph type="subTitle" idx="1"/>
          </p:nvPr>
        </p:nvSpPr>
        <p:spPr>
          <a:xfrm>
            <a:off x="1420837" y="2681416"/>
            <a:ext cx="9425354" cy="2113006"/>
          </a:xfrm>
        </p:spPr>
        <p:txBody>
          <a:bodyPr>
            <a:normAutofit/>
          </a:bodyPr>
          <a:lstStyle/>
          <a:p>
            <a:endParaRPr lang="en-US" altLang="zh-MO" dirty="0">
              <a:solidFill>
                <a:schemeClr val="accent2">
                  <a:lumMod val="50000"/>
                </a:schemeClr>
              </a:solidFill>
            </a:endParaRPr>
          </a:p>
          <a:p>
            <a:r>
              <a:rPr lang="en-US" altLang="zh-MO" sz="3600" b="1" dirty="0">
                <a:solidFill>
                  <a:srgbClr val="00B050"/>
                </a:solidFill>
              </a:rPr>
              <a:t>     </a:t>
            </a:r>
            <a:r>
              <a:rPr lang="en-US" altLang="zh-MO" sz="2800" b="1" dirty="0">
                <a:solidFill>
                  <a:srgbClr val="00B050"/>
                </a:solidFill>
              </a:rPr>
              <a:t>Introduction to Data Visualization Plots</a:t>
            </a:r>
            <a:r>
              <a:rPr lang="zh-TW" altLang="en-US" dirty="0"/>
              <a:t>	</a:t>
            </a:r>
          </a:p>
          <a:p>
            <a:r>
              <a:rPr lang="en-US" altLang="zh-MO" sz="3200" b="1" dirty="0">
                <a:solidFill>
                  <a:srgbClr val="FF0000"/>
                </a:solidFill>
              </a:rPr>
              <a:t>Lecture 05</a:t>
            </a:r>
          </a:p>
          <a:p>
            <a:pPr marL="2687638" algn="l"/>
            <a:endParaRPr lang="en-US" altLang="zh-MO" sz="1800" dirty="0">
              <a:solidFill>
                <a:schemeClr val="accent2">
                  <a:lumMod val="50000"/>
                </a:schemeClr>
              </a:solidFill>
            </a:endParaRPr>
          </a:p>
          <a:p>
            <a:pPr marL="2687638" algn="l"/>
            <a:endParaRPr lang="en-US" altLang="zh-MO" sz="1800" dirty="0">
              <a:solidFill>
                <a:schemeClr val="accent2">
                  <a:lumMod val="50000"/>
                </a:schemeClr>
              </a:solidFill>
            </a:endParaRPr>
          </a:p>
          <a:p>
            <a:endParaRPr lang="zh-MO" altLang="en-US" sz="1800" dirty="0"/>
          </a:p>
        </p:txBody>
      </p:sp>
      <p:sp>
        <p:nvSpPr>
          <p:cNvPr id="4" name="頁尾版面配置區 3">
            <a:extLst>
              <a:ext uri="{FF2B5EF4-FFF2-40B4-BE49-F238E27FC236}">
                <a16:creationId xmlns:a16="http://schemas.microsoft.com/office/drawing/2014/main" id="{0999E652-28D9-4EC5-A712-627EAA35070A}"/>
              </a:ext>
            </a:extLst>
          </p:cNvPr>
          <p:cNvSpPr>
            <a:spLocks noGrp="1"/>
          </p:cNvSpPr>
          <p:nvPr>
            <p:ph type="ftr" sz="quarter" idx="4294967295"/>
          </p:nvPr>
        </p:nvSpPr>
        <p:spPr>
          <a:xfrm>
            <a:off x="8077200" y="6381750"/>
            <a:ext cx="4114800" cy="365125"/>
          </a:xfrm>
        </p:spPr>
        <p:txBody>
          <a:bodyPr/>
          <a:lstStyle/>
          <a:p>
            <a:pPr algn="r"/>
            <a:fld id="{215E7548-F18C-4C4B-B96B-B6533EE29CBB}" type="slidenum">
              <a:rPr lang="en-US" altLang="zh-MO" smtClean="0"/>
              <a:pPr algn="r"/>
              <a:t>1</a:t>
            </a:fld>
            <a:endParaRPr lang="en-US" dirty="0"/>
          </a:p>
        </p:txBody>
      </p:sp>
      <p:sp>
        <p:nvSpPr>
          <p:cNvPr id="8" name="副標題 2">
            <a:extLst>
              <a:ext uri="{FF2B5EF4-FFF2-40B4-BE49-F238E27FC236}">
                <a16:creationId xmlns:a16="http://schemas.microsoft.com/office/drawing/2014/main" id="{A5029411-428B-4244-B96B-0628FFB04D5A}"/>
              </a:ext>
            </a:extLst>
          </p:cNvPr>
          <p:cNvSpPr txBox="1">
            <a:spLocks/>
          </p:cNvSpPr>
          <p:nvPr/>
        </p:nvSpPr>
        <p:spPr>
          <a:xfrm>
            <a:off x="1524000" y="4486656"/>
            <a:ext cx="9144000" cy="1770453"/>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a:buNone/>
              <a:defRPr sz="2400" kern="1200">
                <a:solidFill>
                  <a:schemeClr val="tx1"/>
                </a:solidFill>
                <a:latin typeface="Gill Sans" charset="0"/>
                <a:ea typeface="Gill Sans" charset="0"/>
                <a:cs typeface="Gill Sans" charset="0"/>
              </a:defRPr>
            </a:lvl1pPr>
            <a:lvl2pPr marL="457200" indent="0" algn="ctr" defTabSz="914400" rtl="0" eaLnBrk="1" latinLnBrk="0" hangingPunct="1">
              <a:lnSpc>
                <a:spcPct val="90000"/>
              </a:lnSpc>
              <a:spcBef>
                <a:spcPts val="500"/>
              </a:spcBef>
              <a:buFont typeface="Arial"/>
              <a:buNone/>
              <a:defRPr sz="2000" kern="1200">
                <a:solidFill>
                  <a:schemeClr val="tx1"/>
                </a:solidFill>
                <a:latin typeface="Gill Sans" charset="0"/>
                <a:ea typeface="Gill Sans" charset="0"/>
                <a:cs typeface="Gill Sans" charset="0"/>
              </a:defRPr>
            </a:lvl2pPr>
            <a:lvl3pPr marL="914400" indent="0" algn="ctr" defTabSz="914400" rtl="0" eaLnBrk="1" latinLnBrk="0" hangingPunct="1">
              <a:lnSpc>
                <a:spcPct val="90000"/>
              </a:lnSpc>
              <a:spcBef>
                <a:spcPts val="500"/>
              </a:spcBef>
              <a:buFont typeface="Arial"/>
              <a:buNone/>
              <a:defRPr sz="1800" kern="1200">
                <a:solidFill>
                  <a:schemeClr val="tx1"/>
                </a:solidFill>
                <a:latin typeface="Gill Sans" charset="0"/>
                <a:ea typeface="Gill Sans" charset="0"/>
                <a:cs typeface="Gill Sans" charset="0"/>
              </a:defRPr>
            </a:lvl3pPr>
            <a:lvl4pPr marL="1371600" indent="0" algn="ctr" defTabSz="914400" rtl="0" eaLnBrk="1" latinLnBrk="0" hangingPunct="1">
              <a:lnSpc>
                <a:spcPct val="90000"/>
              </a:lnSpc>
              <a:spcBef>
                <a:spcPts val="500"/>
              </a:spcBef>
              <a:buFont typeface="Arial"/>
              <a:buNone/>
              <a:defRPr sz="1600" kern="1200">
                <a:solidFill>
                  <a:schemeClr val="tx1"/>
                </a:solidFill>
                <a:latin typeface="Gill Sans" charset="0"/>
                <a:ea typeface="Gill Sans" charset="0"/>
                <a:cs typeface="Gill Sans" charset="0"/>
              </a:defRPr>
            </a:lvl4pPr>
            <a:lvl5pPr marL="1828800" indent="0" algn="ctr" defTabSz="914400" rtl="0" eaLnBrk="1" latinLnBrk="0" hangingPunct="1">
              <a:lnSpc>
                <a:spcPct val="90000"/>
              </a:lnSpc>
              <a:spcBef>
                <a:spcPts val="500"/>
              </a:spcBef>
              <a:buFont typeface="Arial"/>
              <a:buNone/>
              <a:defRPr sz="1600" kern="1200">
                <a:solidFill>
                  <a:schemeClr val="tx1"/>
                </a:solidFill>
                <a:latin typeface="Gill Sans" charset="0"/>
                <a:ea typeface="Gill Sans" charset="0"/>
                <a:cs typeface="Gill Sans" charset="0"/>
              </a:defRPr>
            </a:lvl5pPr>
            <a:lvl6pPr marL="22860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9pPr>
          </a:lstStyle>
          <a:p>
            <a:pPr fontAlgn="base">
              <a:spcBef>
                <a:spcPct val="0"/>
              </a:spcBef>
              <a:spcAft>
                <a:spcPct val="0"/>
              </a:spcAft>
            </a:pPr>
            <a:r>
              <a:rPr lang="en-US" sz="2000" b="1" kern="0" dirty="0">
                <a:solidFill>
                  <a:srgbClr val="0070C0"/>
                </a:solidFill>
                <a:latin typeface="Microsoft New Tai Lue" pitchFamily="34" charset="0"/>
                <a:cs typeface="Microsoft New Tai Lue" pitchFamily="34" charset="0"/>
              </a:rPr>
              <a:t>Dr. Kam Hou Vat</a:t>
            </a:r>
          </a:p>
          <a:p>
            <a:pPr fontAlgn="base">
              <a:lnSpc>
                <a:spcPct val="120000"/>
              </a:lnSpc>
              <a:spcBef>
                <a:spcPct val="0"/>
              </a:spcBef>
              <a:spcAft>
                <a:spcPct val="0"/>
              </a:spcAft>
            </a:pPr>
            <a:r>
              <a:rPr lang="en-US" sz="1900" kern="0" dirty="0">
                <a:solidFill>
                  <a:schemeClr val="tx2">
                    <a:lumMod val="75000"/>
                  </a:schemeClr>
                </a:solidFill>
                <a:latin typeface="Microsoft New Tai Lue" pitchFamily="34" charset="0"/>
                <a:cs typeface="Microsoft New Tai Lue" pitchFamily="34" charset="0"/>
              </a:rPr>
              <a:t>fstkhv@um.edu.mo</a:t>
            </a:r>
          </a:p>
          <a:p>
            <a:pPr fontAlgn="base">
              <a:lnSpc>
                <a:spcPct val="120000"/>
              </a:lnSpc>
              <a:spcBef>
                <a:spcPct val="0"/>
              </a:spcBef>
              <a:spcAft>
                <a:spcPct val="0"/>
              </a:spcAft>
            </a:pPr>
            <a:r>
              <a:rPr lang="en-US" sz="1700" kern="0" dirty="0">
                <a:solidFill>
                  <a:schemeClr val="tx2">
                    <a:lumMod val="75000"/>
                  </a:schemeClr>
                </a:solidFill>
                <a:latin typeface="Microsoft New Tai Lue" pitchFamily="34" charset="0"/>
                <a:cs typeface="Microsoft New Tai Lue" pitchFamily="34" charset="0"/>
              </a:rPr>
              <a:t>E11-4087 (Ext: 4476)</a:t>
            </a:r>
          </a:p>
          <a:p>
            <a:pPr fontAlgn="base">
              <a:lnSpc>
                <a:spcPct val="120000"/>
              </a:lnSpc>
              <a:spcBef>
                <a:spcPct val="0"/>
              </a:spcBef>
              <a:spcAft>
                <a:spcPct val="0"/>
              </a:spcAft>
            </a:pPr>
            <a:r>
              <a:rPr lang="en-US" sz="1700" kern="0" dirty="0">
                <a:solidFill>
                  <a:schemeClr val="tx2">
                    <a:lumMod val="75000"/>
                  </a:schemeClr>
                </a:solidFill>
                <a:latin typeface="Microsoft New Tai Lue" pitchFamily="34" charset="0"/>
                <a:cs typeface="Microsoft New Tai Lue" pitchFamily="34" charset="0"/>
              </a:rPr>
              <a:t>Office Hours: </a:t>
            </a:r>
          </a:p>
          <a:p>
            <a:pPr fontAlgn="base">
              <a:lnSpc>
                <a:spcPct val="120000"/>
              </a:lnSpc>
              <a:spcBef>
                <a:spcPct val="0"/>
              </a:spcBef>
              <a:spcAft>
                <a:spcPct val="0"/>
              </a:spcAft>
            </a:pPr>
            <a:r>
              <a:rPr lang="en-US" sz="2000" dirty="0"/>
              <a:t>Wednesday 12:30 pm – 01:30 pm</a:t>
            </a:r>
          </a:p>
          <a:p>
            <a:pPr fontAlgn="base">
              <a:lnSpc>
                <a:spcPct val="120000"/>
              </a:lnSpc>
              <a:spcBef>
                <a:spcPct val="0"/>
              </a:spcBef>
              <a:spcAft>
                <a:spcPct val="0"/>
              </a:spcAft>
            </a:pPr>
            <a:endParaRPr lang="en-US" sz="1700" kern="0" dirty="0">
              <a:solidFill>
                <a:schemeClr val="tx2">
                  <a:lumMod val="75000"/>
                </a:schemeClr>
              </a:solidFill>
              <a:latin typeface="Microsoft New Tai Lue" pitchFamily="34" charset="0"/>
              <a:cs typeface="Microsoft New Tai Lue" pitchFamily="34" charset="0"/>
            </a:endParaRPr>
          </a:p>
          <a:p>
            <a:endParaRPr lang="zh-MO" altLang="en-US" dirty="0"/>
          </a:p>
        </p:txBody>
      </p:sp>
    </p:spTree>
    <p:extLst>
      <p:ext uri="{BB962C8B-B14F-4D97-AF65-F5344CB8AC3E}">
        <p14:creationId xmlns:p14="http://schemas.microsoft.com/office/powerpoint/2010/main" val="5187275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C86B3EE-3396-4D5A-BD43-9EFD29F05508}"/>
              </a:ext>
            </a:extLst>
          </p:cNvPr>
          <p:cNvSpPr>
            <a:spLocks noGrp="1"/>
          </p:cNvSpPr>
          <p:nvPr>
            <p:ph type="title"/>
          </p:nvPr>
        </p:nvSpPr>
        <p:spPr>
          <a:xfrm>
            <a:off x="838200" y="928254"/>
            <a:ext cx="9210261" cy="762433"/>
          </a:xfrm>
        </p:spPr>
        <p:txBody>
          <a:bodyPr>
            <a:noAutofit/>
          </a:bodyPr>
          <a:lstStyle/>
          <a:p>
            <a:r>
              <a:rPr lang="en-US" altLang="zh-MO" sz="2800" dirty="0"/>
              <a:t>Introduction to Data Visualization Plots</a:t>
            </a:r>
            <a:endParaRPr lang="zh-MO" altLang="en-US" sz="2800" dirty="0"/>
          </a:p>
        </p:txBody>
      </p:sp>
      <p:sp>
        <p:nvSpPr>
          <p:cNvPr id="4" name="頁尾版面配置區 3">
            <a:extLst>
              <a:ext uri="{FF2B5EF4-FFF2-40B4-BE49-F238E27FC236}">
                <a16:creationId xmlns:a16="http://schemas.microsoft.com/office/drawing/2014/main" id="{452F0758-A684-42BE-A6EC-975FC67C3CA7}"/>
              </a:ext>
            </a:extLst>
          </p:cNvPr>
          <p:cNvSpPr>
            <a:spLocks noGrp="1"/>
          </p:cNvSpPr>
          <p:nvPr>
            <p:ph type="ftr" sz="quarter" idx="11"/>
          </p:nvPr>
        </p:nvSpPr>
        <p:spPr/>
        <p:txBody>
          <a:bodyPr/>
          <a:lstStyle/>
          <a:p>
            <a:pPr algn="r"/>
            <a:fld id="{215E7548-F18C-4C4B-B96B-B6533EE29CBB}" type="slidenum">
              <a:rPr lang="en-US" altLang="zh-MO" smtClean="0"/>
              <a:pPr algn="r"/>
              <a:t>2</a:t>
            </a:fld>
            <a:endParaRPr lang="en-US" dirty="0"/>
          </a:p>
        </p:txBody>
      </p:sp>
      <p:sp>
        <p:nvSpPr>
          <p:cNvPr id="5" name="文字版面配置區 4">
            <a:extLst>
              <a:ext uri="{FF2B5EF4-FFF2-40B4-BE49-F238E27FC236}">
                <a16:creationId xmlns:a16="http://schemas.microsoft.com/office/drawing/2014/main" id="{3EE338D1-C60C-4DA9-8616-4081AF629336}"/>
              </a:ext>
            </a:extLst>
          </p:cNvPr>
          <p:cNvSpPr>
            <a:spLocks noGrp="1"/>
          </p:cNvSpPr>
          <p:nvPr>
            <p:ph type="body" sz="quarter" idx="13"/>
          </p:nvPr>
        </p:nvSpPr>
        <p:spPr>
          <a:xfrm>
            <a:off x="838200" y="804672"/>
            <a:ext cx="8667143" cy="518386"/>
          </a:xfrm>
        </p:spPr>
        <p:txBody>
          <a:bodyPr>
            <a:normAutofit fontScale="77500" lnSpcReduction="20000"/>
          </a:bodyPr>
          <a:lstStyle/>
          <a:p>
            <a:r>
              <a:rPr lang="en-US" altLang="zh-MO" dirty="0">
                <a:solidFill>
                  <a:srgbClr val="C00000"/>
                </a:solidFill>
              </a:rPr>
              <a:t>CISC7204 Data Science and Data Visualization</a:t>
            </a:r>
            <a:endParaRPr lang="zh-MO" altLang="en-US" dirty="0"/>
          </a:p>
        </p:txBody>
      </p:sp>
      <p:graphicFrame>
        <p:nvGraphicFramePr>
          <p:cNvPr id="7" name="表格 6">
            <a:extLst>
              <a:ext uri="{FF2B5EF4-FFF2-40B4-BE49-F238E27FC236}">
                <a16:creationId xmlns:a16="http://schemas.microsoft.com/office/drawing/2014/main" id="{1367AF10-03C9-4B42-9268-96A5D467548A}"/>
              </a:ext>
            </a:extLst>
          </p:cNvPr>
          <p:cNvGraphicFramePr>
            <a:graphicFrameLocks noGrp="1"/>
          </p:cNvGraphicFramePr>
          <p:nvPr>
            <p:extLst>
              <p:ext uri="{D42A27DB-BD31-4B8C-83A1-F6EECF244321}">
                <p14:modId xmlns:p14="http://schemas.microsoft.com/office/powerpoint/2010/main" val="275356135"/>
              </p:ext>
            </p:extLst>
          </p:nvPr>
        </p:nvGraphicFramePr>
        <p:xfrm>
          <a:off x="1014152" y="1951137"/>
          <a:ext cx="9373836" cy="4234914"/>
        </p:xfrm>
        <a:graphic>
          <a:graphicData uri="http://schemas.openxmlformats.org/drawingml/2006/table">
            <a:tbl>
              <a:tblPr firstRow="1" bandRow="1">
                <a:tableStyleId>{5C22544A-7EE6-4342-B048-85BDC9FD1C3A}</a:tableStyleId>
              </a:tblPr>
              <a:tblGrid>
                <a:gridCol w="2457711">
                  <a:extLst>
                    <a:ext uri="{9D8B030D-6E8A-4147-A177-3AD203B41FA5}">
                      <a16:colId xmlns:a16="http://schemas.microsoft.com/office/drawing/2014/main" val="547508683"/>
                    </a:ext>
                  </a:extLst>
                </a:gridCol>
                <a:gridCol w="6916125">
                  <a:extLst>
                    <a:ext uri="{9D8B030D-6E8A-4147-A177-3AD203B41FA5}">
                      <a16:colId xmlns:a16="http://schemas.microsoft.com/office/drawing/2014/main" val="1763975376"/>
                    </a:ext>
                  </a:extLst>
                </a:gridCol>
              </a:tblGrid>
              <a:tr h="760114">
                <a:tc>
                  <a:txBody>
                    <a:bodyPr/>
                    <a:lstStyle/>
                    <a:p>
                      <a:r>
                        <a:rPr lang="en-US" dirty="0"/>
                        <a:t>Outline </a:t>
                      </a:r>
                    </a:p>
                    <a:p>
                      <a:pPr lvl="1"/>
                      <a:r>
                        <a:rPr lang="en-US" dirty="0"/>
                        <a:t>To</a:t>
                      </a:r>
                      <a:r>
                        <a:rPr lang="en-US" baseline="0" dirty="0"/>
                        <a:t> Follow</a:t>
                      </a:r>
                      <a:endParaRPr lang="en-US" dirty="0"/>
                    </a:p>
                  </a:txBody>
                  <a:tcPr/>
                </a:tc>
                <a:tc>
                  <a:txBody>
                    <a:bodyPr/>
                    <a:lstStyle/>
                    <a:p>
                      <a:r>
                        <a:rPr lang="en-US" dirty="0"/>
                        <a:t>Units </a:t>
                      </a:r>
                    </a:p>
                    <a:p>
                      <a:pPr lvl="1"/>
                      <a:r>
                        <a:rPr lang="en-US" dirty="0"/>
                        <a:t>To Enhance Your Learning</a:t>
                      </a:r>
                    </a:p>
                  </a:txBody>
                  <a:tcPr/>
                </a:tc>
                <a:extLst>
                  <a:ext uri="{0D108BD9-81ED-4DB2-BD59-A6C34878D82A}">
                    <a16:rowId xmlns:a16="http://schemas.microsoft.com/office/drawing/2014/main" val="2910771672"/>
                  </a:ext>
                </a:extLst>
              </a:tr>
              <a:tr h="434350">
                <a:tc>
                  <a:txBody>
                    <a:bodyPr/>
                    <a:lstStyle/>
                    <a:p>
                      <a:r>
                        <a:rPr lang="en-US" dirty="0"/>
                        <a:t>Part 1</a:t>
                      </a:r>
                    </a:p>
                  </a:txBody>
                  <a:tcPr/>
                </a:tc>
                <a:tc>
                  <a:txBody>
                    <a:bodyPr/>
                    <a:lstStyle/>
                    <a:p>
                      <a:r>
                        <a:rPr lang="en-US" dirty="0">
                          <a:solidFill>
                            <a:srgbClr val="FF0000"/>
                          </a:solidFill>
                        </a:rPr>
                        <a:t>Introduction</a:t>
                      </a:r>
                      <a:endParaRPr lang="en-US" dirty="0"/>
                    </a:p>
                  </a:txBody>
                  <a:tcPr/>
                </a:tc>
                <a:extLst>
                  <a:ext uri="{0D108BD9-81ED-4DB2-BD59-A6C34878D82A}">
                    <a16:rowId xmlns:a16="http://schemas.microsoft.com/office/drawing/2014/main" val="48710149"/>
                  </a:ext>
                </a:extLst>
              </a:tr>
              <a:tr h="434350">
                <a:tc>
                  <a:txBody>
                    <a:bodyPr/>
                    <a:lstStyle/>
                    <a:p>
                      <a:r>
                        <a:rPr lang="en-US" dirty="0"/>
                        <a:t>Part 2</a:t>
                      </a:r>
                    </a:p>
                  </a:txBody>
                  <a:tcPr/>
                </a:tc>
                <a:tc>
                  <a:txBody>
                    <a:bodyPr/>
                    <a:lstStyle/>
                    <a:p>
                      <a:r>
                        <a:rPr lang="en-US" dirty="0">
                          <a:solidFill>
                            <a:srgbClr val="FF0000"/>
                          </a:solidFill>
                        </a:rPr>
                        <a:t>Comparison Plots</a:t>
                      </a:r>
                      <a:endParaRPr lang="en-US" dirty="0"/>
                    </a:p>
                  </a:txBody>
                  <a:tcPr/>
                </a:tc>
                <a:extLst>
                  <a:ext uri="{0D108BD9-81ED-4DB2-BD59-A6C34878D82A}">
                    <a16:rowId xmlns:a16="http://schemas.microsoft.com/office/drawing/2014/main" val="1489254521"/>
                  </a:ext>
                </a:extLst>
              </a:tr>
              <a:tr h="434350">
                <a:tc>
                  <a:txBody>
                    <a:bodyPr/>
                    <a:lstStyle/>
                    <a:p>
                      <a:r>
                        <a:rPr lang="en-US" dirty="0"/>
                        <a:t>Part 3</a:t>
                      </a:r>
                    </a:p>
                  </a:txBody>
                  <a:tcPr/>
                </a:tc>
                <a:tc>
                  <a:txBody>
                    <a:bodyPr/>
                    <a:lstStyle/>
                    <a:p>
                      <a:r>
                        <a:rPr lang="en-US" dirty="0">
                          <a:solidFill>
                            <a:srgbClr val="FF0000"/>
                          </a:solidFill>
                        </a:rPr>
                        <a:t>Relation Plots</a:t>
                      </a:r>
                      <a:endParaRPr lang="en-US" dirty="0"/>
                    </a:p>
                  </a:txBody>
                  <a:tcPr/>
                </a:tc>
                <a:extLst>
                  <a:ext uri="{0D108BD9-81ED-4DB2-BD59-A6C34878D82A}">
                    <a16:rowId xmlns:a16="http://schemas.microsoft.com/office/drawing/2014/main" val="1235970526"/>
                  </a:ext>
                </a:extLst>
              </a:tr>
              <a:tr h="434350">
                <a:tc>
                  <a:txBody>
                    <a:bodyPr/>
                    <a:lstStyle/>
                    <a:p>
                      <a:r>
                        <a:rPr lang="en-US" dirty="0"/>
                        <a:t>Part 4</a:t>
                      </a:r>
                    </a:p>
                  </a:txBody>
                  <a:tcPr/>
                </a:tc>
                <a:tc>
                  <a:txBody>
                    <a:bodyPr/>
                    <a:lstStyle/>
                    <a:p>
                      <a:r>
                        <a:rPr lang="en-US" dirty="0">
                          <a:solidFill>
                            <a:srgbClr val="FF0000"/>
                          </a:solidFill>
                        </a:rPr>
                        <a:t>Composition Plots</a:t>
                      </a:r>
                    </a:p>
                  </a:txBody>
                  <a:tcPr/>
                </a:tc>
                <a:extLst>
                  <a:ext uri="{0D108BD9-81ED-4DB2-BD59-A6C34878D82A}">
                    <a16:rowId xmlns:a16="http://schemas.microsoft.com/office/drawing/2014/main" val="623584993"/>
                  </a:ext>
                </a:extLst>
              </a:tr>
              <a:tr h="434350">
                <a:tc>
                  <a:txBody>
                    <a:bodyPr/>
                    <a:lstStyle/>
                    <a:p>
                      <a:r>
                        <a:rPr lang="en-US" dirty="0"/>
                        <a:t>Part 5</a:t>
                      </a:r>
                    </a:p>
                  </a:txBody>
                  <a:tcPr/>
                </a:tc>
                <a:tc>
                  <a:txBody>
                    <a:bodyPr/>
                    <a:lstStyle/>
                    <a:p>
                      <a:r>
                        <a:rPr lang="en-US" dirty="0">
                          <a:solidFill>
                            <a:srgbClr val="FF0000"/>
                          </a:solidFill>
                        </a:rPr>
                        <a:t>Distribution Plots</a:t>
                      </a:r>
                    </a:p>
                  </a:txBody>
                  <a:tcPr/>
                </a:tc>
                <a:extLst>
                  <a:ext uri="{0D108BD9-81ED-4DB2-BD59-A6C34878D82A}">
                    <a16:rowId xmlns:a16="http://schemas.microsoft.com/office/drawing/2014/main" val="10005"/>
                  </a:ext>
                </a:extLst>
              </a:tr>
              <a:tr h="434350">
                <a:tc>
                  <a:txBody>
                    <a:bodyPr/>
                    <a:lstStyle/>
                    <a:p>
                      <a:r>
                        <a:rPr lang="en-US" dirty="0"/>
                        <a:t>Part 6</a:t>
                      </a:r>
                    </a:p>
                  </a:txBody>
                  <a:tcPr/>
                </a:tc>
                <a:tc>
                  <a:txBody>
                    <a:bodyPr/>
                    <a:lstStyle/>
                    <a:p>
                      <a:r>
                        <a:rPr lang="en-US" dirty="0" err="1">
                          <a:solidFill>
                            <a:srgbClr val="FF0000"/>
                          </a:solidFill>
                        </a:rPr>
                        <a:t>Geoplots</a:t>
                      </a:r>
                      <a:endParaRPr lang="en-US" dirty="0">
                        <a:solidFill>
                          <a:srgbClr val="FF0000"/>
                        </a:solidFill>
                      </a:endParaRPr>
                    </a:p>
                  </a:txBody>
                  <a:tcPr/>
                </a:tc>
                <a:extLst>
                  <a:ext uri="{0D108BD9-81ED-4DB2-BD59-A6C34878D82A}">
                    <a16:rowId xmlns:a16="http://schemas.microsoft.com/office/drawing/2014/main" val="10006"/>
                  </a:ext>
                </a:extLst>
              </a:tr>
              <a:tr h="434350">
                <a:tc>
                  <a:txBody>
                    <a:bodyPr/>
                    <a:lstStyle/>
                    <a:p>
                      <a:r>
                        <a:rPr lang="en-US" dirty="0"/>
                        <a:t>Part 7</a:t>
                      </a:r>
                    </a:p>
                  </a:txBody>
                  <a:tcPr/>
                </a:tc>
                <a:tc>
                  <a:txBody>
                    <a:bodyPr/>
                    <a:lstStyle/>
                    <a:p>
                      <a:r>
                        <a:rPr lang="en-US" dirty="0">
                          <a:solidFill>
                            <a:srgbClr val="FF0000"/>
                          </a:solidFill>
                        </a:rPr>
                        <a:t>What Makes a Good Visualization?</a:t>
                      </a:r>
                    </a:p>
                  </a:txBody>
                  <a:tcPr/>
                </a:tc>
                <a:extLst>
                  <a:ext uri="{0D108BD9-81ED-4DB2-BD59-A6C34878D82A}">
                    <a16:rowId xmlns:a16="http://schemas.microsoft.com/office/drawing/2014/main" val="10007"/>
                  </a:ext>
                </a:extLst>
              </a:tr>
              <a:tr h="434350">
                <a:tc>
                  <a:txBody>
                    <a:bodyPr/>
                    <a:lstStyle/>
                    <a:p>
                      <a:r>
                        <a:rPr lang="en-US" dirty="0"/>
                        <a:t>Part 8</a:t>
                      </a:r>
                    </a:p>
                  </a:txBody>
                  <a:tcPr/>
                </a:tc>
                <a:tc>
                  <a:txBody>
                    <a:bodyPr/>
                    <a:lstStyle/>
                    <a:p>
                      <a:r>
                        <a:rPr lang="en-US" dirty="0">
                          <a:solidFill>
                            <a:srgbClr val="FF0000"/>
                          </a:solidFill>
                        </a:rPr>
                        <a:t>Summary</a:t>
                      </a:r>
                    </a:p>
                  </a:txBody>
                  <a:tcPr/>
                </a:tc>
                <a:extLst>
                  <a:ext uri="{0D108BD9-81ED-4DB2-BD59-A6C34878D82A}">
                    <a16:rowId xmlns:a16="http://schemas.microsoft.com/office/drawing/2014/main" val="4253237766"/>
                  </a:ext>
                </a:extLst>
              </a:tr>
            </a:tbl>
          </a:graphicData>
        </a:graphic>
      </p:graphicFrame>
    </p:spTree>
    <p:extLst>
      <p:ext uri="{BB962C8B-B14F-4D97-AF65-F5344CB8AC3E}">
        <p14:creationId xmlns:p14="http://schemas.microsoft.com/office/powerpoint/2010/main" val="3932783772"/>
      </p:ext>
    </p:extLst>
  </p:cSld>
  <p:clrMapOvr>
    <a:masterClrMapping/>
  </p:clrMapOvr>
  <mc:AlternateContent xmlns:mc="http://schemas.openxmlformats.org/markup-compatibility/2006" xmlns:p14="http://schemas.microsoft.com/office/powerpoint/2010/main">
    <mc:Choice Requires="p14">
      <p:transition spd="slow" p14:dur="2000" advTm="75522"/>
    </mc:Choice>
    <mc:Fallback xmlns="">
      <p:transition spd="slow" advTm="75522"/>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2C39319-C3EB-463D-A73C-2DEA9D750625}"/>
              </a:ext>
            </a:extLst>
          </p:cNvPr>
          <p:cNvSpPr>
            <a:spLocks noGrp="1"/>
          </p:cNvSpPr>
          <p:nvPr>
            <p:ph type="title"/>
          </p:nvPr>
        </p:nvSpPr>
        <p:spPr/>
        <p:txBody>
          <a:bodyPr>
            <a:normAutofit/>
          </a:bodyPr>
          <a:lstStyle/>
          <a:p>
            <a:r>
              <a:rPr lang="en-US" altLang="zh-MO" sz="2800" dirty="0"/>
              <a:t> Introduction to Data Visualization Plots</a:t>
            </a:r>
            <a:endParaRPr lang="zh-MO" altLang="en-US" sz="2800" dirty="0"/>
          </a:p>
        </p:txBody>
      </p:sp>
      <p:sp>
        <p:nvSpPr>
          <p:cNvPr id="3" name="內容版面配置區 2">
            <a:extLst>
              <a:ext uri="{FF2B5EF4-FFF2-40B4-BE49-F238E27FC236}">
                <a16:creationId xmlns:a16="http://schemas.microsoft.com/office/drawing/2014/main" id="{72697A5A-2B81-4055-BE38-FBF0028B433F}"/>
              </a:ext>
            </a:extLst>
          </p:cNvPr>
          <p:cNvSpPr>
            <a:spLocks noGrp="1"/>
          </p:cNvSpPr>
          <p:nvPr>
            <p:ph idx="1"/>
          </p:nvPr>
        </p:nvSpPr>
        <p:spPr>
          <a:xfrm>
            <a:off x="958465" y="1690688"/>
            <a:ext cx="10728709" cy="4691545"/>
          </a:xfrm>
        </p:spPr>
        <p:txBody>
          <a:bodyPr anchor="ctr">
            <a:normAutofit fontScale="62500" lnSpcReduction="20000"/>
          </a:bodyPr>
          <a:lstStyle/>
          <a:p>
            <a:pPr marL="0" indent="0">
              <a:buNone/>
            </a:pPr>
            <a:r>
              <a:rPr lang="en-US" altLang="zh-MO" sz="3500" b="1" dirty="0">
                <a:solidFill>
                  <a:schemeClr val="accent4">
                    <a:lumMod val="75000"/>
                  </a:schemeClr>
                </a:solidFill>
              </a:rPr>
              <a:t>Part 1: Introduction</a:t>
            </a:r>
          </a:p>
          <a:p>
            <a:r>
              <a:rPr lang="en-US" sz="2600" b="1" dirty="0"/>
              <a:t>In the previous lectures, we learned how to work with new datasets and get familiar with their data and structure. We also got hands-on experience of how to analyze and transform them using different data wrangling techniques such as filtering, sorting, and reshaping. All of these techniques will come in handy when working with further real-world datasets in the coming activities.</a:t>
            </a:r>
          </a:p>
          <a:p>
            <a:r>
              <a:rPr lang="en-US" sz="2600" b="1" dirty="0"/>
              <a:t>In this lecture, </a:t>
            </a:r>
            <a:r>
              <a:rPr lang="en-US" altLang="zh-HK" sz="2600" b="1" dirty="0"/>
              <a:t>we will focus on </a:t>
            </a:r>
            <a:r>
              <a:rPr lang="en-US" altLang="zh-HK" sz="2600" b="1" dirty="0">
                <a:solidFill>
                  <a:srgbClr val="FF0000"/>
                </a:solidFill>
              </a:rPr>
              <a:t>various visualizations </a:t>
            </a:r>
            <a:r>
              <a:rPr lang="en-US" altLang="zh-HK" sz="2600" b="1" dirty="0"/>
              <a:t>and identify which visualization is best for showing certain information for a given dataset. We will describe every visualization in detail and give practical examples, such as comparing different stocks over time or comparing the ratings for different movies. </a:t>
            </a:r>
          </a:p>
          <a:p>
            <a:r>
              <a:rPr lang="en-US" altLang="zh-HK" sz="2600" b="1" dirty="0"/>
              <a:t>Starting with </a:t>
            </a:r>
            <a:r>
              <a:rPr lang="en-US" altLang="zh-HK" sz="2600" b="1" dirty="0">
                <a:solidFill>
                  <a:srgbClr val="FF0000"/>
                </a:solidFill>
              </a:rPr>
              <a:t>comparison plots</a:t>
            </a:r>
            <a:r>
              <a:rPr lang="en-US" altLang="zh-HK" sz="2600" b="1" dirty="0"/>
              <a:t>, which are great for comparing multiple variables over time, we will look at their types (such as line charts, bar charts, and radar charts). We will then move onto </a:t>
            </a:r>
            <a:r>
              <a:rPr lang="en-US" altLang="zh-HK" sz="2600" b="1" dirty="0">
                <a:solidFill>
                  <a:srgbClr val="FF0000"/>
                </a:solidFill>
              </a:rPr>
              <a:t>relation plots</a:t>
            </a:r>
            <a:r>
              <a:rPr lang="en-US" altLang="zh-HK" sz="2600" b="1" dirty="0"/>
              <a:t>, which are handy for showing relationships among variables. We will cover scatter plots for showing the relationship between two variables, bubble plots for three variables, </a:t>
            </a:r>
            <a:r>
              <a:rPr lang="en-US" altLang="zh-HK" sz="2600" b="1" dirty="0" err="1"/>
              <a:t>correlograms</a:t>
            </a:r>
            <a:r>
              <a:rPr lang="en-US" altLang="zh-HK" sz="2600" b="1" dirty="0"/>
              <a:t> for variable pairs, and finally, </a:t>
            </a:r>
            <a:r>
              <a:rPr lang="en-US" altLang="zh-HK" sz="2600" b="1" dirty="0" err="1"/>
              <a:t>heatmaps</a:t>
            </a:r>
            <a:r>
              <a:rPr lang="en-US" altLang="zh-HK" sz="2600" b="1" dirty="0"/>
              <a:t> for visualizing multivariate data.</a:t>
            </a:r>
            <a:endParaRPr lang="en-US" sz="2600" b="1" dirty="0"/>
          </a:p>
          <a:p>
            <a:r>
              <a:rPr lang="en-US" sz="2600" b="1" dirty="0"/>
              <a:t>Next, we will </a:t>
            </a:r>
            <a:r>
              <a:rPr lang="en-US" sz="2600" b="1" dirty="0" err="1"/>
              <a:t>will</a:t>
            </a:r>
            <a:r>
              <a:rPr lang="en-US" sz="2600" b="1" dirty="0"/>
              <a:t> further explain </a:t>
            </a:r>
            <a:r>
              <a:rPr lang="en-US" sz="2600" b="1" dirty="0">
                <a:solidFill>
                  <a:srgbClr val="FF0000"/>
                </a:solidFill>
              </a:rPr>
              <a:t>composition plots </a:t>
            </a:r>
            <a:r>
              <a:rPr lang="en-US" sz="2600" b="1" dirty="0"/>
              <a:t>(used to visualize variables that are part of a whole), as well as pie charts, stacked bar charts, stacked area charts, and Venn diagrams. To give you a deeper insight into the distribution of variables, we will discuss </a:t>
            </a:r>
            <a:r>
              <a:rPr lang="en-US" sz="2600" b="1" dirty="0">
                <a:solidFill>
                  <a:srgbClr val="FF0000"/>
                </a:solidFill>
              </a:rPr>
              <a:t>distribution plots</a:t>
            </a:r>
            <a:r>
              <a:rPr lang="en-US" sz="2600" b="1" dirty="0"/>
              <a:t>, describing histograms, density plots, box plots, and violin plots..</a:t>
            </a:r>
          </a:p>
          <a:p>
            <a:r>
              <a:rPr lang="en-US" sz="2600" b="1" dirty="0"/>
              <a:t>Finally, we will talk about dot maps, connection maps, and choropleth maps, which can be categorized into </a:t>
            </a:r>
            <a:r>
              <a:rPr lang="en-US" sz="2600" b="1" dirty="0" err="1">
                <a:solidFill>
                  <a:srgbClr val="FF0000"/>
                </a:solidFill>
              </a:rPr>
              <a:t>geoplots</a:t>
            </a:r>
            <a:r>
              <a:rPr lang="en-US" sz="2600" b="1" dirty="0"/>
              <a:t>. </a:t>
            </a:r>
            <a:r>
              <a:rPr lang="en-US" sz="2600" b="1" dirty="0" err="1"/>
              <a:t>Geoplots</a:t>
            </a:r>
            <a:r>
              <a:rPr lang="en-US" sz="2600" b="1" dirty="0"/>
              <a:t> are useful for visualizing geospatial data. </a:t>
            </a:r>
          </a:p>
        </p:txBody>
      </p:sp>
      <p:sp>
        <p:nvSpPr>
          <p:cNvPr id="4" name="頁尾版面配置區 3">
            <a:extLst>
              <a:ext uri="{FF2B5EF4-FFF2-40B4-BE49-F238E27FC236}">
                <a16:creationId xmlns:a16="http://schemas.microsoft.com/office/drawing/2014/main" id="{4321BB31-863C-434D-9921-ADDB9CBD49A3}"/>
              </a:ext>
            </a:extLst>
          </p:cNvPr>
          <p:cNvSpPr>
            <a:spLocks noGrp="1"/>
          </p:cNvSpPr>
          <p:nvPr>
            <p:ph type="ftr" sz="quarter" idx="11"/>
          </p:nvPr>
        </p:nvSpPr>
        <p:spPr/>
        <p:txBody>
          <a:bodyPr/>
          <a:lstStyle/>
          <a:p>
            <a:pPr algn="r"/>
            <a:fld id="{215E7548-F18C-4C4B-B96B-B6533EE29CBB}" type="slidenum">
              <a:rPr lang="en-US" altLang="zh-MO" smtClean="0"/>
              <a:pPr algn="r"/>
              <a:t>3</a:t>
            </a:fld>
            <a:endParaRPr lang="en-US" dirty="0"/>
          </a:p>
        </p:txBody>
      </p:sp>
      <p:sp>
        <p:nvSpPr>
          <p:cNvPr id="5" name="文字版面配置區 4">
            <a:extLst>
              <a:ext uri="{FF2B5EF4-FFF2-40B4-BE49-F238E27FC236}">
                <a16:creationId xmlns:a16="http://schemas.microsoft.com/office/drawing/2014/main" id="{96D96DA7-63BE-4A6D-918C-73A25183ECFD}"/>
              </a:ext>
            </a:extLst>
          </p:cNvPr>
          <p:cNvSpPr>
            <a:spLocks noGrp="1"/>
          </p:cNvSpPr>
          <p:nvPr>
            <p:ph type="body" sz="quarter" idx="13"/>
          </p:nvPr>
        </p:nvSpPr>
        <p:spPr>
          <a:xfrm>
            <a:off x="838200" y="676829"/>
            <a:ext cx="8667143" cy="639324"/>
          </a:xfrm>
        </p:spPr>
        <p:txBody>
          <a:bodyPr>
            <a:noAutofit/>
          </a:bodyPr>
          <a:lstStyle/>
          <a:p>
            <a:r>
              <a:rPr lang="en-US" altLang="zh-MO" sz="3200" dirty="0">
                <a:solidFill>
                  <a:srgbClr val="C00000"/>
                </a:solidFill>
              </a:rPr>
              <a:t>CISC7204 Data Science and Data Visualization</a:t>
            </a:r>
            <a:endParaRPr lang="zh-MO" altLang="en-US" sz="3200" dirty="0"/>
          </a:p>
        </p:txBody>
      </p:sp>
    </p:spTree>
    <p:extLst>
      <p:ext uri="{BB962C8B-B14F-4D97-AF65-F5344CB8AC3E}">
        <p14:creationId xmlns:p14="http://schemas.microsoft.com/office/powerpoint/2010/main" val="3407378378"/>
      </p:ext>
    </p:extLst>
  </p:cSld>
  <p:clrMapOvr>
    <a:masterClrMapping/>
  </p:clrMapOvr>
  <mc:AlternateContent xmlns:mc="http://schemas.openxmlformats.org/markup-compatibility/2006" xmlns:p14="http://schemas.microsoft.com/office/powerpoint/2010/main">
    <mc:Choice Requires="p14">
      <p:transition spd="slow" p14:dur="2000" advTm="30010"/>
    </mc:Choice>
    <mc:Fallback xmlns="">
      <p:transition spd="slow" advTm="30010"/>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2C39319-C3EB-463D-A73C-2DEA9D750625}"/>
              </a:ext>
            </a:extLst>
          </p:cNvPr>
          <p:cNvSpPr>
            <a:spLocks noGrp="1"/>
          </p:cNvSpPr>
          <p:nvPr>
            <p:ph type="title"/>
          </p:nvPr>
        </p:nvSpPr>
        <p:spPr/>
        <p:txBody>
          <a:bodyPr>
            <a:normAutofit/>
          </a:bodyPr>
          <a:lstStyle/>
          <a:p>
            <a:r>
              <a:rPr lang="en-US" altLang="zh-MO" sz="2800" dirty="0"/>
              <a:t> Introduction to Data Visualization Plots</a:t>
            </a:r>
            <a:endParaRPr lang="zh-MO" altLang="en-US" sz="2800" dirty="0"/>
          </a:p>
        </p:txBody>
      </p:sp>
      <p:sp>
        <p:nvSpPr>
          <p:cNvPr id="3" name="內容版面配置區 2">
            <a:extLst>
              <a:ext uri="{FF2B5EF4-FFF2-40B4-BE49-F238E27FC236}">
                <a16:creationId xmlns:a16="http://schemas.microsoft.com/office/drawing/2014/main" id="{72697A5A-2B81-4055-BE38-FBF0028B433F}"/>
              </a:ext>
            </a:extLst>
          </p:cNvPr>
          <p:cNvSpPr>
            <a:spLocks noGrp="1"/>
          </p:cNvSpPr>
          <p:nvPr>
            <p:ph idx="1"/>
          </p:nvPr>
        </p:nvSpPr>
        <p:spPr>
          <a:xfrm>
            <a:off x="958466" y="1825625"/>
            <a:ext cx="10513098" cy="4355546"/>
          </a:xfrm>
        </p:spPr>
        <p:txBody>
          <a:bodyPr anchor="ctr">
            <a:normAutofit/>
          </a:bodyPr>
          <a:lstStyle/>
          <a:p>
            <a:pPr marL="0" indent="0">
              <a:buNone/>
            </a:pPr>
            <a:r>
              <a:rPr lang="en-US" altLang="zh-MO" sz="3500" b="1" dirty="0">
                <a:solidFill>
                  <a:schemeClr val="accent4">
                    <a:lumMod val="75000"/>
                  </a:schemeClr>
                </a:solidFill>
              </a:rPr>
              <a:t>Part 2: Comparison Plots</a:t>
            </a:r>
          </a:p>
          <a:p>
            <a:pPr marL="0" indent="0">
              <a:buNone/>
            </a:pPr>
            <a:r>
              <a:rPr lang="en-US" sz="2600" b="1" dirty="0"/>
              <a:t>Comparison plots include charts that are ideal for comparing multiple variables or variables over time. </a:t>
            </a:r>
          </a:p>
          <a:p>
            <a:r>
              <a:rPr lang="en-US" sz="2600" b="1" dirty="0">
                <a:solidFill>
                  <a:srgbClr val="00B0F0"/>
                </a:solidFill>
              </a:rPr>
              <a:t>Line charts </a:t>
            </a:r>
            <a:r>
              <a:rPr lang="en-US" sz="2600" b="1" dirty="0"/>
              <a:t>are great for visualizing variables over time. </a:t>
            </a:r>
          </a:p>
          <a:p>
            <a:r>
              <a:rPr lang="en-US" sz="2600" b="1" dirty="0"/>
              <a:t>For comparison among items, </a:t>
            </a:r>
            <a:r>
              <a:rPr lang="en-US" sz="2600" b="1" dirty="0">
                <a:solidFill>
                  <a:srgbClr val="00B0F0"/>
                </a:solidFill>
              </a:rPr>
              <a:t>bar charts </a:t>
            </a:r>
            <a:r>
              <a:rPr lang="en-US" sz="2600" b="1" dirty="0"/>
              <a:t>(also called column charts) are the best way to go. For a certain time period (say, fewer than 10-time points), vertical bar charts can be used as well. </a:t>
            </a:r>
          </a:p>
          <a:p>
            <a:r>
              <a:rPr lang="en-US" sz="2600" b="1" dirty="0">
                <a:solidFill>
                  <a:srgbClr val="00B0F0"/>
                </a:solidFill>
              </a:rPr>
              <a:t>Radar charts </a:t>
            </a:r>
            <a:r>
              <a:rPr lang="en-US" sz="2600" b="1" dirty="0"/>
              <a:t>or </a:t>
            </a:r>
            <a:r>
              <a:rPr lang="en-US" sz="2600" b="1" dirty="0">
                <a:solidFill>
                  <a:srgbClr val="00B0F0"/>
                </a:solidFill>
              </a:rPr>
              <a:t>spider plots </a:t>
            </a:r>
            <a:r>
              <a:rPr lang="en-US" sz="2600" b="1" dirty="0"/>
              <a:t>are great for visualizing multiple variables for multiple groups.</a:t>
            </a:r>
          </a:p>
        </p:txBody>
      </p:sp>
      <p:sp>
        <p:nvSpPr>
          <p:cNvPr id="4" name="頁尾版面配置區 3">
            <a:extLst>
              <a:ext uri="{FF2B5EF4-FFF2-40B4-BE49-F238E27FC236}">
                <a16:creationId xmlns:a16="http://schemas.microsoft.com/office/drawing/2014/main" id="{4321BB31-863C-434D-9921-ADDB9CBD49A3}"/>
              </a:ext>
            </a:extLst>
          </p:cNvPr>
          <p:cNvSpPr>
            <a:spLocks noGrp="1"/>
          </p:cNvSpPr>
          <p:nvPr>
            <p:ph type="ftr" sz="quarter" idx="11"/>
          </p:nvPr>
        </p:nvSpPr>
        <p:spPr/>
        <p:txBody>
          <a:bodyPr/>
          <a:lstStyle/>
          <a:p>
            <a:pPr algn="r"/>
            <a:fld id="{215E7548-F18C-4C4B-B96B-B6533EE29CBB}" type="slidenum">
              <a:rPr lang="en-US" altLang="zh-MO" smtClean="0"/>
              <a:pPr algn="r"/>
              <a:t>4</a:t>
            </a:fld>
            <a:endParaRPr lang="en-US" dirty="0"/>
          </a:p>
        </p:txBody>
      </p:sp>
      <p:sp>
        <p:nvSpPr>
          <p:cNvPr id="5" name="文字版面配置區 4">
            <a:extLst>
              <a:ext uri="{FF2B5EF4-FFF2-40B4-BE49-F238E27FC236}">
                <a16:creationId xmlns:a16="http://schemas.microsoft.com/office/drawing/2014/main" id="{96D96DA7-63BE-4A6D-918C-73A25183ECFD}"/>
              </a:ext>
            </a:extLst>
          </p:cNvPr>
          <p:cNvSpPr>
            <a:spLocks noGrp="1"/>
          </p:cNvSpPr>
          <p:nvPr>
            <p:ph type="body" sz="quarter" idx="13"/>
          </p:nvPr>
        </p:nvSpPr>
        <p:spPr>
          <a:xfrm>
            <a:off x="838200" y="676829"/>
            <a:ext cx="8667143" cy="639324"/>
          </a:xfrm>
        </p:spPr>
        <p:txBody>
          <a:bodyPr>
            <a:noAutofit/>
          </a:bodyPr>
          <a:lstStyle/>
          <a:p>
            <a:r>
              <a:rPr lang="en-US" altLang="zh-MO" sz="3200" dirty="0">
                <a:solidFill>
                  <a:srgbClr val="C00000"/>
                </a:solidFill>
              </a:rPr>
              <a:t>CISC7204 Data Science and Data Visualization</a:t>
            </a:r>
            <a:endParaRPr lang="zh-MO" altLang="en-US" sz="3200" dirty="0"/>
          </a:p>
        </p:txBody>
      </p:sp>
    </p:spTree>
    <p:extLst>
      <p:ext uri="{BB962C8B-B14F-4D97-AF65-F5344CB8AC3E}">
        <p14:creationId xmlns:p14="http://schemas.microsoft.com/office/powerpoint/2010/main" val="1596276876"/>
      </p:ext>
    </p:extLst>
  </p:cSld>
  <p:clrMapOvr>
    <a:masterClrMapping/>
  </p:clrMapOvr>
  <mc:AlternateContent xmlns:mc="http://schemas.openxmlformats.org/markup-compatibility/2006" xmlns:p14="http://schemas.microsoft.com/office/powerpoint/2010/main">
    <mc:Choice Requires="p14">
      <p:transition spd="slow" p14:dur="2000" advTm="30010"/>
    </mc:Choice>
    <mc:Fallback xmlns="">
      <p:transition spd="slow" advTm="30010"/>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2C39319-C3EB-463D-A73C-2DEA9D750625}"/>
              </a:ext>
            </a:extLst>
          </p:cNvPr>
          <p:cNvSpPr>
            <a:spLocks noGrp="1"/>
          </p:cNvSpPr>
          <p:nvPr>
            <p:ph type="title"/>
          </p:nvPr>
        </p:nvSpPr>
        <p:spPr/>
        <p:txBody>
          <a:bodyPr>
            <a:normAutofit/>
          </a:bodyPr>
          <a:lstStyle/>
          <a:p>
            <a:r>
              <a:rPr lang="en-US" altLang="zh-MO" sz="2800" dirty="0"/>
              <a:t> Introduction to Data Visualization Plots</a:t>
            </a:r>
            <a:endParaRPr lang="zh-MO" altLang="en-US" sz="2800" dirty="0"/>
          </a:p>
        </p:txBody>
      </p:sp>
      <p:sp>
        <p:nvSpPr>
          <p:cNvPr id="3" name="內容版面配置區 2">
            <a:extLst>
              <a:ext uri="{FF2B5EF4-FFF2-40B4-BE49-F238E27FC236}">
                <a16:creationId xmlns:a16="http://schemas.microsoft.com/office/drawing/2014/main" id="{72697A5A-2B81-4055-BE38-FBF0028B433F}"/>
              </a:ext>
            </a:extLst>
          </p:cNvPr>
          <p:cNvSpPr>
            <a:spLocks noGrp="1"/>
          </p:cNvSpPr>
          <p:nvPr>
            <p:ph idx="1"/>
          </p:nvPr>
        </p:nvSpPr>
        <p:spPr>
          <a:xfrm>
            <a:off x="958466" y="1825625"/>
            <a:ext cx="10513098" cy="4355546"/>
          </a:xfrm>
        </p:spPr>
        <p:txBody>
          <a:bodyPr anchor="ctr">
            <a:normAutofit/>
          </a:bodyPr>
          <a:lstStyle/>
          <a:p>
            <a:pPr marL="0" indent="0">
              <a:buNone/>
            </a:pPr>
            <a:r>
              <a:rPr lang="en-US" altLang="zh-MO" sz="3500" b="1" dirty="0">
                <a:solidFill>
                  <a:schemeClr val="accent4">
                    <a:lumMod val="75000"/>
                  </a:schemeClr>
                </a:solidFill>
              </a:rPr>
              <a:t>Part 2: Comparison Plots</a:t>
            </a:r>
          </a:p>
          <a:p>
            <a:pPr marL="0" indent="0">
              <a:buNone/>
            </a:pPr>
            <a:r>
              <a:rPr lang="en-US" sz="2600" b="1" dirty="0">
                <a:solidFill>
                  <a:srgbClr val="FF0000"/>
                </a:solidFill>
              </a:rPr>
              <a:t>Line Chart</a:t>
            </a:r>
          </a:p>
          <a:p>
            <a:r>
              <a:rPr lang="en-US" sz="2600" b="1" dirty="0"/>
              <a:t>Line charts are used to display quantitative values over a continuous time period and show information as a series. A line chart is ideal for a time series that is connected by straight-line segments.  </a:t>
            </a:r>
          </a:p>
          <a:p>
            <a:r>
              <a:rPr lang="en-US" sz="2600" b="1" dirty="0"/>
              <a:t>The value being measured is placed on the y-axis, while the x-axis is the timescale.</a:t>
            </a:r>
          </a:p>
        </p:txBody>
      </p:sp>
      <p:sp>
        <p:nvSpPr>
          <p:cNvPr id="4" name="頁尾版面配置區 3">
            <a:extLst>
              <a:ext uri="{FF2B5EF4-FFF2-40B4-BE49-F238E27FC236}">
                <a16:creationId xmlns:a16="http://schemas.microsoft.com/office/drawing/2014/main" id="{4321BB31-863C-434D-9921-ADDB9CBD49A3}"/>
              </a:ext>
            </a:extLst>
          </p:cNvPr>
          <p:cNvSpPr>
            <a:spLocks noGrp="1"/>
          </p:cNvSpPr>
          <p:nvPr>
            <p:ph type="ftr" sz="quarter" idx="11"/>
          </p:nvPr>
        </p:nvSpPr>
        <p:spPr/>
        <p:txBody>
          <a:bodyPr/>
          <a:lstStyle/>
          <a:p>
            <a:pPr algn="r"/>
            <a:fld id="{215E7548-F18C-4C4B-B96B-B6533EE29CBB}" type="slidenum">
              <a:rPr lang="en-US" altLang="zh-MO" smtClean="0"/>
              <a:pPr algn="r"/>
              <a:t>5</a:t>
            </a:fld>
            <a:endParaRPr lang="en-US" dirty="0"/>
          </a:p>
        </p:txBody>
      </p:sp>
      <p:sp>
        <p:nvSpPr>
          <p:cNvPr id="5" name="文字版面配置區 4">
            <a:extLst>
              <a:ext uri="{FF2B5EF4-FFF2-40B4-BE49-F238E27FC236}">
                <a16:creationId xmlns:a16="http://schemas.microsoft.com/office/drawing/2014/main" id="{96D96DA7-63BE-4A6D-918C-73A25183ECFD}"/>
              </a:ext>
            </a:extLst>
          </p:cNvPr>
          <p:cNvSpPr>
            <a:spLocks noGrp="1"/>
          </p:cNvSpPr>
          <p:nvPr>
            <p:ph type="body" sz="quarter" idx="13"/>
          </p:nvPr>
        </p:nvSpPr>
        <p:spPr>
          <a:xfrm>
            <a:off x="838200" y="676829"/>
            <a:ext cx="8667143" cy="639324"/>
          </a:xfrm>
        </p:spPr>
        <p:txBody>
          <a:bodyPr>
            <a:noAutofit/>
          </a:bodyPr>
          <a:lstStyle/>
          <a:p>
            <a:r>
              <a:rPr lang="en-US" altLang="zh-MO" sz="3200" dirty="0">
                <a:solidFill>
                  <a:srgbClr val="C00000"/>
                </a:solidFill>
              </a:rPr>
              <a:t>CISC7204 Data Science and Data Visualization</a:t>
            </a:r>
            <a:endParaRPr lang="zh-MO" altLang="en-US" sz="3200" dirty="0"/>
          </a:p>
        </p:txBody>
      </p:sp>
    </p:spTree>
    <p:extLst>
      <p:ext uri="{BB962C8B-B14F-4D97-AF65-F5344CB8AC3E}">
        <p14:creationId xmlns:p14="http://schemas.microsoft.com/office/powerpoint/2010/main" val="3666554990"/>
      </p:ext>
    </p:extLst>
  </p:cSld>
  <p:clrMapOvr>
    <a:masterClrMapping/>
  </p:clrMapOvr>
  <mc:AlternateContent xmlns:mc="http://schemas.openxmlformats.org/markup-compatibility/2006" xmlns:p14="http://schemas.microsoft.com/office/powerpoint/2010/main">
    <mc:Choice Requires="p14">
      <p:transition spd="slow" p14:dur="2000" advTm="30010"/>
    </mc:Choice>
    <mc:Fallback xmlns="">
      <p:transition spd="slow" advTm="30010"/>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2C39319-C3EB-463D-A73C-2DEA9D750625}"/>
              </a:ext>
            </a:extLst>
          </p:cNvPr>
          <p:cNvSpPr>
            <a:spLocks noGrp="1"/>
          </p:cNvSpPr>
          <p:nvPr>
            <p:ph type="title"/>
          </p:nvPr>
        </p:nvSpPr>
        <p:spPr/>
        <p:txBody>
          <a:bodyPr>
            <a:normAutofit/>
          </a:bodyPr>
          <a:lstStyle/>
          <a:p>
            <a:r>
              <a:rPr lang="en-US" altLang="zh-MO" sz="2800" dirty="0"/>
              <a:t> Introduction to Data Visualization Plots</a:t>
            </a:r>
            <a:endParaRPr lang="zh-MO" altLang="en-US" sz="2800" dirty="0"/>
          </a:p>
        </p:txBody>
      </p:sp>
      <p:sp>
        <p:nvSpPr>
          <p:cNvPr id="3" name="內容版面配置區 2">
            <a:extLst>
              <a:ext uri="{FF2B5EF4-FFF2-40B4-BE49-F238E27FC236}">
                <a16:creationId xmlns:a16="http://schemas.microsoft.com/office/drawing/2014/main" id="{72697A5A-2B81-4055-BE38-FBF0028B433F}"/>
              </a:ext>
            </a:extLst>
          </p:cNvPr>
          <p:cNvSpPr>
            <a:spLocks noGrp="1"/>
          </p:cNvSpPr>
          <p:nvPr>
            <p:ph idx="1"/>
          </p:nvPr>
        </p:nvSpPr>
        <p:spPr>
          <a:xfrm>
            <a:off x="958466" y="1825625"/>
            <a:ext cx="10513098" cy="4355546"/>
          </a:xfrm>
        </p:spPr>
        <p:txBody>
          <a:bodyPr anchor="ctr">
            <a:normAutofit/>
          </a:bodyPr>
          <a:lstStyle/>
          <a:p>
            <a:pPr marL="0" indent="0">
              <a:buNone/>
            </a:pPr>
            <a:r>
              <a:rPr lang="en-US" altLang="zh-MO" sz="3500" b="1" dirty="0">
                <a:solidFill>
                  <a:schemeClr val="accent4">
                    <a:lumMod val="75000"/>
                  </a:schemeClr>
                </a:solidFill>
              </a:rPr>
              <a:t>Part 2: Comparison Plots</a:t>
            </a:r>
          </a:p>
          <a:p>
            <a:pPr marL="0" indent="0">
              <a:buNone/>
            </a:pPr>
            <a:r>
              <a:rPr lang="en-US" sz="2600" b="1" dirty="0">
                <a:solidFill>
                  <a:srgbClr val="FF0000"/>
                </a:solidFill>
              </a:rPr>
              <a:t>Line Chart - </a:t>
            </a:r>
            <a:r>
              <a:rPr lang="en-US" sz="2600" b="1" dirty="0">
                <a:solidFill>
                  <a:schemeClr val="accent1">
                    <a:lumMod val="75000"/>
                  </a:schemeClr>
                </a:solidFill>
              </a:rPr>
              <a:t>Uses</a:t>
            </a:r>
          </a:p>
          <a:p>
            <a:r>
              <a:rPr lang="en-US" sz="2600" b="1" dirty="0"/>
              <a:t>Line charts are great for comparing multiple variables and visualizing trends for both single as well as multiple variables, especially if your dataset has many time periods (more than 10).</a:t>
            </a:r>
          </a:p>
          <a:p>
            <a:r>
              <a:rPr lang="en-US" sz="2600" b="1" dirty="0"/>
              <a:t>For smaller time periods, vertical bar charts might be the better choice.</a:t>
            </a:r>
          </a:p>
        </p:txBody>
      </p:sp>
      <p:sp>
        <p:nvSpPr>
          <p:cNvPr id="4" name="頁尾版面配置區 3">
            <a:extLst>
              <a:ext uri="{FF2B5EF4-FFF2-40B4-BE49-F238E27FC236}">
                <a16:creationId xmlns:a16="http://schemas.microsoft.com/office/drawing/2014/main" id="{4321BB31-863C-434D-9921-ADDB9CBD49A3}"/>
              </a:ext>
            </a:extLst>
          </p:cNvPr>
          <p:cNvSpPr>
            <a:spLocks noGrp="1"/>
          </p:cNvSpPr>
          <p:nvPr>
            <p:ph type="ftr" sz="quarter" idx="11"/>
          </p:nvPr>
        </p:nvSpPr>
        <p:spPr/>
        <p:txBody>
          <a:bodyPr/>
          <a:lstStyle/>
          <a:p>
            <a:pPr algn="r"/>
            <a:fld id="{215E7548-F18C-4C4B-B96B-B6533EE29CBB}" type="slidenum">
              <a:rPr lang="en-US" altLang="zh-MO" smtClean="0"/>
              <a:pPr algn="r"/>
              <a:t>6</a:t>
            </a:fld>
            <a:endParaRPr lang="en-US" dirty="0"/>
          </a:p>
        </p:txBody>
      </p:sp>
      <p:sp>
        <p:nvSpPr>
          <p:cNvPr id="5" name="文字版面配置區 4">
            <a:extLst>
              <a:ext uri="{FF2B5EF4-FFF2-40B4-BE49-F238E27FC236}">
                <a16:creationId xmlns:a16="http://schemas.microsoft.com/office/drawing/2014/main" id="{96D96DA7-63BE-4A6D-918C-73A25183ECFD}"/>
              </a:ext>
            </a:extLst>
          </p:cNvPr>
          <p:cNvSpPr>
            <a:spLocks noGrp="1"/>
          </p:cNvSpPr>
          <p:nvPr>
            <p:ph type="body" sz="quarter" idx="13"/>
          </p:nvPr>
        </p:nvSpPr>
        <p:spPr>
          <a:xfrm>
            <a:off x="838200" y="676829"/>
            <a:ext cx="8667143" cy="639324"/>
          </a:xfrm>
        </p:spPr>
        <p:txBody>
          <a:bodyPr>
            <a:noAutofit/>
          </a:bodyPr>
          <a:lstStyle/>
          <a:p>
            <a:r>
              <a:rPr lang="en-US" altLang="zh-MO" sz="3200" dirty="0">
                <a:solidFill>
                  <a:srgbClr val="C00000"/>
                </a:solidFill>
              </a:rPr>
              <a:t>CISC7204 Data Science and Data Visualization</a:t>
            </a:r>
            <a:endParaRPr lang="zh-MO" altLang="en-US" sz="3200" dirty="0"/>
          </a:p>
        </p:txBody>
      </p:sp>
    </p:spTree>
    <p:extLst>
      <p:ext uri="{BB962C8B-B14F-4D97-AF65-F5344CB8AC3E}">
        <p14:creationId xmlns:p14="http://schemas.microsoft.com/office/powerpoint/2010/main" val="3577137665"/>
      </p:ext>
    </p:extLst>
  </p:cSld>
  <p:clrMapOvr>
    <a:masterClrMapping/>
  </p:clrMapOvr>
  <mc:AlternateContent xmlns:mc="http://schemas.openxmlformats.org/markup-compatibility/2006" xmlns:p14="http://schemas.microsoft.com/office/powerpoint/2010/main">
    <mc:Choice Requires="p14">
      <p:transition spd="slow" p14:dur="2000" advTm="30010"/>
    </mc:Choice>
    <mc:Fallback xmlns="">
      <p:transition spd="slow" advTm="30010"/>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2C39319-C3EB-463D-A73C-2DEA9D750625}"/>
              </a:ext>
            </a:extLst>
          </p:cNvPr>
          <p:cNvSpPr>
            <a:spLocks noGrp="1"/>
          </p:cNvSpPr>
          <p:nvPr>
            <p:ph type="title"/>
          </p:nvPr>
        </p:nvSpPr>
        <p:spPr/>
        <p:txBody>
          <a:bodyPr>
            <a:normAutofit/>
          </a:bodyPr>
          <a:lstStyle/>
          <a:p>
            <a:r>
              <a:rPr lang="en-US" altLang="zh-MO" sz="2800" dirty="0"/>
              <a:t> Introduction to Data Visualization Plots</a:t>
            </a:r>
            <a:endParaRPr lang="zh-MO" altLang="en-US" sz="2800" dirty="0"/>
          </a:p>
        </p:txBody>
      </p:sp>
      <p:sp>
        <p:nvSpPr>
          <p:cNvPr id="3" name="內容版面配置區 2">
            <a:extLst>
              <a:ext uri="{FF2B5EF4-FFF2-40B4-BE49-F238E27FC236}">
                <a16:creationId xmlns:a16="http://schemas.microsoft.com/office/drawing/2014/main" id="{72697A5A-2B81-4055-BE38-FBF0028B433F}"/>
              </a:ext>
            </a:extLst>
          </p:cNvPr>
          <p:cNvSpPr>
            <a:spLocks noGrp="1"/>
          </p:cNvSpPr>
          <p:nvPr>
            <p:ph idx="1"/>
          </p:nvPr>
        </p:nvSpPr>
        <p:spPr>
          <a:xfrm>
            <a:off x="958466" y="1825625"/>
            <a:ext cx="1741872" cy="4355546"/>
          </a:xfrm>
        </p:spPr>
        <p:txBody>
          <a:bodyPr anchor="ctr">
            <a:normAutofit/>
          </a:bodyPr>
          <a:lstStyle/>
          <a:p>
            <a:pPr marL="0" indent="0">
              <a:buNone/>
            </a:pPr>
            <a:r>
              <a:rPr lang="en-US" altLang="zh-MO" sz="2200" b="1" dirty="0">
                <a:solidFill>
                  <a:schemeClr val="accent4">
                    <a:lumMod val="75000"/>
                  </a:schemeClr>
                </a:solidFill>
              </a:rPr>
              <a:t>Part 2: Comparison Plots</a:t>
            </a:r>
          </a:p>
          <a:p>
            <a:pPr marL="0" indent="0">
              <a:buNone/>
            </a:pPr>
            <a:r>
              <a:rPr lang="en-US" sz="2200" b="1" dirty="0">
                <a:solidFill>
                  <a:srgbClr val="FF0000"/>
                </a:solidFill>
              </a:rPr>
              <a:t>Line Chart </a:t>
            </a:r>
          </a:p>
          <a:p>
            <a:pPr marL="0" indent="0">
              <a:buNone/>
            </a:pPr>
            <a:r>
              <a:rPr lang="en-US" sz="2300" b="1" dirty="0">
                <a:solidFill>
                  <a:schemeClr val="accent1">
                    <a:lumMod val="75000"/>
                  </a:schemeClr>
                </a:solidFill>
              </a:rPr>
              <a:t>Example</a:t>
            </a:r>
          </a:p>
          <a:p>
            <a:pPr marL="0" indent="0">
              <a:buNone/>
            </a:pPr>
            <a:r>
              <a:rPr lang="en-US" sz="1700" b="1" dirty="0"/>
              <a:t>The diagram shows a trend of real estate prices (per million US dollars) across two decades. Line charts are ideal for showing data trends.</a:t>
            </a:r>
          </a:p>
        </p:txBody>
      </p:sp>
      <p:sp>
        <p:nvSpPr>
          <p:cNvPr id="4" name="頁尾版面配置區 3">
            <a:extLst>
              <a:ext uri="{FF2B5EF4-FFF2-40B4-BE49-F238E27FC236}">
                <a16:creationId xmlns:a16="http://schemas.microsoft.com/office/drawing/2014/main" id="{4321BB31-863C-434D-9921-ADDB9CBD49A3}"/>
              </a:ext>
            </a:extLst>
          </p:cNvPr>
          <p:cNvSpPr>
            <a:spLocks noGrp="1"/>
          </p:cNvSpPr>
          <p:nvPr>
            <p:ph type="ftr" sz="quarter" idx="11"/>
          </p:nvPr>
        </p:nvSpPr>
        <p:spPr>
          <a:xfrm>
            <a:off x="5922687" y="5947568"/>
            <a:ext cx="2135464" cy="237883"/>
          </a:xfrm>
        </p:spPr>
        <p:txBody>
          <a:bodyPr/>
          <a:lstStyle/>
          <a:p>
            <a:pPr algn="r"/>
            <a:r>
              <a:rPr lang="en-US" altLang="zh-MO" dirty="0"/>
              <a:t>Line chart for a single variable</a:t>
            </a:r>
            <a:endParaRPr lang="en-US" dirty="0"/>
          </a:p>
        </p:txBody>
      </p:sp>
      <p:sp>
        <p:nvSpPr>
          <p:cNvPr id="5" name="文字版面配置區 4">
            <a:extLst>
              <a:ext uri="{FF2B5EF4-FFF2-40B4-BE49-F238E27FC236}">
                <a16:creationId xmlns:a16="http://schemas.microsoft.com/office/drawing/2014/main" id="{96D96DA7-63BE-4A6D-918C-73A25183ECFD}"/>
              </a:ext>
            </a:extLst>
          </p:cNvPr>
          <p:cNvSpPr>
            <a:spLocks noGrp="1"/>
          </p:cNvSpPr>
          <p:nvPr>
            <p:ph type="body" sz="quarter" idx="13"/>
          </p:nvPr>
        </p:nvSpPr>
        <p:spPr>
          <a:xfrm>
            <a:off x="838200" y="676829"/>
            <a:ext cx="8667143" cy="639324"/>
          </a:xfrm>
        </p:spPr>
        <p:txBody>
          <a:bodyPr>
            <a:noAutofit/>
          </a:bodyPr>
          <a:lstStyle/>
          <a:p>
            <a:r>
              <a:rPr lang="en-US" altLang="zh-MO" sz="3200" dirty="0">
                <a:solidFill>
                  <a:srgbClr val="C00000"/>
                </a:solidFill>
              </a:rPr>
              <a:t>CISC7204 Data Science and Data Visualization</a:t>
            </a:r>
            <a:endParaRPr lang="zh-MO" altLang="en-US" sz="3200" dirty="0"/>
          </a:p>
        </p:txBody>
      </p:sp>
      <p:pic>
        <p:nvPicPr>
          <p:cNvPr id="6" name="圖片 5"/>
          <p:cNvPicPr>
            <a:picLocks noChangeAspect="1"/>
          </p:cNvPicPr>
          <p:nvPr/>
        </p:nvPicPr>
        <p:blipFill>
          <a:blip r:embed="rId2"/>
          <a:stretch>
            <a:fillRect/>
          </a:stretch>
        </p:blipFill>
        <p:spPr>
          <a:xfrm>
            <a:off x="3380767" y="2059228"/>
            <a:ext cx="6667694" cy="3888340"/>
          </a:xfrm>
          <a:prstGeom prst="rect">
            <a:avLst/>
          </a:prstGeom>
        </p:spPr>
      </p:pic>
    </p:spTree>
    <p:extLst>
      <p:ext uri="{BB962C8B-B14F-4D97-AF65-F5344CB8AC3E}">
        <p14:creationId xmlns:p14="http://schemas.microsoft.com/office/powerpoint/2010/main" val="3380622678"/>
      </p:ext>
    </p:extLst>
  </p:cSld>
  <p:clrMapOvr>
    <a:masterClrMapping/>
  </p:clrMapOvr>
  <mc:AlternateContent xmlns:mc="http://schemas.openxmlformats.org/markup-compatibility/2006" xmlns:p14="http://schemas.microsoft.com/office/powerpoint/2010/main">
    <mc:Choice Requires="p14">
      <p:transition spd="slow" p14:dur="2000" advTm="30010"/>
    </mc:Choice>
    <mc:Fallback xmlns="">
      <p:transition spd="slow" advTm="30010"/>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2C39319-C3EB-463D-A73C-2DEA9D750625}"/>
              </a:ext>
            </a:extLst>
          </p:cNvPr>
          <p:cNvSpPr>
            <a:spLocks noGrp="1"/>
          </p:cNvSpPr>
          <p:nvPr>
            <p:ph type="title"/>
          </p:nvPr>
        </p:nvSpPr>
        <p:spPr/>
        <p:txBody>
          <a:bodyPr>
            <a:normAutofit/>
          </a:bodyPr>
          <a:lstStyle/>
          <a:p>
            <a:r>
              <a:rPr lang="en-US" altLang="zh-MO" sz="2800" dirty="0"/>
              <a:t> Introduction to Data Visualization Plots</a:t>
            </a:r>
            <a:endParaRPr lang="zh-MO" altLang="en-US" sz="2800" dirty="0"/>
          </a:p>
        </p:txBody>
      </p:sp>
      <p:sp>
        <p:nvSpPr>
          <p:cNvPr id="3" name="內容版面配置區 2">
            <a:extLst>
              <a:ext uri="{FF2B5EF4-FFF2-40B4-BE49-F238E27FC236}">
                <a16:creationId xmlns:a16="http://schemas.microsoft.com/office/drawing/2014/main" id="{72697A5A-2B81-4055-BE38-FBF0028B433F}"/>
              </a:ext>
            </a:extLst>
          </p:cNvPr>
          <p:cNvSpPr>
            <a:spLocks noGrp="1"/>
          </p:cNvSpPr>
          <p:nvPr>
            <p:ph idx="1"/>
          </p:nvPr>
        </p:nvSpPr>
        <p:spPr>
          <a:xfrm>
            <a:off x="958466" y="1825625"/>
            <a:ext cx="1741872" cy="4355546"/>
          </a:xfrm>
        </p:spPr>
        <p:txBody>
          <a:bodyPr anchor="ctr">
            <a:normAutofit fontScale="85000" lnSpcReduction="20000"/>
          </a:bodyPr>
          <a:lstStyle/>
          <a:p>
            <a:pPr marL="0" indent="0">
              <a:buNone/>
            </a:pPr>
            <a:r>
              <a:rPr lang="en-US" altLang="zh-MO" sz="2200" b="1" dirty="0">
                <a:solidFill>
                  <a:schemeClr val="accent4">
                    <a:lumMod val="75000"/>
                  </a:schemeClr>
                </a:solidFill>
              </a:rPr>
              <a:t>Part 2: Comparison Plots</a:t>
            </a:r>
          </a:p>
          <a:p>
            <a:pPr marL="0" indent="0">
              <a:buNone/>
            </a:pPr>
            <a:r>
              <a:rPr lang="en-US" sz="2200" b="1" dirty="0">
                <a:solidFill>
                  <a:srgbClr val="FF0000"/>
                </a:solidFill>
              </a:rPr>
              <a:t>Line Chart </a:t>
            </a:r>
          </a:p>
          <a:p>
            <a:pPr marL="0" indent="0">
              <a:buNone/>
            </a:pPr>
            <a:r>
              <a:rPr lang="en-US" sz="2300" b="1" dirty="0">
                <a:solidFill>
                  <a:schemeClr val="accent1">
                    <a:lumMod val="75000"/>
                  </a:schemeClr>
                </a:solidFill>
              </a:rPr>
              <a:t>Example</a:t>
            </a:r>
          </a:p>
          <a:p>
            <a:pPr marL="0" indent="0">
              <a:buNone/>
            </a:pPr>
            <a:r>
              <a:rPr lang="en-US" altLang="zh-HK" sz="1600" dirty="0"/>
              <a:t>The figure is a multiple-variable line chart that compares the stock-closing prices for Google, Facebook, Apple, Amazon, and Microsoft. </a:t>
            </a:r>
          </a:p>
          <a:p>
            <a:pPr marL="0" indent="0">
              <a:buNone/>
            </a:pPr>
            <a:r>
              <a:rPr lang="en-US" altLang="zh-HK" sz="1600" dirty="0"/>
              <a:t>A line chart is great for comparing values and visualizing the trend of the stock. As we can see, Amazon shows the highest growth:</a:t>
            </a:r>
            <a:endParaRPr lang="en-US" sz="1700" b="1" dirty="0"/>
          </a:p>
        </p:txBody>
      </p:sp>
      <p:sp>
        <p:nvSpPr>
          <p:cNvPr id="5" name="文字版面配置區 4">
            <a:extLst>
              <a:ext uri="{FF2B5EF4-FFF2-40B4-BE49-F238E27FC236}">
                <a16:creationId xmlns:a16="http://schemas.microsoft.com/office/drawing/2014/main" id="{96D96DA7-63BE-4A6D-918C-73A25183ECFD}"/>
              </a:ext>
            </a:extLst>
          </p:cNvPr>
          <p:cNvSpPr>
            <a:spLocks noGrp="1"/>
          </p:cNvSpPr>
          <p:nvPr>
            <p:ph type="body" sz="quarter" idx="13"/>
          </p:nvPr>
        </p:nvSpPr>
        <p:spPr>
          <a:xfrm>
            <a:off x="838200" y="676829"/>
            <a:ext cx="8667143" cy="639324"/>
          </a:xfrm>
        </p:spPr>
        <p:txBody>
          <a:bodyPr>
            <a:noAutofit/>
          </a:bodyPr>
          <a:lstStyle/>
          <a:p>
            <a:r>
              <a:rPr lang="en-US" altLang="zh-MO" sz="3200" dirty="0">
                <a:solidFill>
                  <a:srgbClr val="C00000"/>
                </a:solidFill>
              </a:rPr>
              <a:t>CISC7204 Data Science and Data Visualization</a:t>
            </a:r>
            <a:endParaRPr lang="zh-MO" altLang="en-US" sz="3200" dirty="0"/>
          </a:p>
        </p:txBody>
      </p:sp>
      <p:pic>
        <p:nvPicPr>
          <p:cNvPr id="7" name="圖片 6"/>
          <p:cNvPicPr>
            <a:picLocks noChangeAspect="1"/>
          </p:cNvPicPr>
          <p:nvPr/>
        </p:nvPicPr>
        <p:blipFill>
          <a:blip r:embed="rId2"/>
          <a:stretch>
            <a:fillRect/>
          </a:stretch>
        </p:blipFill>
        <p:spPr>
          <a:xfrm>
            <a:off x="3271838" y="1825626"/>
            <a:ext cx="8115299" cy="4124326"/>
          </a:xfrm>
          <a:prstGeom prst="rect">
            <a:avLst/>
          </a:prstGeom>
        </p:spPr>
      </p:pic>
      <p:sp>
        <p:nvSpPr>
          <p:cNvPr id="8" name="矩形 7"/>
          <p:cNvSpPr/>
          <p:nvPr/>
        </p:nvSpPr>
        <p:spPr>
          <a:xfrm>
            <a:off x="5171771" y="5949952"/>
            <a:ext cx="4923014" cy="369332"/>
          </a:xfrm>
          <a:prstGeom prst="rect">
            <a:avLst/>
          </a:prstGeom>
        </p:spPr>
        <p:txBody>
          <a:bodyPr wrap="none">
            <a:spAutoFit/>
          </a:bodyPr>
          <a:lstStyle/>
          <a:p>
            <a:r>
              <a:rPr lang="en-US" altLang="zh-HK" dirty="0"/>
              <a:t>Line chart showing stock trends for five companies</a:t>
            </a:r>
            <a:endParaRPr lang="zh-HK" altLang="en-US" dirty="0"/>
          </a:p>
        </p:txBody>
      </p:sp>
    </p:spTree>
    <p:extLst>
      <p:ext uri="{BB962C8B-B14F-4D97-AF65-F5344CB8AC3E}">
        <p14:creationId xmlns:p14="http://schemas.microsoft.com/office/powerpoint/2010/main" val="2742731795"/>
      </p:ext>
    </p:extLst>
  </p:cSld>
  <p:clrMapOvr>
    <a:masterClrMapping/>
  </p:clrMapOvr>
  <mc:AlternateContent xmlns:mc="http://schemas.openxmlformats.org/markup-compatibility/2006" xmlns:p14="http://schemas.microsoft.com/office/powerpoint/2010/main">
    <mc:Choice Requires="p14">
      <p:transition spd="slow" p14:dur="2000" advTm="30010"/>
    </mc:Choice>
    <mc:Fallback xmlns="">
      <p:transition spd="slow" advTm="30010"/>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2C39319-C3EB-463D-A73C-2DEA9D750625}"/>
              </a:ext>
            </a:extLst>
          </p:cNvPr>
          <p:cNvSpPr>
            <a:spLocks noGrp="1"/>
          </p:cNvSpPr>
          <p:nvPr>
            <p:ph type="title"/>
          </p:nvPr>
        </p:nvSpPr>
        <p:spPr/>
        <p:txBody>
          <a:bodyPr>
            <a:normAutofit/>
          </a:bodyPr>
          <a:lstStyle/>
          <a:p>
            <a:r>
              <a:rPr lang="en-US" altLang="zh-MO" sz="2800" dirty="0"/>
              <a:t> Introduction to Data Visualization Plots</a:t>
            </a:r>
            <a:endParaRPr lang="zh-MO" altLang="en-US" sz="2800" dirty="0"/>
          </a:p>
        </p:txBody>
      </p:sp>
      <p:sp>
        <p:nvSpPr>
          <p:cNvPr id="3" name="內容版面配置區 2">
            <a:extLst>
              <a:ext uri="{FF2B5EF4-FFF2-40B4-BE49-F238E27FC236}">
                <a16:creationId xmlns:a16="http://schemas.microsoft.com/office/drawing/2014/main" id="{72697A5A-2B81-4055-BE38-FBF0028B433F}"/>
              </a:ext>
            </a:extLst>
          </p:cNvPr>
          <p:cNvSpPr>
            <a:spLocks noGrp="1"/>
          </p:cNvSpPr>
          <p:nvPr>
            <p:ph idx="1"/>
          </p:nvPr>
        </p:nvSpPr>
        <p:spPr>
          <a:xfrm>
            <a:off x="958466" y="1825625"/>
            <a:ext cx="10513098" cy="4355546"/>
          </a:xfrm>
        </p:spPr>
        <p:txBody>
          <a:bodyPr anchor="ctr">
            <a:normAutofit/>
          </a:bodyPr>
          <a:lstStyle/>
          <a:p>
            <a:pPr marL="0" indent="0">
              <a:buNone/>
            </a:pPr>
            <a:r>
              <a:rPr lang="en-US" altLang="zh-MO" sz="3500" b="1" dirty="0">
                <a:solidFill>
                  <a:schemeClr val="accent4">
                    <a:lumMod val="75000"/>
                  </a:schemeClr>
                </a:solidFill>
              </a:rPr>
              <a:t>Part 2: Comparison Plots</a:t>
            </a:r>
          </a:p>
          <a:p>
            <a:pPr marL="0" indent="0">
              <a:buNone/>
            </a:pPr>
            <a:r>
              <a:rPr lang="en-US" sz="2600" b="1" dirty="0">
                <a:solidFill>
                  <a:srgbClr val="FF0000"/>
                </a:solidFill>
              </a:rPr>
              <a:t>Line Chart – </a:t>
            </a:r>
            <a:r>
              <a:rPr lang="en-US" sz="2600" b="1" dirty="0">
                <a:solidFill>
                  <a:schemeClr val="accent1">
                    <a:lumMod val="75000"/>
                  </a:schemeClr>
                </a:solidFill>
              </a:rPr>
              <a:t>Design Practices</a:t>
            </a:r>
          </a:p>
          <a:p>
            <a:r>
              <a:rPr lang="en-US" sz="2600" b="1" dirty="0"/>
              <a:t>Avoid too many lines per chart.</a:t>
            </a:r>
          </a:p>
          <a:p>
            <a:r>
              <a:rPr lang="en-US" sz="2600" b="1" dirty="0"/>
              <a:t>Adjust your scale so that the trend is clearly visible.</a:t>
            </a:r>
          </a:p>
          <a:p>
            <a:pPr marL="0" indent="0">
              <a:buNone/>
            </a:pPr>
            <a:r>
              <a:rPr lang="en-US" sz="2600" b="1" dirty="0"/>
              <a:t>Note</a:t>
            </a:r>
          </a:p>
          <a:p>
            <a:r>
              <a:rPr lang="en-US" sz="2600" b="1" dirty="0"/>
              <a:t>For plots with multiple variables, a legend should be given to describe each variable.</a:t>
            </a:r>
          </a:p>
        </p:txBody>
      </p:sp>
      <p:sp>
        <p:nvSpPr>
          <p:cNvPr id="4" name="頁尾版面配置區 3">
            <a:extLst>
              <a:ext uri="{FF2B5EF4-FFF2-40B4-BE49-F238E27FC236}">
                <a16:creationId xmlns:a16="http://schemas.microsoft.com/office/drawing/2014/main" id="{4321BB31-863C-434D-9921-ADDB9CBD49A3}"/>
              </a:ext>
            </a:extLst>
          </p:cNvPr>
          <p:cNvSpPr>
            <a:spLocks noGrp="1"/>
          </p:cNvSpPr>
          <p:nvPr>
            <p:ph type="ftr" sz="quarter" idx="11"/>
          </p:nvPr>
        </p:nvSpPr>
        <p:spPr/>
        <p:txBody>
          <a:bodyPr/>
          <a:lstStyle/>
          <a:p>
            <a:pPr algn="r"/>
            <a:fld id="{215E7548-F18C-4C4B-B96B-B6533EE29CBB}" type="slidenum">
              <a:rPr lang="en-US" altLang="zh-MO" smtClean="0"/>
              <a:pPr algn="r"/>
              <a:t>9</a:t>
            </a:fld>
            <a:endParaRPr lang="en-US" dirty="0"/>
          </a:p>
        </p:txBody>
      </p:sp>
      <p:sp>
        <p:nvSpPr>
          <p:cNvPr id="5" name="文字版面配置區 4">
            <a:extLst>
              <a:ext uri="{FF2B5EF4-FFF2-40B4-BE49-F238E27FC236}">
                <a16:creationId xmlns:a16="http://schemas.microsoft.com/office/drawing/2014/main" id="{96D96DA7-63BE-4A6D-918C-73A25183ECFD}"/>
              </a:ext>
            </a:extLst>
          </p:cNvPr>
          <p:cNvSpPr>
            <a:spLocks noGrp="1"/>
          </p:cNvSpPr>
          <p:nvPr>
            <p:ph type="body" sz="quarter" idx="13"/>
          </p:nvPr>
        </p:nvSpPr>
        <p:spPr>
          <a:xfrm>
            <a:off x="838200" y="676829"/>
            <a:ext cx="8667143" cy="639324"/>
          </a:xfrm>
        </p:spPr>
        <p:txBody>
          <a:bodyPr>
            <a:noAutofit/>
          </a:bodyPr>
          <a:lstStyle/>
          <a:p>
            <a:r>
              <a:rPr lang="en-US" altLang="zh-MO" sz="3200" dirty="0">
                <a:solidFill>
                  <a:srgbClr val="C00000"/>
                </a:solidFill>
              </a:rPr>
              <a:t>CISC7204 Data Science and Data Visualization</a:t>
            </a:r>
            <a:endParaRPr lang="zh-MO" altLang="en-US" sz="3200" dirty="0"/>
          </a:p>
        </p:txBody>
      </p:sp>
    </p:spTree>
    <p:extLst>
      <p:ext uri="{BB962C8B-B14F-4D97-AF65-F5344CB8AC3E}">
        <p14:creationId xmlns:p14="http://schemas.microsoft.com/office/powerpoint/2010/main" val="3388824626"/>
      </p:ext>
    </p:extLst>
  </p:cSld>
  <p:clrMapOvr>
    <a:masterClrMapping/>
  </p:clrMapOvr>
  <mc:AlternateContent xmlns:mc="http://schemas.openxmlformats.org/markup-compatibility/2006" xmlns:p14="http://schemas.microsoft.com/office/powerpoint/2010/main">
    <mc:Choice Requires="p14">
      <p:transition spd="slow" p14:dur="2000" advTm="30010"/>
    </mc:Choice>
    <mc:Fallback xmlns="">
      <p:transition spd="slow" advTm="30010"/>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2C39319-C3EB-463D-A73C-2DEA9D750625}"/>
              </a:ext>
            </a:extLst>
          </p:cNvPr>
          <p:cNvSpPr>
            <a:spLocks noGrp="1"/>
          </p:cNvSpPr>
          <p:nvPr>
            <p:ph type="title"/>
          </p:nvPr>
        </p:nvSpPr>
        <p:spPr/>
        <p:txBody>
          <a:bodyPr>
            <a:normAutofit/>
          </a:bodyPr>
          <a:lstStyle/>
          <a:p>
            <a:r>
              <a:rPr lang="en-US" altLang="zh-MO" sz="2800" dirty="0"/>
              <a:t> Introduction to Data Visualization Plots</a:t>
            </a:r>
            <a:endParaRPr lang="zh-MO" altLang="en-US" sz="2800" dirty="0"/>
          </a:p>
        </p:txBody>
      </p:sp>
      <p:sp>
        <p:nvSpPr>
          <p:cNvPr id="3" name="內容版面配置區 2">
            <a:extLst>
              <a:ext uri="{FF2B5EF4-FFF2-40B4-BE49-F238E27FC236}">
                <a16:creationId xmlns:a16="http://schemas.microsoft.com/office/drawing/2014/main" id="{72697A5A-2B81-4055-BE38-FBF0028B433F}"/>
              </a:ext>
            </a:extLst>
          </p:cNvPr>
          <p:cNvSpPr>
            <a:spLocks noGrp="1"/>
          </p:cNvSpPr>
          <p:nvPr>
            <p:ph idx="1"/>
          </p:nvPr>
        </p:nvSpPr>
        <p:spPr>
          <a:xfrm>
            <a:off x="958466" y="1825625"/>
            <a:ext cx="10513098" cy="4355546"/>
          </a:xfrm>
        </p:spPr>
        <p:txBody>
          <a:bodyPr anchor="ctr">
            <a:normAutofit/>
          </a:bodyPr>
          <a:lstStyle/>
          <a:p>
            <a:pPr marL="0" indent="0">
              <a:buNone/>
            </a:pPr>
            <a:r>
              <a:rPr lang="en-US" altLang="zh-MO" sz="3500" b="1" dirty="0">
                <a:solidFill>
                  <a:schemeClr val="accent4">
                    <a:lumMod val="75000"/>
                  </a:schemeClr>
                </a:solidFill>
              </a:rPr>
              <a:t>Part 2: Comparison Plots</a:t>
            </a:r>
          </a:p>
          <a:p>
            <a:pPr marL="0" indent="0">
              <a:buNone/>
            </a:pPr>
            <a:r>
              <a:rPr lang="en-US" sz="2600" b="1" dirty="0">
                <a:solidFill>
                  <a:srgbClr val="FF0000"/>
                </a:solidFill>
              </a:rPr>
              <a:t>Bar Chart</a:t>
            </a:r>
            <a:endParaRPr lang="en-US" sz="2600" b="1" dirty="0">
              <a:solidFill>
                <a:schemeClr val="accent1">
                  <a:lumMod val="75000"/>
                </a:schemeClr>
              </a:solidFill>
            </a:endParaRPr>
          </a:p>
          <a:p>
            <a:r>
              <a:rPr lang="en-US" sz="2600" b="1" dirty="0"/>
              <a:t>In a bar chart, the bar length encodes the value. There are two variants of bar charts: vertical bar charts and horizontal bar charts.</a:t>
            </a:r>
          </a:p>
          <a:p>
            <a:pPr marL="0" indent="0">
              <a:buNone/>
            </a:pPr>
            <a:r>
              <a:rPr lang="en-US" sz="2600" b="1" dirty="0">
                <a:solidFill>
                  <a:schemeClr val="accent1"/>
                </a:solidFill>
              </a:rPr>
              <a:t>Use</a:t>
            </a:r>
          </a:p>
          <a:p>
            <a:r>
              <a:rPr lang="en-US" sz="2600" b="1" dirty="0"/>
              <a:t>While they are both used to compare numerical values across categories, </a:t>
            </a:r>
            <a:r>
              <a:rPr lang="en-US" sz="2600" b="1" dirty="0">
                <a:solidFill>
                  <a:schemeClr val="accent2"/>
                </a:solidFill>
              </a:rPr>
              <a:t>vertical bar charts </a:t>
            </a:r>
            <a:r>
              <a:rPr lang="en-US" sz="2600" b="1" dirty="0"/>
              <a:t>are sometimes used to show a single variable over time.</a:t>
            </a:r>
          </a:p>
        </p:txBody>
      </p:sp>
      <p:sp>
        <p:nvSpPr>
          <p:cNvPr id="4" name="頁尾版面配置區 3">
            <a:extLst>
              <a:ext uri="{FF2B5EF4-FFF2-40B4-BE49-F238E27FC236}">
                <a16:creationId xmlns:a16="http://schemas.microsoft.com/office/drawing/2014/main" id="{4321BB31-863C-434D-9921-ADDB9CBD49A3}"/>
              </a:ext>
            </a:extLst>
          </p:cNvPr>
          <p:cNvSpPr>
            <a:spLocks noGrp="1"/>
          </p:cNvSpPr>
          <p:nvPr>
            <p:ph type="ftr" sz="quarter" idx="11"/>
          </p:nvPr>
        </p:nvSpPr>
        <p:spPr/>
        <p:txBody>
          <a:bodyPr/>
          <a:lstStyle/>
          <a:p>
            <a:pPr algn="r"/>
            <a:fld id="{215E7548-F18C-4C4B-B96B-B6533EE29CBB}" type="slidenum">
              <a:rPr lang="en-US" altLang="zh-MO" smtClean="0"/>
              <a:pPr algn="r"/>
              <a:t>10</a:t>
            </a:fld>
            <a:endParaRPr lang="en-US" dirty="0"/>
          </a:p>
        </p:txBody>
      </p:sp>
      <p:sp>
        <p:nvSpPr>
          <p:cNvPr id="5" name="文字版面配置區 4">
            <a:extLst>
              <a:ext uri="{FF2B5EF4-FFF2-40B4-BE49-F238E27FC236}">
                <a16:creationId xmlns:a16="http://schemas.microsoft.com/office/drawing/2014/main" id="{96D96DA7-63BE-4A6D-918C-73A25183ECFD}"/>
              </a:ext>
            </a:extLst>
          </p:cNvPr>
          <p:cNvSpPr>
            <a:spLocks noGrp="1"/>
          </p:cNvSpPr>
          <p:nvPr>
            <p:ph type="body" sz="quarter" idx="13"/>
          </p:nvPr>
        </p:nvSpPr>
        <p:spPr>
          <a:xfrm>
            <a:off x="838200" y="676829"/>
            <a:ext cx="8667143" cy="639324"/>
          </a:xfrm>
        </p:spPr>
        <p:txBody>
          <a:bodyPr>
            <a:noAutofit/>
          </a:bodyPr>
          <a:lstStyle/>
          <a:p>
            <a:r>
              <a:rPr lang="en-US" altLang="zh-MO" sz="3200" dirty="0">
                <a:solidFill>
                  <a:srgbClr val="C00000"/>
                </a:solidFill>
              </a:rPr>
              <a:t>CISC7204 Data Science and Data Visualization</a:t>
            </a:r>
            <a:endParaRPr lang="zh-MO" altLang="en-US" sz="3200" dirty="0"/>
          </a:p>
        </p:txBody>
      </p:sp>
    </p:spTree>
    <p:extLst>
      <p:ext uri="{BB962C8B-B14F-4D97-AF65-F5344CB8AC3E}">
        <p14:creationId xmlns:p14="http://schemas.microsoft.com/office/powerpoint/2010/main" val="2428679288"/>
      </p:ext>
    </p:extLst>
  </p:cSld>
  <p:clrMapOvr>
    <a:masterClrMapping/>
  </p:clrMapOvr>
  <mc:AlternateContent xmlns:mc="http://schemas.openxmlformats.org/markup-compatibility/2006" xmlns:p14="http://schemas.microsoft.com/office/powerpoint/2010/main">
    <mc:Choice Requires="p14">
      <p:transition spd="slow" p14:dur="2000" advTm="30010"/>
    </mc:Choice>
    <mc:Fallback xmlns="">
      <p:transition spd="slow" advTm="30010"/>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2C39319-C3EB-463D-A73C-2DEA9D750625}"/>
              </a:ext>
            </a:extLst>
          </p:cNvPr>
          <p:cNvSpPr>
            <a:spLocks noGrp="1"/>
          </p:cNvSpPr>
          <p:nvPr>
            <p:ph type="title"/>
          </p:nvPr>
        </p:nvSpPr>
        <p:spPr/>
        <p:txBody>
          <a:bodyPr>
            <a:normAutofit/>
          </a:bodyPr>
          <a:lstStyle/>
          <a:p>
            <a:r>
              <a:rPr lang="en-US" altLang="zh-MO" sz="2800" dirty="0"/>
              <a:t> Introduction to Data Visualization Plots</a:t>
            </a:r>
            <a:endParaRPr lang="zh-MO" altLang="en-US" sz="2800" dirty="0"/>
          </a:p>
        </p:txBody>
      </p:sp>
      <p:sp>
        <p:nvSpPr>
          <p:cNvPr id="3" name="內容版面配置區 2">
            <a:extLst>
              <a:ext uri="{FF2B5EF4-FFF2-40B4-BE49-F238E27FC236}">
                <a16:creationId xmlns:a16="http://schemas.microsoft.com/office/drawing/2014/main" id="{72697A5A-2B81-4055-BE38-FBF0028B433F}"/>
              </a:ext>
            </a:extLst>
          </p:cNvPr>
          <p:cNvSpPr>
            <a:spLocks noGrp="1"/>
          </p:cNvSpPr>
          <p:nvPr>
            <p:ph idx="1"/>
          </p:nvPr>
        </p:nvSpPr>
        <p:spPr>
          <a:xfrm>
            <a:off x="958466" y="1825625"/>
            <a:ext cx="10513098" cy="4355546"/>
          </a:xfrm>
        </p:spPr>
        <p:txBody>
          <a:bodyPr anchor="ctr">
            <a:normAutofit/>
          </a:bodyPr>
          <a:lstStyle/>
          <a:p>
            <a:pPr marL="0" indent="0">
              <a:buNone/>
            </a:pPr>
            <a:r>
              <a:rPr lang="en-US" altLang="zh-MO" sz="3500" b="1" dirty="0">
                <a:solidFill>
                  <a:schemeClr val="accent4">
                    <a:lumMod val="75000"/>
                  </a:schemeClr>
                </a:solidFill>
              </a:rPr>
              <a:t>Part 2: Comparison Plots</a:t>
            </a:r>
          </a:p>
          <a:p>
            <a:pPr marL="0" indent="0">
              <a:buNone/>
            </a:pPr>
            <a:r>
              <a:rPr lang="en-US" sz="2600" b="1" dirty="0">
                <a:solidFill>
                  <a:srgbClr val="FF0000"/>
                </a:solidFill>
              </a:rPr>
              <a:t>Bar Chart</a:t>
            </a:r>
            <a:endParaRPr lang="en-US" sz="2600" b="1" dirty="0">
              <a:solidFill>
                <a:schemeClr val="accent1">
                  <a:lumMod val="75000"/>
                </a:schemeClr>
              </a:solidFill>
            </a:endParaRPr>
          </a:p>
          <a:p>
            <a:r>
              <a:rPr lang="en-US" sz="2600" b="1" dirty="0"/>
              <a:t>Don’ts of Bar Charts</a:t>
            </a:r>
          </a:p>
          <a:p>
            <a:pPr lvl="1"/>
            <a:r>
              <a:rPr lang="en-US" sz="2200" b="1" dirty="0"/>
              <a:t>Don’t confuse vertical bar charts with histograms. Bar charts compare different variables or categories, while histograms show the distribution for a single variable. </a:t>
            </a:r>
          </a:p>
          <a:p>
            <a:pPr lvl="1"/>
            <a:r>
              <a:rPr lang="en-US" sz="2200" b="1" dirty="0"/>
              <a:t>Another common mistake is to use bar charts to show central tendencies among groups or categories. Use box plots or violin plots to show statistical measures or distributions in these cases.</a:t>
            </a:r>
          </a:p>
        </p:txBody>
      </p:sp>
      <p:sp>
        <p:nvSpPr>
          <p:cNvPr id="4" name="頁尾版面配置區 3">
            <a:extLst>
              <a:ext uri="{FF2B5EF4-FFF2-40B4-BE49-F238E27FC236}">
                <a16:creationId xmlns:a16="http://schemas.microsoft.com/office/drawing/2014/main" id="{4321BB31-863C-434D-9921-ADDB9CBD49A3}"/>
              </a:ext>
            </a:extLst>
          </p:cNvPr>
          <p:cNvSpPr>
            <a:spLocks noGrp="1"/>
          </p:cNvSpPr>
          <p:nvPr>
            <p:ph type="ftr" sz="quarter" idx="11"/>
          </p:nvPr>
        </p:nvSpPr>
        <p:spPr/>
        <p:txBody>
          <a:bodyPr/>
          <a:lstStyle/>
          <a:p>
            <a:pPr algn="r"/>
            <a:fld id="{215E7548-F18C-4C4B-B96B-B6533EE29CBB}" type="slidenum">
              <a:rPr lang="en-US" altLang="zh-MO" smtClean="0"/>
              <a:pPr algn="r"/>
              <a:t>11</a:t>
            </a:fld>
            <a:endParaRPr lang="en-US" dirty="0"/>
          </a:p>
        </p:txBody>
      </p:sp>
      <p:sp>
        <p:nvSpPr>
          <p:cNvPr id="5" name="文字版面配置區 4">
            <a:extLst>
              <a:ext uri="{FF2B5EF4-FFF2-40B4-BE49-F238E27FC236}">
                <a16:creationId xmlns:a16="http://schemas.microsoft.com/office/drawing/2014/main" id="{96D96DA7-63BE-4A6D-918C-73A25183ECFD}"/>
              </a:ext>
            </a:extLst>
          </p:cNvPr>
          <p:cNvSpPr>
            <a:spLocks noGrp="1"/>
          </p:cNvSpPr>
          <p:nvPr>
            <p:ph type="body" sz="quarter" idx="13"/>
          </p:nvPr>
        </p:nvSpPr>
        <p:spPr>
          <a:xfrm>
            <a:off x="838200" y="676829"/>
            <a:ext cx="8667143" cy="639324"/>
          </a:xfrm>
        </p:spPr>
        <p:txBody>
          <a:bodyPr>
            <a:noAutofit/>
          </a:bodyPr>
          <a:lstStyle/>
          <a:p>
            <a:r>
              <a:rPr lang="en-US" altLang="zh-MO" sz="3200" dirty="0">
                <a:solidFill>
                  <a:srgbClr val="C00000"/>
                </a:solidFill>
              </a:rPr>
              <a:t>CISC7204 Data Science and Data Visualization</a:t>
            </a:r>
            <a:endParaRPr lang="zh-MO" altLang="en-US" sz="3200" dirty="0"/>
          </a:p>
        </p:txBody>
      </p:sp>
    </p:spTree>
    <p:extLst>
      <p:ext uri="{BB962C8B-B14F-4D97-AF65-F5344CB8AC3E}">
        <p14:creationId xmlns:p14="http://schemas.microsoft.com/office/powerpoint/2010/main" val="525088706"/>
      </p:ext>
    </p:extLst>
  </p:cSld>
  <p:clrMapOvr>
    <a:masterClrMapping/>
  </p:clrMapOvr>
  <mc:AlternateContent xmlns:mc="http://schemas.openxmlformats.org/markup-compatibility/2006" xmlns:p14="http://schemas.microsoft.com/office/powerpoint/2010/main">
    <mc:Choice Requires="p14">
      <p:transition spd="slow" p14:dur="2000" advTm="30010"/>
    </mc:Choice>
    <mc:Fallback xmlns="">
      <p:transition spd="slow" advTm="30010"/>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2C39319-C3EB-463D-A73C-2DEA9D750625}"/>
              </a:ext>
            </a:extLst>
          </p:cNvPr>
          <p:cNvSpPr>
            <a:spLocks noGrp="1"/>
          </p:cNvSpPr>
          <p:nvPr>
            <p:ph type="title"/>
          </p:nvPr>
        </p:nvSpPr>
        <p:spPr/>
        <p:txBody>
          <a:bodyPr>
            <a:normAutofit/>
          </a:bodyPr>
          <a:lstStyle/>
          <a:p>
            <a:r>
              <a:rPr lang="en-US" altLang="zh-MO" sz="2800" dirty="0"/>
              <a:t> Introduction to Data Visualization Plots</a:t>
            </a:r>
            <a:endParaRPr lang="zh-MO" altLang="en-US" sz="2800" dirty="0"/>
          </a:p>
        </p:txBody>
      </p:sp>
      <p:sp>
        <p:nvSpPr>
          <p:cNvPr id="3" name="內容版面配置區 2">
            <a:extLst>
              <a:ext uri="{FF2B5EF4-FFF2-40B4-BE49-F238E27FC236}">
                <a16:creationId xmlns:a16="http://schemas.microsoft.com/office/drawing/2014/main" id="{72697A5A-2B81-4055-BE38-FBF0028B433F}"/>
              </a:ext>
            </a:extLst>
          </p:cNvPr>
          <p:cNvSpPr>
            <a:spLocks noGrp="1"/>
          </p:cNvSpPr>
          <p:nvPr>
            <p:ph idx="1"/>
          </p:nvPr>
        </p:nvSpPr>
        <p:spPr>
          <a:xfrm>
            <a:off x="958466" y="1825625"/>
            <a:ext cx="1756159" cy="4355546"/>
          </a:xfrm>
        </p:spPr>
        <p:txBody>
          <a:bodyPr anchor="ctr">
            <a:normAutofit/>
          </a:bodyPr>
          <a:lstStyle/>
          <a:p>
            <a:pPr marL="0" indent="0">
              <a:buNone/>
            </a:pPr>
            <a:r>
              <a:rPr lang="en-US" altLang="zh-MO" sz="2000" b="1" dirty="0">
                <a:solidFill>
                  <a:schemeClr val="accent4">
                    <a:lumMod val="75000"/>
                  </a:schemeClr>
                </a:solidFill>
              </a:rPr>
              <a:t>Part 2: Comparison Plots</a:t>
            </a:r>
          </a:p>
          <a:p>
            <a:pPr marL="0" indent="0">
              <a:buNone/>
            </a:pPr>
            <a:r>
              <a:rPr lang="en-US" sz="2000" b="1" dirty="0">
                <a:solidFill>
                  <a:srgbClr val="FF0000"/>
                </a:solidFill>
              </a:rPr>
              <a:t>Bar Chart</a:t>
            </a:r>
          </a:p>
          <a:p>
            <a:pPr marL="0" indent="0">
              <a:buNone/>
            </a:pPr>
            <a:r>
              <a:rPr lang="en-US" sz="1800" b="1" dirty="0">
                <a:solidFill>
                  <a:srgbClr val="FF0000"/>
                </a:solidFill>
              </a:rPr>
              <a:t>Example</a:t>
            </a:r>
            <a:endParaRPr lang="en-US" sz="1800" b="1" dirty="0">
              <a:solidFill>
                <a:schemeClr val="accent1">
                  <a:lumMod val="75000"/>
                </a:schemeClr>
              </a:solidFill>
            </a:endParaRPr>
          </a:p>
          <a:p>
            <a:pPr marL="0" indent="0">
              <a:buNone/>
            </a:pPr>
            <a:r>
              <a:rPr lang="en-US" sz="1600" dirty="0"/>
              <a:t>The diagram shows a vertical bar chart. Each bar shows the marks out of 100 that 5 students obtained in a test:</a:t>
            </a:r>
          </a:p>
        </p:txBody>
      </p:sp>
      <p:sp>
        <p:nvSpPr>
          <p:cNvPr id="4" name="頁尾版面配置區 3">
            <a:extLst>
              <a:ext uri="{FF2B5EF4-FFF2-40B4-BE49-F238E27FC236}">
                <a16:creationId xmlns:a16="http://schemas.microsoft.com/office/drawing/2014/main" id="{4321BB31-863C-434D-9921-ADDB9CBD49A3}"/>
              </a:ext>
            </a:extLst>
          </p:cNvPr>
          <p:cNvSpPr>
            <a:spLocks noGrp="1"/>
          </p:cNvSpPr>
          <p:nvPr>
            <p:ph type="ftr" sz="quarter" idx="11"/>
          </p:nvPr>
        </p:nvSpPr>
        <p:spPr/>
        <p:txBody>
          <a:bodyPr/>
          <a:lstStyle/>
          <a:p>
            <a:pPr algn="r"/>
            <a:fld id="{215E7548-F18C-4C4B-B96B-B6533EE29CBB}" type="slidenum">
              <a:rPr lang="en-US" altLang="zh-MO" smtClean="0"/>
              <a:pPr algn="r"/>
              <a:t>12</a:t>
            </a:fld>
            <a:endParaRPr lang="en-US" dirty="0"/>
          </a:p>
        </p:txBody>
      </p:sp>
      <p:sp>
        <p:nvSpPr>
          <p:cNvPr id="5" name="文字版面配置區 4">
            <a:extLst>
              <a:ext uri="{FF2B5EF4-FFF2-40B4-BE49-F238E27FC236}">
                <a16:creationId xmlns:a16="http://schemas.microsoft.com/office/drawing/2014/main" id="{96D96DA7-63BE-4A6D-918C-73A25183ECFD}"/>
              </a:ext>
            </a:extLst>
          </p:cNvPr>
          <p:cNvSpPr>
            <a:spLocks noGrp="1"/>
          </p:cNvSpPr>
          <p:nvPr>
            <p:ph type="body" sz="quarter" idx="13"/>
          </p:nvPr>
        </p:nvSpPr>
        <p:spPr>
          <a:xfrm>
            <a:off x="838200" y="676829"/>
            <a:ext cx="8667143" cy="639324"/>
          </a:xfrm>
        </p:spPr>
        <p:txBody>
          <a:bodyPr>
            <a:noAutofit/>
          </a:bodyPr>
          <a:lstStyle/>
          <a:p>
            <a:r>
              <a:rPr lang="en-US" altLang="zh-MO" sz="3200" dirty="0">
                <a:solidFill>
                  <a:srgbClr val="C00000"/>
                </a:solidFill>
              </a:rPr>
              <a:t>CISC7204 Data Science and Data Visualization</a:t>
            </a:r>
            <a:endParaRPr lang="zh-MO" altLang="en-US" sz="3200" dirty="0"/>
          </a:p>
        </p:txBody>
      </p:sp>
      <p:pic>
        <p:nvPicPr>
          <p:cNvPr id="6" name="圖片 5"/>
          <p:cNvPicPr>
            <a:picLocks noChangeAspect="1"/>
          </p:cNvPicPr>
          <p:nvPr/>
        </p:nvPicPr>
        <p:blipFill>
          <a:blip r:embed="rId2"/>
          <a:stretch>
            <a:fillRect/>
          </a:stretch>
        </p:blipFill>
        <p:spPr>
          <a:xfrm>
            <a:off x="3400424" y="1898098"/>
            <a:ext cx="5700713" cy="4283073"/>
          </a:xfrm>
          <a:prstGeom prst="rect">
            <a:avLst/>
          </a:prstGeom>
        </p:spPr>
      </p:pic>
      <p:sp>
        <p:nvSpPr>
          <p:cNvPr id="7" name="矩形 6"/>
          <p:cNvSpPr/>
          <p:nvPr/>
        </p:nvSpPr>
        <p:spPr>
          <a:xfrm>
            <a:off x="9386887" y="2266928"/>
            <a:ext cx="1785938" cy="923330"/>
          </a:xfrm>
          <a:prstGeom prst="rect">
            <a:avLst/>
          </a:prstGeom>
        </p:spPr>
        <p:txBody>
          <a:bodyPr wrap="square">
            <a:spAutoFit/>
          </a:bodyPr>
          <a:lstStyle/>
          <a:p>
            <a:r>
              <a:rPr lang="en-US" altLang="zh-HK" dirty="0"/>
              <a:t>Vertical bar chart using student test data</a:t>
            </a:r>
            <a:endParaRPr lang="zh-HK" altLang="en-US" dirty="0"/>
          </a:p>
        </p:txBody>
      </p:sp>
    </p:spTree>
    <p:extLst>
      <p:ext uri="{BB962C8B-B14F-4D97-AF65-F5344CB8AC3E}">
        <p14:creationId xmlns:p14="http://schemas.microsoft.com/office/powerpoint/2010/main" val="556895219"/>
      </p:ext>
    </p:extLst>
  </p:cSld>
  <p:clrMapOvr>
    <a:masterClrMapping/>
  </p:clrMapOvr>
  <mc:AlternateContent xmlns:mc="http://schemas.openxmlformats.org/markup-compatibility/2006" xmlns:p14="http://schemas.microsoft.com/office/powerpoint/2010/main">
    <mc:Choice Requires="p14">
      <p:transition spd="slow" p14:dur="2000" advTm="30010"/>
    </mc:Choice>
    <mc:Fallback xmlns="">
      <p:transition spd="slow" advTm="30010"/>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2C39319-C3EB-463D-A73C-2DEA9D750625}"/>
              </a:ext>
            </a:extLst>
          </p:cNvPr>
          <p:cNvSpPr>
            <a:spLocks noGrp="1"/>
          </p:cNvSpPr>
          <p:nvPr>
            <p:ph type="title"/>
          </p:nvPr>
        </p:nvSpPr>
        <p:spPr/>
        <p:txBody>
          <a:bodyPr>
            <a:normAutofit/>
          </a:bodyPr>
          <a:lstStyle/>
          <a:p>
            <a:r>
              <a:rPr lang="en-US" altLang="zh-MO" sz="2800" dirty="0"/>
              <a:t> Introduction to Data Visualization Plots</a:t>
            </a:r>
            <a:endParaRPr lang="zh-MO" altLang="en-US" sz="2800" dirty="0"/>
          </a:p>
        </p:txBody>
      </p:sp>
      <p:sp>
        <p:nvSpPr>
          <p:cNvPr id="3" name="內容版面配置區 2">
            <a:extLst>
              <a:ext uri="{FF2B5EF4-FFF2-40B4-BE49-F238E27FC236}">
                <a16:creationId xmlns:a16="http://schemas.microsoft.com/office/drawing/2014/main" id="{72697A5A-2B81-4055-BE38-FBF0028B433F}"/>
              </a:ext>
            </a:extLst>
          </p:cNvPr>
          <p:cNvSpPr>
            <a:spLocks noGrp="1"/>
          </p:cNvSpPr>
          <p:nvPr>
            <p:ph idx="1"/>
          </p:nvPr>
        </p:nvSpPr>
        <p:spPr>
          <a:xfrm>
            <a:off x="901316" y="1788807"/>
            <a:ext cx="1827597" cy="4355546"/>
          </a:xfrm>
        </p:spPr>
        <p:txBody>
          <a:bodyPr anchor="ctr">
            <a:normAutofit/>
          </a:bodyPr>
          <a:lstStyle/>
          <a:p>
            <a:pPr marL="0" indent="0">
              <a:buNone/>
            </a:pPr>
            <a:r>
              <a:rPr lang="en-US" altLang="zh-MO" sz="2000" b="1" dirty="0">
                <a:solidFill>
                  <a:schemeClr val="accent4">
                    <a:lumMod val="75000"/>
                  </a:schemeClr>
                </a:solidFill>
              </a:rPr>
              <a:t>Part 2: Comparison Plots</a:t>
            </a:r>
          </a:p>
          <a:p>
            <a:pPr marL="0" indent="0">
              <a:buNone/>
            </a:pPr>
            <a:r>
              <a:rPr lang="en-US" sz="2000" b="1" dirty="0">
                <a:solidFill>
                  <a:srgbClr val="FF0000"/>
                </a:solidFill>
              </a:rPr>
              <a:t>Bar Chart</a:t>
            </a:r>
          </a:p>
          <a:p>
            <a:pPr marL="0" indent="0">
              <a:buNone/>
            </a:pPr>
            <a:r>
              <a:rPr lang="en-US" sz="1800" b="1" dirty="0">
                <a:solidFill>
                  <a:srgbClr val="FF0000"/>
                </a:solidFill>
              </a:rPr>
              <a:t>Example</a:t>
            </a:r>
            <a:endParaRPr lang="en-US" sz="1800" b="1" dirty="0">
              <a:solidFill>
                <a:schemeClr val="accent1">
                  <a:lumMod val="75000"/>
                </a:schemeClr>
              </a:solidFill>
            </a:endParaRPr>
          </a:p>
          <a:p>
            <a:pPr marL="0" indent="0">
              <a:buNone/>
            </a:pPr>
            <a:r>
              <a:rPr lang="en-US" sz="1600" dirty="0"/>
              <a:t>The diagram shows a horizontal bar chart. Each bar shows the marks out of 100 that 5 students obtained in a test:</a:t>
            </a:r>
          </a:p>
        </p:txBody>
      </p:sp>
      <p:sp>
        <p:nvSpPr>
          <p:cNvPr id="4" name="頁尾版面配置區 3">
            <a:extLst>
              <a:ext uri="{FF2B5EF4-FFF2-40B4-BE49-F238E27FC236}">
                <a16:creationId xmlns:a16="http://schemas.microsoft.com/office/drawing/2014/main" id="{4321BB31-863C-434D-9921-ADDB9CBD49A3}"/>
              </a:ext>
            </a:extLst>
          </p:cNvPr>
          <p:cNvSpPr>
            <a:spLocks noGrp="1"/>
          </p:cNvSpPr>
          <p:nvPr>
            <p:ph type="ftr" sz="quarter" idx="11"/>
          </p:nvPr>
        </p:nvSpPr>
        <p:spPr/>
        <p:txBody>
          <a:bodyPr/>
          <a:lstStyle/>
          <a:p>
            <a:pPr algn="r"/>
            <a:fld id="{215E7548-F18C-4C4B-B96B-B6533EE29CBB}" type="slidenum">
              <a:rPr lang="en-US" altLang="zh-MO" smtClean="0"/>
              <a:pPr algn="r"/>
              <a:t>13</a:t>
            </a:fld>
            <a:endParaRPr lang="en-US" dirty="0"/>
          </a:p>
        </p:txBody>
      </p:sp>
      <p:sp>
        <p:nvSpPr>
          <p:cNvPr id="5" name="文字版面配置區 4">
            <a:extLst>
              <a:ext uri="{FF2B5EF4-FFF2-40B4-BE49-F238E27FC236}">
                <a16:creationId xmlns:a16="http://schemas.microsoft.com/office/drawing/2014/main" id="{96D96DA7-63BE-4A6D-918C-73A25183ECFD}"/>
              </a:ext>
            </a:extLst>
          </p:cNvPr>
          <p:cNvSpPr>
            <a:spLocks noGrp="1"/>
          </p:cNvSpPr>
          <p:nvPr>
            <p:ph type="body" sz="quarter" idx="13"/>
          </p:nvPr>
        </p:nvSpPr>
        <p:spPr>
          <a:xfrm>
            <a:off x="838200" y="676829"/>
            <a:ext cx="8667143" cy="639324"/>
          </a:xfrm>
        </p:spPr>
        <p:txBody>
          <a:bodyPr>
            <a:noAutofit/>
          </a:bodyPr>
          <a:lstStyle/>
          <a:p>
            <a:r>
              <a:rPr lang="en-US" altLang="zh-MO" sz="3200" dirty="0">
                <a:solidFill>
                  <a:srgbClr val="C00000"/>
                </a:solidFill>
              </a:rPr>
              <a:t>CISC7204 Data Science and Data Visualization</a:t>
            </a:r>
            <a:endParaRPr lang="zh-MO" altLang="en-US" sz="3200" dirty="0"/>
          </a:p>
        </p:txBody>
      </p:sp>
      <p:sp>
        <p:nvSpPr>
          <p:cNvPr id="7" name="矩形 6"/>
          <p:cNvSpPr/>
          <p:nvPr/>
        </p:nvSpPr>
        <p:spPr>
          <a:xfrm>
            <a:off x="9709716" y="2224065"/>
            <a:ext cx="1785938" cy="923330"/>
          </a:xfrm>
          <a:prstGeom prst="rect">
            <a:avLst/>
          </a:prstGeom>
        </p:spPr>
        <p:txBody>
          <a:bodyPr wrap="square">
            <a:spAutoFit/>
          </a:bodyPr>
          <a:lstStyle/>
          <a:p>
            <a:r>
              <a:rPr lang="en-US" altLang="zh-HK" dirty="0" err="1"/>
              <a:t>Horizontall</a:t>
            </a:r>
            <a:r>
              <a:rPr lang="en-US" altLang="zh-HK" dirty="0"/>
              <a:t> bar chart using student test data</a:t>
            </a:r>
            <a:endParaRPr lang="zh-HK" altLang="en-US" dirty="0"/>
          </a:p>
        </p:txBody>
      </p:sp>
      <p:pic>
        <p:nvPicPr>
          <p:cNvPr id="8" name="圖片 7"/>
          <p:cNvPicPr>
            <a:picLocks noChangeAspect="1"/>
          </p:cNvPicPr>
          <p:nvPr/>
        </p:nvPicPr>
        <p:blipFill>
          <a:blip r:embed="rId2"/>
          <a:stretch>
            <a:fillRect/>
          </a:stretch>
        </p:blipFill>
        <p:spPr>
          <a:xfrm>
            <a:off x="3414712" y="1825625"/>
            <a:ext cx="6166417" cy="4355546"/>
          </a:xfrm>
          <a:prstGeom prst="rect">
            <a:avLst/>
          </a:prstGeom>
        </p:spPr>
      </p:pic>
    </p:spTree>
    <p:extLst>
      <p:ext uri="{BB962C8B-B14F-4D97-AF65-F5344CB8AC3E}">
        <p14:creationId xmlns:p14="http://schemas.microsoft.com/office/powerpoint/2010/main" val="3855115925"/>
      </p:ext>
    </p:extLst>
  </p:cSld>
  <p:clrMapOvr>
    <a:masterClrMapping/>
  </p:clrMapOvr>
  <mc:AlternateContent xmlns:mc="http://schemas.openxmlformats.org/markup-compatibility/2006" xmlns:p14="http://schemas.microsoft.com/office/powerpoint/2010/main">
    <mc:Choice Requires="p14">
      <p:transition spd="slow" p14:dur="2000" advTm="30010"/>
    </mc:Choice>
    <mc:Fallback xmlns="">
      <p:transition spd="slow" advTm="30010"/>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2C39319-C3EB-463D-A73C-2DEA9D750625}"/>
              </a:ext>
            </a:extLst>
          </p:cNvPr>
          <p:cNvSpPr>
            <a:spLocks noGrp="1"/>
          </p:cNvSpPr>
          <p:nvPr>
            <p:ph type="title"/>
          </p:nvPr>
        </p:nvSpPr>
        <p:spPr/>
        <p:txBody>
          <a:bodyPr>
            <a:normAutofit/>
          </a:bodyPr>
          <a:lstStyle/>
          <a:p>
            <a:r>
              <a:rPr lang="en-US" altLang="zh-MO" sz="2800" dirty="0"/>
              <a:t> Introduction to Data Visualization Plots</a:t>
            </a:r>
            <a:endParaRPr lang="zh-MO" altLang="en-US" sz="2800" dirty="0"/>
          </a:p>
        </p:txBody>
      </p:sp>
      <p:sp>
        <p:nvSpPr>
          <p:cNvPr id="3" name="內容版面配置區 2">
            <a:extLst>
              <a:ext uri="{FF2B5EF4-FFF2-40B4-BE49-F238E27FC236}">
                <a16:creationId xmlns:a16="http://schemas.microsoft.com/office/drawing/2014/main" id="{72697A5A-2B81-4055-BE38-FBF0028B433F}"/>
              </a:ext>
            </a:extLst>
          </p:cNvPr>
          <p:cNvSpPr>
            <a:spLocks noGrp="1"/>
          </p:cNvSpPr>
          <p:nvPr>
            <p:ph idx="1"/>
          </p:nvPr>
        </p:nvSpPr>
        <p:spPr>
          <a:xfrm>
            <a:off x="958466" y="1825625"/>
            <a:ext cx="2384810" cy="4355546"/>
          </a:xfrm>
        </p:spPr>
        <p:txBody>
          <a:bodyPr anchor="ctr">
            <a:normAutofit fontScale="47500" lnSpcReduction="20000"/>
          </a:bodyPr>
          <a:lstStyle/>
          <a:p>
            <a:pPr marL="0" indent="0">
              <a:buNone/>
            </a:pPr>
            <a:r>
              <a:rPr lang="en-US" altLang="zh-MO" sz="2500" b="1" dirty="0">
                <a:solidFill>
                  <a:schemeClr val="accent4">
                    <a:lumMod val="75000"/>
                  </a:schemeClr>
                </a:solidFill>
              </a:rPr>
              <a:t>Part 2: Comparison Plots</a:t>
            </a:r>
          </a:p>
          <a:p>
            <a:pPr marL="0" indent="0">
              <a:buNone/>
            </a:pPr>
            <a:r>
              <a:rPr lang="en-US" sz="2200" b="1" dirty="0">
                <a:solidFill>
                  <a:srgbClr val="FF0000"/>
                </a:solidFill>
              </a:rPr>
              <a:t>Bar Chart</a:t>
            </a:r>
          </a:p>
          <a:p>
            <a:pPr marL="0" indent="0">
              <a:buNone/>
            </a:pPr>
            <a:r>
              <a:rPr lang="en-US" sz="2200" b="1" dirty="0">
                <a:solidFill>
                  <a:srgbClr val="FF0000"/>
                </a:solidFill>
              </a:rPr>
              <a:t>Example</a:t>
            </a:r>
            <a:endParaRPr lang="en-US" sz="2200" b="1" dirty="0">
              <a:solidFill>
                <a:schemeClr val="accent1">
                  <a:lumMod val="75000"/>
                </a:schemeClr>
              </a:solidFill>
            </a:endParaRPr>
          </a:p>
          <a:p>
            <a:pPr marL="0" indent="0">
              <a:buNone/>
            </a:pPr>
            <a:r>
              <a:rPr lang="en-US" altLang="zh-HK" sz="2200" dirty="0"/>
              <a:t>The following diagram compares movie ratings, giving two different scores. </a:t>
            </a:r>
          </a:p>
          <a:p>
            <a:pPr marL="0" indent="0">
              <a:buNone/>
            </a:pPr>
            <a:r>
              <a:rPr lang="en-US" altLang="zh-HK" sz="2200" dirty="0"/>
              <a:t>The </a:t>
            </a:r>
            <a:r>
              <a:rPr lang="en-US" altLang="zh-HK" sz="2200" dirty="0" err="1"/>
              <a:t>Tomatometer</a:t>
            </a:r>
            <a:r>
              <a:rPr lang="en-US" altLang="zh-HK" sz="2200" dirty="0"/>
              <a:t> is the percentage of approved critics who have given a positive review for the movie. </a:t>
            </a:r>
          </a:p>
          <a:p>
            <a:pPr marL="0" indent="0">
              <a:buNone/>
            </a:pPr>
            <a:r>
              <a:rPr lang="en-US" altLang="zh-HK" sz="2200" dirty="0"/>
              <a:t>The Audience Score is the percentage of users who have given a score of 3.5 or higher out of 5. As we can see, </a:t>
            </a:r>
          </a:p>
          <a:p>
            <a:pPr marL="0" indent="0">
              <a:buNone/>
            </a:pPr>
            <a:r>
              <a:rPr lang="en-US" altLang="zh-HK" sz="2200" b="1" dirty="0"/>
              <a:t>The Martian</a:t>
            </a:r>
            <a:r>
              <a:rPr lang="en-US" altLang="zh-HK" sz="2200" dirty="0"/>
              <a:t> is the only movie with both a high </a:t>
            </a:r>
            <a:r>
              <a:rPr lang="en-US" altLang="zh-HK" sz="2200" dirty="0" err="1"/>
              <a:t>Tomatometer</a:t>
            </a:r>
            <a:r>
              <a:rPr lang="en-US" altLang="zh-HK" sz="2200" dirty="0"/>
              <a:t> and Audience Score.</a:t>
            </a:r>
          </a:p>
          <a:p>
            <a:pPr marL="0" indent="0">
              <a:buNone/>
            </a:pPr>
            <a:r>
              <a:rPr lang="en-US" altLang="zh-HK" sz="2200" b="1" dirty="0"/>
              <a:t>The Hobbit: An Unexpected Journey</a:t>
            </a:r>
            <a:r>
              <a:rPr lang="en-US" altLang="zh-HK" sz="2200" dirty="0"/>
              <a:t> has a relatively high Audience Score compared to the </a:t>
            </a:r>
            <a:r>
              <a:rPr lang="en-US" altLang="zh-HK" sz="2200" dirty="0" err="1"/>
              <a:t>Tomatometer</a:t>
            </a:r>
            <a:r>
              <a:rPr lang="en-US" altLang="zh-HK" sz="2200" dirty="0"/>
              <a:t> score, which might be due to a huge fan base:</a:t>
            </a:r>
            <a:endParaRPr lang="en-US" sz="2200" dirty="0"/>
          </a:p>
        </p:txBody>
      </p:sp>
      <p:sp>
        <p:nvSpPr>
          <p:cNvPr id="4" name="頁尾版面配置區 3">
            <a:extLst>
              <a:ext uri="{FF2B5EF4-FFF2-40B4-BE49-F238E27FC236}">
                <a16:creationId xmlns:a16="http://schemas.microsoft.com/office/drawing/2014/main" id="{4321BB31-863C-434D-9921-ADDB9CBD49A3}"/>
              </a:ext>
            </a:extLst>
          </p:cNvPr>
          <p:cNvSpPr>
            <a:spLocks noGrp="1"/>
          </p:cNvSpPr>
          <p:nvPr>
            <p:ph type="ftr" sz="quarter" idx="11"/>
          </p:nvPr>
        </p:nvSpPr>
        <p:spPr/>
        <p:txBody>
          <a:bodyPr/>
          <a:lstStyle/>
          <a:p>
            <a:pPr algn="r"/>
            <a:fld id="{215E7548-F18C-4C4B-B96B-B6533EE29CBB}" type="slidenum">
              <a:rPr lang="en-US" altLang="zh-MO" smtClean="0"/>
              <a:pPr algn="r"/>
              <a:t>14</a:t>
            </a:fld>
            <a:endParaRPr lang="en-US" dirty="0"/>
          </a:p>
        </p:txBody>
      </p:sp>
      <p:sp>
        <p:nvSpPr>
          <p:cNvPr id="5" name="文字版面配置區 4">
            <a:extLst>
              <a:ext uri="{FF2B5EF4-FFF2-40B4-BE49-F238E27FC236}">
                <a16:creationId xmlns:a16="http://schemas.microsoft.com/office/drawing/2014/main" id="{96D96DA7-63BE-4A6D-918C-73A25183ECFD}"/>
              </a:ext>
            </a:extLst>
          </p:cNvPr>
          <p:cNvSpPr>
            <a:spLocks noGrp="1"/>
          </p:cNvSpPr>
          <p:nvPr>
            <p:ph type="body" sz="quarter" idx="13"/>
          </p:nvPr>
        </p:nvSpPr>
        <p:spPr>
          <a:xfrm>
            <a:off x="838200" y="676829"/>
            <a:ext cx="8667143" cy="639324"/>
          </a:xfrm>
        </p:spPr>
        <p:txBody>
          <a:bodyPr>
            <a:noAutofit/>
          </a:bodyPr>
          <a:lstStyle/>
          <a:p>
            <a:r>
              <a:rPr lang="en-US" altLang="zh-MO" sz="3200" dirty="0">
                <a:solidFill>
                  <a:srgbClr val="C00000"/>
                </a:solidFill>
              </a:rPr>
              <a:t>CISC7204 Data Science and Data Visualization</a:t>
            </a:r>
            <a:endParaRPr lang="zh-MO" altLang="en-US" sz="3200" dirty="0"/>
          </a:p>
        </p:txBody>
      </p:sp>
      <p:pic>
        <p:nvPicPr>
          <p:cNvPr id="6" name="圖片 5"/>
          <p:cNvPicPr>
            <a:picLocks noChangeAspect="1"/>
          </p:cNvPicPr>
          <p:nvPr/>
        </p:nvPicPr>
        <p:blipFill>
          <a:blip r:embed="rId2"/>
          <a:stretch>
            <a:fillRect/>
          </a:stretch>
        </p:blipFill>
        <p:spPr>
          <a:xfrm>
            <a:off x="3457574" y="1788807"/>
            <a:ext cx="8423000" cy="4218891"/>
          </a:xfrm>
          <a:prstGeom prst="rect">
            <a:avLst/>
          </a:prstGeom>
        </p:spPr>
      </p:pic>
      <p:sp>
        <p:nvSpPr>
          <p:cNvPr id="9" name="矩形 8"/>
          <p:cNvSpPr/>
          <p:nvPr/>
        </p:nvSpPr>
        <p:spPr>
          <a:xfrm>
            <a:off x="6624019" y="5921151"/>
            <a:ext cx="2283510" cy="369332"/>
          </a:xfrm>
          <a:prstGeom prst="rect">
            <a:avLst/>
          </a:prstGeom>
        </p:spPr>
        <p:txBody>
          <a:bodyPr wrap="none">
            <a:spAutoFit/>
          </a:bodyPr>
          <a:lstStyle/>
          <a:p>
            <a:r>
              <a:rPr lang="en-US" altLang="zh-HK" dirty="0"/>
              <a:t>Comparative bar chart</a:t>
            </a:r>
            <a:endParaRPr lang="zh-HK" altLang="en-US" dirty="0"/>
          </a:p>
        </p:txBody>
      </p:sp>
    </p:spTree>
    <p:extLst>
      <p:ext uri="{BB962C8B-B14F-4D97-AF65-F5344CB8AC3E}">
        <p14:creationId xmlns:p14="http://schemas.microsoft.com/office/powerpoint/2010/main" val="3476288303"/>
      </p:ext>
    </p:extLst>
  </p:cSld>
  <p:clrMapOvr>
    <a:masterClrMapping/>
  </p:clrMapOvr>
  <mc:AlternateContent xmlns:mc="http://schemas.openxmlformats.org/markup-compatibility/2006" xmlns:p14="http://schemas.microsoft.com/office/powerpoint/2010/main">
    <mc:Choice Requires="p14">
      <p:transition spd="slow" p14:dur="2000" advTm="30010"/>
    </mc:Choice>
    <mc:Fallback xmlns="">
      <p:transition spd="slow" advTm="30010"/>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2C39319-C3EB-463D-A73C-2DEA9D750625}"/>
              </a:ext>
            </a:extLst>
          </p:cNvPr>
          <p:cNvSpPr>
            <a:spLocks noGrp="1"/>
          </p:cNvSpPr>
          <p:nvPr>
            <p:ph type="title"/>
          </p:nvPr>
        </p:nvSpPr>
        <p:spPr/>
        <p:txBody>
          <a:bodyPr>
            <a:normAutofit/>
          </a:bodyPr>
          <a:lstStyle/>
          <a:p>
            <a:r>
              <a:rPr lang="en-US" altLang="zh-MO" sz="2800" dirty="0"/>
              <a:t> Introduction to Data Visualization Plots</a:t>
            </a:r>
            <a:endParaRPr lang="zh-MO" altLang="en-US" sz="2800" dirty="0"/>
          </a:p>
        </p:txBody>
      </p:sp>
      <p:sp>
        <p:nvSpPr>
          <p:cNvPr id="3" name="內容版面配置區 2">
            <a:extLst>
              <a:ext uri="{FF2B5EF4-FFF2-40B4-BE49-F238E27FC236}">
                <a16:creationId xmlns:a16="http://schemas.microsoft.com/office/drawing/2014/main" id="{72697A5A-2B81-4055-BE38-FBF0028B433F}"/>
              </a:ext>
            </a:extLst>
          </p:cNvPr>
          <p:cNvSpPr>
            <a:spLocks noGrp="1"/>
          </p:cNvSpPr>
          <p:nvPr>
            <p:ph idx="1"/>
          </p:nvPr>
        </p:nvSpPr>
        <p:spPr>
          <a:xfrm>
            <a:off x="958466" y="1825625"/>
            <a:ext cx="10513098" cy="4355546"/>
          </a:xfrm>
        </p:spPr>
        <p:txBody>
          <a:bodyPr anchor="ctr">
            <a:normAutofit lnSpcReduction="10000"/>
          </a:bodyPr>
          <a:lstStyle/>
          <a:p>
            <a:pPr marL="0" indent="0">
              <a:buNone/>
            </a:pPr>
            <a:r>
              <a:rPr lang="en-US" altLang="zh-MO" sz="3500" b="1" dirty="0">
                <a:solidFill>
                  <a:schemeClr val="accent4">
                    <a:lumMod val="75000"/>
                  </a:schemeClr>
                </a:solidFill>
              </a:rPr>
              <a:t>Part 2: Comparison Plots</a:t>
            </a:r>
          </a:p>
          <a:p>
            <a:pPr marL="0" indent="0">
              <a:buNone/>
            </a:pPr>
            <a:r>
              <a:rPr lang="en-US" sz="2600" b="1" dirty="0">
                <a:solidFill>
                  <a:srgbClr val="FF0000"/>
                </a:solidFill>
              </a:rPr>
              <a:t>Bar Chart – </a:t>
            </a:r>
            <a:r>
              <a:rPr lang="en-US" sz="2600" b="1" dirty="0">
                <a:solidFill>
                  <a:schemeClr val="accent1"/>
                </a:solidFill>
              </a:rPr>
              <a:t>Design Practices</a:t>
            </a:r>
          </a:p>
          <a:p>
            <a:r>
              <a:rPr lang="en-US" sz="2600" b="1" dirty="0"/>
              <a:t>The axis corresponding to the numerical variable should start at zero. Starting with another value might be misleading, as it makes a small value difference look like a big one.</a:t>
            </a:r>
          </a:p>
          <a:p>
            <a:r>
              <a:rPr lang="en-US" sz="2600" b="1" dirty="0"/>
              <a:t>Use horizontal labels—that is, as long as the number of bars is small, and the chart doesn’t look too cluttered.</a:t>
            </a:r>
          </a:p>
          <a:p>
            <a:r>
              <a:rPr lang="en-US" sz="2600" b="1" dirty="0"/>
              <a:t>The labels can be rotated to different angles if there isn’t enough space to present them horizontally. You can see this on the labels of the x-axis of the preceding diagram.</a:t>
            </a:r>
            <a:endParaRPr lang="en-US" sz="2200" b="1" dirty="0"/>
          </a:p>
        </p:txBody>
      </p:sp>
      <p:sp>
        <p:nvSpPr>
          <p:cNvPr id="4" name="頁尾版面配置區 3">
            <a:extLst>
              <a:ext uri="{FF2B5EF4-FFF2-40B4-BE49-F238E27FC236}">
                <a16:creationId xmlns:a16="http://schemas.microsoft.com/office/drawing/2014/main" id="{4321BB31-863C-434D-9921-ADDB9CBD49A3}"/>
              </a:ext>
            </a:extLst>
          </p:cNvPr>
          <p:cNvSpPr>
            <a:spLocks noGrp="1"/>
          </p:cNvSpPr>
          <p:nvPr>
            <p:ph type="ftr" sz="quarter" idx="11"/>
          </p:nvPr>
        </p:nvSpPr>
        <p:spPr/>
        <p:txBody>
          <a:bodyPr/>
          <a:lstStyle/>
          <a:p>
            <a:pPr algn="r"/>
            <a:fld id="{215E7548-F18C-4C4B-B96B-B6533EE29CBB}" type="slidenum">
              <a:rPr lang="en-US" altLang="zh-MO" smtClean="0"/>
              <a:pPr algn="r"/>
              <a:t>15</a:t>
            </a:fld>
            <a:endParaRPr lang="en-US" dirty="0"/>
          </a:p>
        </p:txBody>
      </p:sp>
      <p:sp>
        <p:nvSpPr>
          <p:cNvPr id="5" name="文字版面配置區 4">
            <a:extLst>
              <a:ext uri="{FF2B5EF4-FFF2-40B4-BE49-F238E27FC236}">
                <a16:creationId xmlns:a16="http://schemas.microsoft.com/office/drawing/2014/main" id="{96D96DA7-63BE-4A6D-918C-73A25183ECFD}"/>
              </a:ext>
            </a:extLst>
          </p:cNvPr>
          <p:cNvSpPr>
            <a:spLocks noGrp="1"/>
          </p:cNvSpPr>
          <p:nvPr>
            <p:ph type="body" sz="quarter" idx="13"/>
          </p:nvPr>
        </p:nvSpPr>
        <p:spPr>
          <a:xfrm>
            <a:off x="838200" y="676829"/>
            <a:ext cx="8667143" cy="639324"/>
          </a:xfrm>
        </p:spPr>
        <p:txBody>
          <a:bodyPr>
            <a:noAutofit/>
          </a:bodyPr>
          <a:lstStyle/>
          <a:p>
            <a:r>
              <a:rPr lang="en-US" altLang="zh-MO" sz="3200" dirty="0">
                <a:solidFill>
                  <a:srgbClr val="C00000"/>
                </a:solidFill>
              </a:rPr>
              <a:t>CISC7204 Data Science and Data Visualization</a:t>
            </a:r>
            <a:endParaRPr lang="zh-MO" altLang="en-US" sz="3200" dirty="0"/>
          </a:p>
        </p:txBody>
      </p:sp>
    </p:spTree>
    <p:extLst>
      <p:ext uri="{BB962C8B-B14F-4D97-AF65-F5344CB8AC3E}">
        <p14:creationId xmlns:p14="http://schemas.microsoft.com/office/powerpoint/2010/main" val="2153037185"/>
      </p:ext>
    </p:extLst>
  </p:cSld>
  <p:clrMapOvr>
    <a:masterClrMapping/>
  </p:clrMapOvr>
  <mc:AlternateContent xmlns:mc="http://schemas.openxmlformats.org/markup-compatibility/2006" xmlns:p14="http://schemas.microsoft.com/office/powerpoint/2010/main">
    <mc:Choice Requires="p14">
      <p:transition spd="slow" p14:dur="2000" advTm="30010"/>
    </mc:Choice>
    <mc:Fallback xmlns="">
      <p:transition spd="slow" advTm="30010"/>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2C39319-C3EB-463D-A73C-2DEA9D750625}"/>
              </a:ext>
            </a:extLst>
          </p:cNvPr>
          <p:cNvSpPr>
            <a:spLocks noGrp="1"/>
          </p:cNvSpPr>
          <p:nvPr>
            <p:ph type="title"/>
          </p:nvPr>
        </p:nvSpPr>
        <p:spPr/>
        <p:txBody>
          <a:bodyPr>
            <a:normAutofit/>
          </a:bodyPr>
          <a:lstStyle/>
          <a:p>
            <a:r>
              <a:rPr lang="en-US" altLang="zh-MO" sz="2800" dirty="0"/>
              <a:t> Introduction to Data Visualization Plots</a:t>
            </a:r>
            <a:endParaRPr lang="zh-MO" altLang="en-US" sz="2800" dirty="0"/>
          </a:p>
        </p:txBody>
      </p:sp>
      <p:sp>
        <p:nvSpPr>
          <p:cNvPr id="3" name="內容版面配置區 2">
            <a:extLst>
              <a:ext uri="{FF2B5EF4-FFF2-40B4-BE49-F238E27FC236}">
                <a16:creationId xmlns:a16="http://schemas.microsoft.com/office/drawing/2014/main" id="{72697A5A-2B81-4055-BE38-FBF0028B433F}"/>
              </a:ext>
            </a:extLst>
          </p:cNvPr>
          <p:cNvSpPr>
            <a:spLocks noGrp="1"/>
          </p:cNvSpPr>
          <p:nvPr>
            <p:ph idx="1"/>
          </p:nvPr>
        </p:nvSpPr>
        <p:spPr>
          <a:xfrm>
            <a:off x="958466" y="1825625"/>
            <a:ext cx="10513098" cy="4355546"/>
          </a:xfrm>
        </p:spPr>
        <p:txBody>
          <a:bodyPr anchor="ctr">
            <a:normAutofit fontScale="92500" lnSpcReduction="20000"/>
          </a:bodyPr>
          <a:lstStyle/>
          <a:p>
            <a:pPr marL="0" indent="0">
              <a:buNone/>
            </a:pPr>
            <a:r>
              <a:rPr lang="en-US" altLang="zh-MO" sz="3500" b="1" dirty="0">
                <a:solidFill>
                  <a:schemeClr val="accent4">
                    <a:lumMod val="75000"/>
                  </a:schemeClr>
                </a:solidFill>
              </a:rPr>
              <a:t>Part 2: Comparison Plots</a:t>
            </a:r>
          </a:p>
          <a:p>
            <a:pPr marL="0" indent="0">
              <a:buNone/>
            </a:pPr>
            <a:r>
              <a:rPr lang="en-US" sz="2600" b="1" dirty="0">
                <a:solidFill>
                  <a:srgbClr val="FF0000"/>
                </a:solidFill>
              </a:rPr>
              <a:t>Radar Chart</a:t>
            </a:r>
            <a:endParaRPr lang="en-US" sz="2600" b="1" dirty="0">
              <a:solidFill>
                <a:schemeClr val="accent1"/>
              </a:solidFill>
            </a:endParaRPr>
          </a:p>
          <a:p>
            <a:r>
              <a:rPr lang="en-US" sz="2600" b="1" dirty="0"/>
              <a:t>Radar charts (also known as spider or web charts) visualize multiple variables with each variable plotted on its own axis, resulting in a polygon. All axes are arranged radially, starting at the center with equal distances between one another, and have the same scale.</a:t>
            </a:r>
          </a:p>
          <a:p>
            <a:pPr marL="0" indent="0">
              <a:buNone/>
            </a:pPr>
            <a:r>
              <a:rPr lang="en-US" sz="2600" b="1" dirty="0">
                <a:solidFill>
                  <a:schemeClr val="accent1"/>
                </a:solidFill>
              </a:rPr>
              <a:t>Uses</a:t>
            </a:r>
          </a:p>
          <a:p>
            <a:r>
              <a:rPr lang="en-US" sz="2600" b="1" dirty="0"/>
              <a:t>Radar charts are great for comparing multiple quantitative variables for a single group or multiple groups.</a:t>
            </a:r>
          </a:p>
          <a:p>
            <a:r>
              <a:rPr lang="en-US" sz="2600" b="1" dirty="0"/>
              <a:t>They are also useful for showing which variables score high or low within a dataset, making them ideal for visualizing performance.</a:t>
            </a:r>
            <a:endParaRPr lang="en-US" sz="2200" b="1" dirty="0"/>
          </a:p>
        </p:txBody>
      </p:sp>
      <p:sp>
        <p:nvSpPr>
          <p:cNvPr id="4" name="頁尾版面配置區 3">
            <a:extLst>
              <a:ext uri="{FF2B5EF4-FFF2-40B4-BE49-F238E27FC236}">
                <a16:creationId xmlns:a16="http://schemas.microsoft.com/office/drawing/2014/main" id="{4321BB31-863C-434D-9921-ADDB9CBD49A3}"/>
              </a:ext>
            </a:extLst>
          </p:cNvPr>
          <p:cNvSpPr>
            <a:spLocks noGrp="1"/>
          </p:cNvSpPr>
          <p:nvPr>
            <p:ph type="ftr" sz="quarter" idx="11"/>
          </p:nvPr>
        </p:nvSpPr>
        <p:spPr/>
        <p:txBody>
          <a:bodyPr/>
          <a:lstStyle/>
          <a:p>
            <a:pPr algn="r"/>
            <a:fld id="{215E7548-F18C-4C4B-B96B-B6533EE29CBB}" type="slidenum">
              <a:rPr lang="en-US" altLang="zh-MO" smtClean="0"/>
              <a:pPr algn="r"/>
              <a:t>16</a:t>
            </a:fld>
            <a:endParaRPr lang="en-US" dirty="0"/>
          </a:p>
        </p:txBody>
      </p:sp>
      <p:sp>
        <p:nvSpPr>
          <p:cNvPr id="5" name="文字版面配置區 4">
            <a:extLst>
              <a:ext uri="{FF2B5EF4-FFF2-40B4-BE49-F238E27FC236}">
                <a16:creationId xmlns:a16="http://schemas.microsoft.com/office/drawing/2014/main" id="{96D96DA7-63BE-4A6D-918C-73A25183ECFD}"/>
              </a:ext>
            </a:extLst>
          </p:cNvPr>
          <p:cNvSpPr>
            <a:spLocks noGrp="1"/>
          </p:cNvSpPr>
          <p:nvPr>
            <p:ph type="body" sz="quarter" idx="13"/>
          </p:nvPr>
        </p:nvSpPr>
        <p:spPr>
          <a:xfrm>
            <a:off x="838200" y="676829"/>
            <a:ext cx="8667143" cy="639324"/>
          </a:xfrm>
        </p:spPr>
        <p:txBody>
          <a:bodyPr>
            <a:noAutofit/>
          </a:bodyPr>
          <a:lstStyle/>
          <a:p>
            <a:r>
              <a:rPr lang="en-US" altLang="zh-MO" sz="3200" dirty="0">
                <a:solidFill>
                  <a:srgbClr val="C00000"/>
                </a:solidFill>
              </a:rPr>
              <a:t>CISC7204 Data Science and Data Visualization</a:t>
            </a:r>
            <a:endParaRPr lang="zh-MO" altLang="en-US" sz="3200" dirty="0"/>
          </a:p>
        </p:txBody>
      </p:sp>
    </p:spTree>
    <p:extLst>
      <p:ext uri="{BB962C8B-B14F-4D97-AF65-F5344CB8AC3E}">
        <p14:creationId xmlns:p14="http://schemas.microsoft.com/office/powerpoint/2010/main" val="3471119375"/>
      </p:ext>
    </p:extLst>
  </p:cSld>
  <p:clrMapOvr>
    <a:masterClrMapping/>
  </p:clrMapOvr>
  <mc:AlternateContent xmlns:mc="http://schemas.openxmlformats.org/markup-compatibility/2006" xmlns:p14="http://schemas.microsoft.com/office/powerpoint/2010/main">
    <mc:Choice Requires="p14">
      <p:transition spd="slow" p14:dur="2000" advTm="30010"/>
    </mc:Choice>
    <mc:Fallback xmlns="">
      <p:transition spd="slow" advTm="30010"/>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2C39319-C3EB-463D-A73C-2DEA9D750625}"/>
              </a:ext>
            </a:extLst>
          </p:cNvPr>
          <p:cNvSpPr>
            <a:spLocks noGrp="1"/>
          </p:cNvSpPr>
          <p:nvPr>
            <p:ph type="title"/>
          </p:nvPr>
        </p:nvSpPr>
        <p:spPr/>
        <p:txBody>
          <a:bodyPr>
            <a:normAutofit/>
          </a:bodyPr>
          <a:lstStyle/>
          <a:p>
            <a:r>
              <a:rPr lang="en-US" altLang="zh-MO" sz="2800" dirty="0"/>
              <a:t> Introduction to Data Visualization Plots</a:t>
            </a:r>
            <a:endParaRPr lang="zh-MO" altLang="en-US" sz="2800" dirty="0"/>
          </a:p>
        </p:txBody>
      </p:sp>
      <p:sp>
        <p:nvSpPr>
          <p:cNvPr id="3" name="內容版面配置區 2">
            <a:extLst>
              <a:ext uri="{FF2B5EF4-FFF2-40B4-BE49-F238E27FC236}">
                <a16:creationId xmlns:a16="http://schemas.microsoft.com/office/drawing/2014/main" id="{72697A5A-2B81-4055-BE38-FBF0028B433F}"/>
              </a:ext>
            </a:extLst>
          </p:cNvPr>
          <p:cNvSpPr>
            <a:spLocks noGrp="1"/>
          </p:cNvSpPr>
          <p:nvPr>
            <p:ph idx="1"/>
          </p:nvPr>
        </p:nvSpPr>
        <p:spPr>
          <a:xfrm>
            <a:off x="958466" y="1825625"/>
            <a:ext cx="1913322" cy="4355546"/>
          </a:xfrm>
        </p:spPr>
        <p:txBody>
          <a:bodyPr anchor="ctr">
            <a:normAutofit/>
          </a:bodyPr>
          <a:lstStyle/>
          <a:p>
            <a:pPr marL="0" indent="0">
              <a:buNone/>
            </a:pPr>
            <a:r>
              <a:rPr lang="en-US" altLang="zh-MO" sz="2000" b="1" dirty="0">
                <a:solidFill>
                  <a:schemeClr val="accent4">
                    <a:lumMod val="75000"/>
                  </a:schemeClr>
                </a:solidFill>
              </a:rPr>
              <a:t>Part 2: Comparison Plots</a:t>
            </a:r>
          </a:p>
          <a:p>
            <a:pPr marL="0" indent="0">
              <a:buNone/>
            </a:pPr>
            <a:r>
              <a:rPr lang="en-US" sz="2000" b="1" dirty="0">
                <a:solidFill>
                  <a:srgbClr val="FF0000"/>
                </a:solidFill>
              </a:rPr>
              <a:t>Radar Chart</a:t>
            </a:r>
          </a:p>
          <a:p>
            <a:pPr marL="0" indent="0">
              <a:buNone/>
            </a:pPr>
            <a:r>
              <a:rPr lang="en-US" sz="1800" b="1" dirty="0">
                <a:solidFill>
                  <a:srgbClr val="FF0000"/>
                </a:solidFill>
              </a:rPr>
              <a:t>Example</a:t>
            </a:r>
            <a:endParaRPr lang="en-US" sz="1800" b="1" dirty="0">
              <a:solidFill>
                <a:schemeClr val="accent1">
                  <a:lumMod val="75000"/>
                </a:schemeClr>
              </a:solidFill>
            </a:endParaRPr>
          </a:p>
          <a:p>
            <a:pPr marL="0" indent="0">
              <a:buNone/>
            </a:pPr>
            <a:r>
              <a:rPr lang="en-US" sz="1600" dirty="0"/>
              <a:t>The diagram shows a radar chart for a single variable. This chart displays data about a student scoring marks in different subjects:</a:t>
            </a:r>
          </a:p>
          <a:p>
            <a:pPr marL="0" indent="0">
              <a:buNone/>
            </a:pPr>
            <a:endParaRPr lang="en-US" sz="1600" dirty="0"/>
          </a:p>
        </p:txBody>
      </p:sp>
      <p:sp>
        <p:nvSpPr>
          <p:cNvPr id="4" name="頁尾版面配置區 3">
            <a:extLst>
              <a:ext uri="{FF2B5EF4-FFF2-40B4-BE49-F238E27FC236}">
                <a16:creationId xmlns:a16="http://schemas.microsoft.com/office/drawing/2014/main" id="{4321BB31-863C-434D-9921-ADDB9CBD49A3}"/>
              </a:ext>
            </a:extLst>
          </p:cNvPr>
          <p:cNvSpPr>
            <a:spLocks noGrp="1"/>
          </p:cNvSpPr>
          <p:nvPr>
            <p:ph type="ftr" sz="quarter" idx="11"/>
          </p:nvPr>
        </p:nvSpPr>
        <p:spPr/>
        <p:txBody>
          <a:bodyPr/>
          <a:lstStyle/>
          <a:p>
            <a:pPr algn="r"/>
            <a:fld id="{215E7548-F18C-4C4B-B96B-B6533EE29CBB}" type="slidenum">
              <a:rPr lang="en-US" altLang="zh-MO" smtClean="0"/>
              <a:pPr algn="r"/>
              <a:t>17</a:t>
            </a:fld>
            <a:endParaRPr lang="en-US" dirty="0"/>
          </a:p>
        </p:txBody>
      </p:sp>
      <p:sp>
        <p:nvSpPr>
          <p:cNvPr id="5" name="文字版面配置區 4">
            <a:extLst>
              <a:ext uri="{FF2B5EF4-FFF2-40B4-BE49-F238E27FC236}">
                <a16:creationId xmlns:a16="http://schemas.microsoft.com/office/drawing/2014/main" id="{96D96DA7-63BE-4A6D-918C-73A25183ECFD}"/>
              </a:ext>
            </a:extLst>
          </p:cNvPr>
          <p:cNvSpPr>
            <a:spLocks noGrp="1"/>
          </p:cNvSpPr>
          <p:nvPr>
            <p:ph type="body" sz="quarter" idx="13"/>
          </p:nvPr>
        </p:nvSpPr>
        <p:spPr>
          <a:xfrm>
            <a:off x="838200" y="676829"/>
            <a:ext cx="8667143" cy="639324"/>
          </a:xfrm>
        </p:spPr>
        <p:txBody>
          <a:bodyPr>
            <a:noAutofit/>
          </a:bodyPr>
          <a:lstStyle/>
          <a:p>
            <a:r>
              <a:rPr lang="en-US" altLang="zh-MO" sz="3200" dirty="0">
                <a:solidFill>
                  <a:srgbClr val="C00000"/>
                </a:solidFill>
              </a:rPr>
              <a:t>CISC7204 Data Science and Data Visualization</a:t>
            </a:r>
            <a:endParaRPr lang="zh-MO" altLang="en-US" sz="3200" dirty="0"/>
          </a:p>
        </p:txBody>
      </p:sp>
      <p:pic>
        <p:nvPicPr>
          <p:cNvPr id="6" name="圖片 5"/>
          <p:cNvPicPr>
            <a:picLocks noChangeAspect="1"/>
          </p:cNvPicPr>
          <p:nvPr/>
        </p:nvPicPr>
        <p:blipFill>
          <a:blip r:embed="rId2"/>
          <a:stretch>
            <a:fillRect/>
          </a:stretch>
        </p:blipFill>
        <p:spPr>
          <a:xfrm>
            <a:off x="3862387" y="1825625"/>
            <a:ext cx="4895851" cy="4355546"/>
          </a:xfrm>
          <a:prstGeom prst="rect">
            <a:avLst/>
          </a:prstGeom>
        </p:spPr>
      </p:pic>
      <p:sp>
        <p:nvSpPr>
          <p:cNvPr id="9" name="矩形 8"/>
          <p:cNvSpPr/>
          <p:nvPr/>
        </p:nvSpPr>
        <p:spPr>
          <a:xfrm>
            <a:off x="9315450" y="2664925"/>
            <a:ext cx="2043113" cy="646331"/>
          </a:xfrm>
          <a:prstGeom prst="rect">
            <a:avLst/>
          </a:prstGeom>
        </p:spPr>
        <p:txBody>
          <a:bodyPr wrap="square">
            <a:spAutoFit/>
          </a:bodyPr>
          <a:lstStyle/>
          <a:p>
            <a:r>
              <a:rPr lang="en-US" altLang="zh-HK" dirty="0"/>
              <a:t>Radar chart for one variable (student)</a:t>
            </a:r>
            <a:endParaRPr lang="zh-HK" altLang="en-US" dirty="0"/>
          </a:p>
        </p:txBody>
      </p:sp>
    </p:spTree>
    <p:extLst>
      <p:ext uri="{BB962C8B-B14F-4D97-AF65-F5344CB8AC3E}">
        <p14:creationId xmlns:p14="http://schemas.microsoft.com/office/powerpoint/2010/main" val="3271972420"/>
      </p:ext>
    </p:extLst>
  </p:cSld>
  <p:clrMapOvr>
    <a:masterClrMapping/>
  </p:clrMapOvr>
  <mc:AlternateContent xmlns:mc="http://schemas.openxmlformats.org/markup-compatibility/2006" xmlns:p14="http://schemas.microsoft.com/office/powerpoint/2010/main">
    <mc:Choice Requires="p14">
      <p:transition spd="slow" p14:dur="2000" advTm="30010"/>
    </mc:Choice>
    <mc:Fallback xmlns="">
      <p:transition spd="slow" advTm="30010"/>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2C39319-C3EB-463D-A73C-2DEA9D750625}"/>
              </a:ext>
            </a:extLst>
          </p:cNvPr>
          <p:cNvSpPr>
            <a:spLocks noGrp="1"/>
          </p:cNvSpPr>
          <p:nvPr>
            <p:ph type="title"/>
          </p:nvPr>
        </p:nvSpPr>
        <p:spPr/>
        <p:txBody>
          <a:bodyPr>
            <a:normAutofit/>
          </a:bodyPr>
          <a:lstStyle/>
          <a:p>
            <a:r>
              <a:rPr lang="en-US" altLang="zh-MO" sz="2800" dirty="0"/>
              <a:t> Introduction to Data Visualization Plots</a:t>
            </a:r>
            <a:endParaRPr lang="zh-MO" altLang="en-US" sz="2800" dirty="0"/>
          </a:p>
        </p:txBody>
      </p:sp>
      <p:sp>
        <p:nvSpPr>
          <p:cNvPr id="3" name="內容版面配置區 2">
            <a:extLst>
              <a:ext uri="{FF2B5EF4-FFF2-40B4-BE49-F238E27FC236}">
                <a16:creationId xmlns:a16="http://schemas.microsoft.com/office/drawing/2014/main" id="{72697A5A-2B81-4055-BE38-FBF0028B433F}"/>
              </a:ext>
            </a:extLst>
          </p:cNvPr>
          <p:cNvSpPr>
            <a:spLocks noGrp="1"/>
          </p:cNvSpPr>
          <p:nvPr>
            <p:ph idx="1"/>
          </p:nvPr>
        </p:nvSpPr>
        <p:spPr>
          <a:xfrm>
            <a:off x="958466" y="1825625"/>
            <a:ext cx="1741872" cy="4355546"/>
          </a:xfrm>
        </p:spPr>
        <p:txBody>
          <a:bodyPr anchor="ctr">
            <a:normAutofit/>
          </a:bodyPr>
          <a:lstStyle/>
          <a:p>
            <a:pPr marL="0" indent="0">
              <a:buNone/>
            </a:pPr>
            <a:r>
              <a:rPr lang="en-US" altLang="zh-MO" sz="2000" b="1" dirty="0">
                <a:solidFill>
                  <a:schemeClr val="accent4">
                    <a:lumMod val="75000"/>
                  </a:schemeClr>
                </a:solidFill>
              </a:rPr>
              <a:t>Part 2: Comparison Plots</a:t>
            </a:r>
          </a:p>
          <a:p>
            <a:pPr marL="0" indent="0">
              <a:buNone/>
            </a:pPr>
            <a:r>
              <a:rPr lang="en-US" sz="2000" b="1" dirty="0">
                <a:solidFill>
                  <a:srgbClr val="FF0000"/>
                </a:solidFill>
              </a:rPr>
              <a:t>Radar Chart</a:t>
            </a:r>
          </a:p>
          <a:p>
            <a:pPr marL="0" indent="0">
              <a:buNone/>
            </a:pPr>
            <a:r>
              <a:rPr lang="en-US" sz="1800" b="1" dirty="0">
                <a:solidFill>
                  <a:srgbClr val="FF0000"/>
                </a:solidFill>
              </a:rPr>
              <a:t>Example</a:t>
            </a:r>
            <a:endParaRPr lang="en-US" sz="1800" b="1" dirty="0">
              <a:solidFill>
                <a:schemeClr val="accent1">
                  <a:lumMod val="75000"/>
                </a:schemeClr>
              </a:solidFill>
            </a:endParaRPr>
          </a:p>
          <a:p>
            <a:pPr marL="0" indent="0">
              <a:buNone/>
            </a:pPr>
            <a:r>
              <a:rPr lang="en-US" sz="1600" dirty="0"/>
              <a:t>The diagram shows a radar chart for two variables/groups. Here, the chart explains the marks that were scored by two students in different subjects:</a:t>
            </a:r>
          </a:p>
        </p:txBody>
      </p:sp>
      <p:sp>
        <p:nvSpPr>
          <p:cNvPr id="4" name="頁尾版面配置區 3">
            <a:extLst>
              <a:ext uri="{FF2B5EF4-FFF2-40B4-BE49-F238E27FC236}">
                <a16:creationId xmlns:a16="http://schemas.microsoft.com/office/drawing/2014/main" id="{4321BB31-863C-434D-9921-ADDB9CBD49A3}"/>
              </a:ext>
            </a:extLst>
          </p:cNvPr>
          <p:cNvSpPr>
            <a:spLocks noGrp="1"/>
          </p:cNvSpPr>
          <p:nvPr>
            <p:ph type="ftr" sz="quarter" idx="11"/>
          </p:nvPr>
        </p:nvSpPr>
        <p:spPr/>
        <p:txBody>
          <a:bodyPr/>
          <a:lstStyle/>
          <a:p>
            <a:pPr algn="r"/>
            <a:fld id="{215E7548-F18C-4C4B-B96B-B6533EE29CBB}" type="slidenum">
              <a:rPr lang="en-US" altLang="zh-MO" smtClean="0"/>
              <a:pPr algn="r"/>
              <a:t>18</a:t>
            </a:fld>
            <a:endParaRPr lang="en-US" dirty="0"/>
          </a:p>
        </p:txBody>
      </p:sp>
      <p:sp>
        <p:nvSpPr>
          <p:cNvPr id="5" name="文字版面配置區 4">
            <a:extLst>
              <a:ext uri="{FF2B5EF4-FFF2-40B4-BE49-F238E27FC236}">
                <a16:creationId xmlns:a16="http://schemas.microsoft.com/office/drawing/2014/main" id="{96D96DA7-63BE-4A6D-918C-73A25183ECFD}"/>
              </a:ext>
            </a:extLst>
          </p:cNvPr>
          <p:cNvSpPr>
            <a:spLocks noGrp="1"/>
          </p:cNvSpPr>
          <p:nvPr>
            <p:ph type="body" sz="quarter" idx="13"/>
          </p:nvPr>
        </p:nvSpPr>
        <p:spPr>
          <a:xfrm>
            <a:off x="838200" y="676829"/>
            <a:ext cx="8667143" cy="639324"/>
          </a:xfrm>
        </p:spPr>
        <p:txBody>
          <a:bodyPr>
            <a:noAutofit/>
          </a:bodyPr>
          <a:lstStyle/>
          <a:p>
            <a:r>
              <a:rPr lang="en-US" altLang="zh-MO" sz="3200" dirty="0">
                <a:solidFill>
                  <a:srgbClr val="C00000"/>
                </a:solidFill>
              </a:rPr>
              <a:t>CISC7204 Data Science and Data Visualization</a:t>
            </a:r>
            <a:endParaRPr lang="zh-MO" altLang="en-US" sz="3200" dirty="0"/>
          </a:p>
        </p:txBody>
      </p:sp>
      <p:pic>
        <p:nvPicPr>
          <p:cNvPr id="7" name="圖片 6"/>
          <p:cNvPicPr>
            <a:picLocks noChangeAspect="1"/>
          </p:cNvPicPr>
          <p:nvPr/>
        </p:nvPicPr>
        <p:blipFill>
          <a:blip r:embed="rId2"/>
          <a:stretch>
            <a:fillRect/>
          </a:stretch>
        </p:blipFill>
        <p:spPr>
          <a:xfrm>
            <a:off x="3576637" y="1825625"/>
            <a:ext cx="5410201" cy="4355546"/>
          </a:xfrm>
          <a:prstGeom prst="rect">
            <a:avLst/>
          </a:prstGeom>
        </p:spPr>
      </p:pic>
      <p:sp>
        <p:nvSpPr>
          <p:cNvPr id="8" name="矩形 7"/>
          <p:cNvSpPr/>
          <p:nvPr/>
        </p:nvSpPr>
        <p:spPr>
          <a:xfrm>
            <a:off x="9244013" y="2487097"/>
            <a:ext cx="2428875" cy="646331"/>
          </a:xfrm>
          <a:prstGeom prst="rect">
            <a:avLst/>
          </a:prstGeom>
        </p:spPr>
        <p:txBody>
          <a:bodyPr wrap="square">
            <a:spAutoFit/>
          </a:bodyPr>
          <a:lstStyle/>
          <a:p>
            <a:r>
              <a:rPr lang="en-US" altLang="zh-HK" dirty="0"/>
              <a:t>Radar chart for two variables (two students)</a:t>
            </a:r>
            <a:endParaRPr lang="zh-HK" altLang="en-US" dirty="0"/>
          </a:p>
        </p:txBody>
      </p:sp>
    </p:spTree>
    <p:extLst>
      <p:ext uri="{BB962C8B-B14F-4D97-AF65-F5344CB8AC3E}">
        <p14:creationId xmlns:p14="http://schemas.microsoft.com/office/powerpoint/2010/main" val="4117850163"/>
      </p:ext>
    </p:extLst>
  </p:cSld>
  <p:clrMapOvr>
    <a:masterClrMapping/>
  </p:clrMapOvr>
  <mc:AlternateContent xmlns:mc="http://schemas.openxmlformats.org/markup-compatibility/2006" xmlns:p14="http://schemas.microsoft.com/office/powerpoint/2010/main">
    <mc:Choice Requires="p14">
      <p:transition spd="slow" p14:dur="2000" advTm="30010"/>
    </mc:Choice>
    <mc:Fallback xmlns="">
      <p:transition spd="slow" advTm="30010"/>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2C39319-C3EB-463D-A73C-2DEA9D750625}"/>
              </a:ext>
            </a:extLst>
          </p:cNvPr>
          <p:cNvSpPr>
            <a:spLocks noGrp="1"/>
          </p:cNvSpPr>
          <p:nvPr>
            <p:ph type="title"/>
          </p:nvPr>
        </p:nvSpPr>
        <p:spPr/>
        <p:txBody>
          <a:bodyPr>
            <a:normAutofit/>
          </a:bodyPr>
          <a:lstStyle/>
          <a:p>
            <a:r>
              <a:rPr lang="en-US" altLang="zh-MO" sz="2800" dirty="0"/>
              <a:t> Introduction to Data Visualization Plots</a:t>
            </a:r>
            <a:endParaRPr lang="zh-MO" altLang="en-US" sz="2800" dirty="0"/>
          </a:p>
        </p:txBody>
      </p:sp>
      <p:sp>
        <p:nvSpPr>
          <p:cNvPr id="3" name="內容版面配置區 2">
            <a:extLst>
              <a:ext uri="{FF2B5EF4-FFF2-40B4-BE49-F238E27FC236}">
                <a16:creationId xmlns:a16="http://schemas.microsoft.com/office/drawing/2014/main" id="{72697A5A-2B81-4055-BE38-FBF0028B433F}"/>
              </a:ext>
            </a:extLst>
          </p:cNvPr>
          <p:cNvSpPr>
            <a:spLocks noGrp="1"/>
          </p:cNvSpPr>
          <p:nvPr>
            <p:ph idx="1"/>
          </p:nvPr>
        </p:nvSpPr>
        <p:spPr>
          <a:xfrm>
            <a:off x="958465" y="1825625"/>
            <a:ext cx="1827598" cy="4355546"/>
          </a:xfrm>
        </p:spPr>
        <p:txBody>
          <a:bodyPr anchor="ctr">
            <a:normAutofit/>
          </a:bodyPr>
          <a:lstStyle/>
          <a:p>
            <a:pPr marL="0" indent="0">
              <a:buNone/>
            </a:pPr>
            <a:r>
              <a:rPr lang="en-US" altLang="zh-MO" sz="1700" b="1" dirty="0">
                <a:solidFill>
                  <a:schemeClr val="accent4">
                    <a:lumMod val="75000"/>
                  </a:schemeClr>
                </a:solidFill>
              </a:rPr>
              <a:t>Part 2: Comparison Plots</a:t>
            </a:r>
          </a:p>
          <a:p>
            <a:pPr marL="0" indent="0">
              <a:buNone/>
            </a:pPr>
            <a:r>
              <a:rPr lang="en-US" sz="2000" b="1" dirty="0">
                <a:solidFill>
                  <a:srgbClr val="FF0000"/>
                </a:solidFill>
              </a:rPr>
              <a:t>Radar Chart</a:t>
            </a:r>
          </a:p>
          <a:p>
            <a:pPr marL="0" indent="0">
              <a:buNone/>
            </a:pPr>
            <a:r>
              <a:rPr lang="en-US" sz="1800" b="1" dirty="0">
                <a:solidFill>
                  <a:srgbClr val="FF0000"/>
                </a:solidFill>
              </a:rPr>
              <a:t>Example</a:t>
            </a:r>
            <a:endParaRPr lang="en-US" sz="1800" b="1" dirty="0">
              <a:solidFill>
                <a:schemeClr val="accent1">
                  <a:lumMod val="75000"/>
                </a:schemeClr>
              </a:solidFill>
            </a:endParaRPr>
          </a:p>
          <a:p>
            <a:pPr marL="0" indent="0">
              <a:buNone/>
            </a:pPr>
            <a:r>
              <a:rPr lang="en-US" sz="1600" dirty="0"/>
              <a:t>The following diagram shows a radar chart for multiple variables/groups. Each chart displays data about a student’s performance in different subjects:</a:t>
            </a:r>
          </a:p>
        </p:txBody>
      </p:sp>
      <p:sp>
        <p:nvSpPr>
          <p:cNvPr id="4" name="頁尾版面配置區 3">
            <a:extLst>
              <a:ext uri="{FF2B5EF4-FFF2-40B4-BE49-F238E27FC236}">
                <a16:creationId xmlns:a16="http://schemas.microsoft.com/office/drawing/2014/main" id="{4321BB31-863C-434D-9921-ADDB9CBD49A3}"/>
              </a:ext>
            </a:extLst>
          </p:cNvPr>
          <p:cNvSpPr>
            <a:spLocks noGrp="1"/>
          </p:cNvSpPr>
          <p:nvPr>
            <p:ph type="ftr" sz="quarter" idx="11"/>
          </p:nvPr>
        </p:nvSpPr>
        <p:spPr/>
        <p:txBody>
          <a:bodyPr/>
          <a:lstStyle/>
          <a:p>
            <a:pPr algn="r"/>
            <a:fld id="{215E7548-F18C-4C4B-B96B-B6533EE29CBB}" type="slidenum">
              <a:rPr lang="en-US" altLang="zh-MO" smtClean="0"/>
              <a:pPr algn="r"/>
              <a:t>19</a:t>
            </a:fld>
            <a:endParaRPr lang="en-US" dirty="0"/>
          </a:p>
        </p:txBody>
      </p:sp>
      <p:sp>
        <p:nvSpPr>
          <p:cNvPr id="5" name="文字版面配置區 4">
            <a:extLst>
              <a:ext uri="{FF2B5EF4-FFF2-40B4-BE49-F238E27FC236}">
                <a16:creationId xmlns:a16="http://schemas.microsoft.com/office/drawing/2014/main" id="{96D96DA7-63BE-4A6D-918C-73A25183ECFD}"/>
              </a:ext>
            </a:extLst>
          </p:cNvPr>
          <p:cNvSpPr>
            <a:spLocks noGrp="1"/>
          </p:cNvSpPr>
          <p:nvPr>
            <p:ph type="body" sz="quarter" idx="13"/>
          </p:nvPr>
        </p:nvSpPr>
        <p:spPr>
          <a:xfrm>
            <a:off x="838200" y="676829"/>
            <a:ext cx="8667143" cy="639324"/>
          </a:xfrm>
        </p:spPr>
        <p:txBody>
          <a:bodyPr>
            <a:noAutofit/>
          </a:bodyPr>
          <a:lstStyle/>
          <a:p>
            <a:r>
              <a:rPr lang="en-US" altLang="zh-MO" sz="3200" dirty="0">
                <a:solidFill>
                  <a:srgbClr val="C00000"/>
                </a:solidFill>
              </a:rPr>
              <a:t>CISC7204 Data Science and Data Visualization</a:t>
            </a:r>
            <a:endParaRPr lang="zh-MO" altLang="en-US" sz="3200" dirty="0"/>
          </a:p>
        </p:txBody>
      </p:sp>
      <p:pic>
        <p:nvPicPr>
          <p:cNvPr id="6" name="圖片 5"/>
          <p:cNvPicPr>
            <a:picLocks noChangeAspect="1"/>
          </p:cNvPicPr>
          <p:nvPr/>
        </p:nvPicPr>
        <p:blipFill>
          <a:blip r:embed="rId2"/>
          <a:stretch>
            <a:fillRect/>
          </a:stretch>
        </p:blipFill>
        <p:spPr>
          <a:xfrm>
            <a:off x="3462338" y="1758157"/>
            <a:ext cx="5610226" cy="4556607"/>
          </a:xfrm>
          <a:prstGeom prst="rect">
            <a:avLst/>
          </a:prstGeom>
        </p:spPr>
      </p:pic>
      <p:sp>
        <p:nvSpPr>
          <p:cNvPr id="9" name="矩形 8"/>
          <p:cNvSpPr/>
          <p:nvPr/>
        </p:nvSpPr>
        <p:spPr>
          <a:xfrm>
            <a:off x="9748839" y="3137928"/>
            <a:ext cx="1566862" cy="1754326"/>
          </a:xfrm>
          <a:prstGeom prst="rect">
            <a:avLst/>
          </a:prstGeom>
        </p:spPr>
        <p:txBody>
          <a:bodyPr wrap="square">
            <a:spAutoFit/>
          </a:bodyPr>
          <a:lstStyle/>
          <a:p>
            <a:r>
              <a:rPr lang="en-US" altLang="zh-HK" dirty="0"/>
              <a:t>Radar chart with faceting for multiple variables (multiple students)</a:t>
            </a:r>
            <a:endParaRPr lang="zh-HK" altLang="en-US" dirty="0"/>
          </a:p>
        </p:txBody>
      </p:sp>
    </p:spTree>
    <p:extLst>
      <p:ext uri="{BB962C8B-B14F-4D97-AF65-F5344CB8AC3E}">
        <p14:creationId xmlns:p14="http://schemas.microsoft.com/office/powerpoint/2010/main" val="3914943910"/>
      </p:ext>
    </p:extLst>
  </p:cSld>
  <p:clrMapOvr>
    <a:masterClrMapping/>
  </p:clrMapOvr>
  <mc:AlternateContent xmlns:mc="http://schemas.openxmlformats.org/markup-compatibility/2006" xmlns:p14="http://schemas.microsoft.com/office/powerpoint/2010/main">
    <mc:Choice Requires="p14">
      <p:transition spd="slow" p14:dur="2000" advTm="30010"/>
    </mc:Choice>
    <mc:Fallback xmlns="">
      <p:transition spd="slow" advTm="30010"/>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2C39319-C3EB-463D-A73C-2DEA9D750625}"/>
              </a:ext>
            </a:extLst>
          </p:cNvPr>
          <p:cNvSpPr>
            <a:spLocks noGrp="1"/>
          </p:cNvSpPr>
          <p:nvPr>
            <p:ph type="title"/>
          </p:nvPr>
        </p:nvSpPr>
        <p:spPr/>
        <p:txBody>
          <a:bodyPr>
            <a:normAutofit/>
          </a:bodyPr>
          <a:lstStyle/>
          <a:p>
            <a:r>
              <a:rPr lang="en-US" altLang="zh-MO" sz="2800" dirty="0"/>
              <a:t> Introduction to Data Visualization Plots</a:t>
            </a:r>
            <a:endParaRPr lang="zh-MO" altLang="en-US" sz="2800" dirty="0"/>
          </a:p>
        </p:txBody>
      </p:sp>
      <p:sp>
        <p:nvSpPr>
          <p:cNvPr id="3" name="內容版面配置區 2">
            <a:extLst>
              <a:ext uri="{FF2B5EF4-FFF2-40B4-BE49-F238E27FC236}">
                <a16:creationId xmlns:a16="http://schemas.microsoft.com/office/drawing/2014/main" id="{72697A5A-2B81-4055-BE38-FBF0028B433F}"/>
              </a:ext>
            </a:extLst>
          </p:cNvPr>
          <p:cNvSpPr>
            <a:spLocks noGrp="1"/>
          </p:cNvSpPr>
          <p:nvPr>
            <p:ph idx="1"/>
          </p:nvPr>
        </p:nvSpPr>
        <p:spPr>
          <a:xfrm>
            <a:off x="958466" y="1825625"/>
            <a:ext cx="10513098" cy="4355546"/>
          </a:xfrm>
        </p:spPr>
        <p:txBody>
          <a:bodyPr anchor="ctr">
            <a:normAutofit/>
          </a:bodyPr>
          <a:lstStyle/>
          <a:p>
            <a:pPr marL="0" indent="0">
              <a:buNone/>
            </a:pPr>
            <a:r>
              <a:rPr lang="en-US" altLang="zh-MO" sz="3500" b="1" dirty="0">
                <a:solidFill>
                  <a:schemeClr val="accent4">
                    <a:lumMod val="75000"/>
                  </a:schemeClr>
                </a:solidFill>
              </a:rPr>
              <a:t>Part 2: Comparison Plots</a:t>
            </a:r>
          </a:p>
          <a:p>
            <a:pPr marL="0" indent="0">
              <a:buNone/>
            </a:pPr>
            <a:r>
              <a:rPr lang="en-US" sz="2600" b="1" dirty="0">
                <a:solidFill>
                  <a:srgbClr val="FF0000"/>
                </a:solidFill>
              </a:rPr>
              <a:t>Radar Chart – </a:t>
            </a:r>
            <a:r>
              <a:rPr lang="en-US" sz="2600" b="1" dirty="0">
                <a:solidFill>
                  <a:schemeClr val="accent1"/>
                </a:solidFill>
              </a:rPr>
              <a:t>Design Practices</a:t>
            </a:r>
          </a:p>
          <a:p>
            <a:r>
              <a:rPr lang="en-US" sz="2600" b="1" dirty="0"/>
              <a:t>Try to display 10 factors or fewer on a single radar chart to make it easier to read.</a:t>
            </a:r>
          </a:p>
          <a:p>
            <a:r>
              <a:rPr lang="en-US" sz="2600" b="1" dirty="0"/>
              <a:t>Use faceting (displaying each variable in a separate plot) for multiple variables/groups, as shown in the preceding diagram, in order to maintain clarity.</a:t>
            </a:r>
            <a:endParaRPr lang="en-US" sz="2200" b="1" dirty="0"/>
          </a:p>
        </p:txBody>
      </p:sp>
      <p:sp>
        <p:nvSpPr>
          <p:cNvPr id="4" name="頁尾版面配置區 3">
            <a:extLst>
              <a:ext uri="{FF2B5EF4-FFF2-40B4-BE49-F238E27FC236}">
                <a16:creationId xmlns:a16="http://schemas.microsoft.com/office/drawing/2014/main" id="{4321BB31-863C-434D-9921-ADDB9CBD49A3}"/>
              </a:ext>
            </a:extLst>
          </p:cNvPr>
          <p:cNvSpPr>
            <a:spLocks noGrp="1"/>
          </p:cNvSpPr>
          <p:nvPr>
            <p:ph type="ftr" sz="quarter" idx="11"/>
          </p:nvPr>
        </p:nvSpPr>
        <p:spPr/>
        <p:txBody>
          <a:bodyPr/>
          <a:lstStyle/>
          <a:p>
            <a:pPr algn="r"/>
            <a:fld id="{215E7548-F18C-4C4B-B96B-B6533EE29CBB}" type="slidenum">
              <a:rPr lang="en-US" altLang="zh-MO" smtClean="0"/>
              <a:pPr algn="r"/>
              <a:t>20</a:t>
            </a:fld>
            <a:endParaRPr lang="en-US" dirty="0"/>
          </a:p>
        </p:txBody>
      </p:sp>
      <p:sp>
        <p:nvSpPr>
          <p:cNvPr id="5" name="文字版面配置區 4">
            <a:extLst>
              <a:ext uri="{FF2B5EF4-FFF2-40B4-BE49-F238E27FC236}">
                <a16:creationId xmlns:a16="http://schemas.microsoft.com/office/drawing/2014/main" id="{96D96DA7-63BE-4A6D-918C-73A25183ECFD}"/>
              </a:ext>
            </a:extLst>
          </p:cNvPr>
          <p:cNvSpPr>
            <a:spLocks noGrp="1"/>
          </p:cNvSpPr>
          <p:nvPr>
            <p:ph type="body" sz="quarter" idx="13"/>
          </p:nvPr>
        </p:nvSpPr>
        <p:spPr>
          <a:xfrm>
            <a:off x="838200" y="676829"/>
            <a:ext cx="8667143" cy="639324"/>
          </a:xfrm>
        </p:spPr>
        <p:txBody>
          <a:bodyPr>
            <a:noAutofit/>
          </a:bodyPr>
          <a:lstStyle/>
          <a:p>
            <a:r>
              <a:rPr lang="en-US" altLang="zh-MO" sz="3200" dirty="0">
                <a:solidFill>
                  <a:srgbClr val="C00000"/>
                </a:solidFill>
              </a:rPr>
              <a:t>CISC7204 Data Science and Data Visualization</a:t>
            </a:r>
            <a:endParaRPr lang="zh-MO" altLang="en-US" sz="3200" dirty="0"/>
          </a:p>
        </p:txBody>
      </p:sp>
    </p:spTree>
    <p:extLst>
      <p:ext uri="{BB962C8B-B14F-4D97-AF65-F5344CB8AC3E}">
        <p14:creationId xmlns:p14="http://schemas.microsoft.com/office/powerpoint/2010/main" val="2176521205"/>
      </p:ext>
    </p:extLst>
  </p:cSld>
  <p:clrMapOvr>
    <a:masterClrMapping/>
  </p:clrMapOvr>
  <mc:AlternateContent xmlns:mc="http://schemas.openxmlformats.org/markup-compatibility/2006" xmlns:p14="http://schemas.microsoft.com/office/powerpoint/2010/main">
    <mc:Choice Requires="p14">
      <p:transition spd="slow" p14:dur="2000" advTm="30010"/>
    </mc:Choice>
    <mc:Fallback xmlns="">
      <p:transition spd="slow" advTm="30010"/>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2C39319-C3EB-463D-A73C-2DEA9D750625}"/>
              </a:ext>
            </a:extLst>
          </p:cNvPr>
          <p:cNvSpPr>
            <a:spLocks noGrp="1"/>
          </p:cNvSpPr>
          <p:nvPr>
            <p:ph type="title"/>
          </p:nvPr>
        </p:nvSpPr>
        <p:spPr/>
        <p:txBody>
          <a:bodyPr>
            <a:normAutofit/>
          </a:bodyPr>
          <a:lstStyle/>
          <a:p>
            <a:r>
              <a:rPr lang="en-US" altLang="zh-MO" sz="2800" dirty="0"/>
              <a:t> Introduction to Data Visualization Plots</a:t>
            </a:r>
            <a:endParaRPr lang="zh-MO" altLang="en-US" sz="2800" dirty="0"/>
          </a:p>
        </p:txBody>
      </p:sp>
      <p:sp>
        <p:nvSpPr>
          <p:cNvPr id="3" name="內容版面配置區 2">
            <a:extLst>
              <a:ext uri="{FF2B5EF4-FFF2-40B4-BE49-F238E27FC236}">
                <a16:creationId xmlns:a16="http://schemas.microsoft.com/office/drawing/2014/main" id="{72697A5A-2B81-4055-BE38-FBF0028B433F}"/>
              </a:ext>
            </a:extLst>
          </p:cNvPr>
          <p:cNvSpPr>
            <a:spLocks noGrp="1"/>
          </p:cNvSpPr>
          <p:nvPr>
            <p:ph idx="1"/>
          </p:nvPr>
        </p:nvSpPr>
        <p:spPr>
          <a:xfrm>
            <a:off x="958466" y="1825625"/>
            <a:ext cx="10513098" cy="4355546"/>
          </a:xfrm>
        </p:spPr>
        <p:txBody>
          <a:bodyPr anchor="ctr">
            <a:normAutofit/>
          </a:bodyPr>
          <a:lstStyle/>
          <a:p>
            <a:pPr marL="0" indent="0">
              <a:buNone/>
            </a:pPr>
            <a:r>
              <a:rPr lang="en-US" altLang="zh-MO" sz="3500" b="1" dirty="0">
                <a:solidFill>
                  <a:schemeClr val="accent4">
                    <a:lumMod val="75000"/>
                  </a:schemeClr>
                </a:solidFill>
              </a:rPr>
              <a:t>Part 2: Comparison Plots</a:t>
            </a:r>
          </a:p>
          <a:p>
            <a:pPr marL="0" indent="0">
              <a:buNone/>
            </a:pPr>
            <a:r>
              <a:rPr lang="en-US" sz="2600" b="1" dirty="0">
                <a:solidFill>
                  <a:srgbClr val="FF0000"/>
                </a:solidFill>
              </a:rPr>
              <a:t>Sum Up</a:t>
            </a:r>
            <a:endParaRPr lang="en-US" sz="2600" b="1" dirty="0">
              <a:solidFill>
                <a:schemeClr val="accent1"/>
              </a:solidFill>
            </a:endParaRPr>
          </a:p>
          <a:p>
            <a:pPr marL="0" indent="0">
              <a:buNone/>
            </a:pPr>
            <a:r>
              <a:rPr lang="en-US" sz="2600" b="1" dirty="0"/>
              <a:t>In this section, we learned which plots are suitable for comparing items. </a:t>
            </a:r>
          </a:p>
          <a:p>
            <a:r>
              <a:rPr lang="en-US" sz="2600" b="1" dirty="0"/>
              <a:t>Line charts are great for comparing something over time, whereas bar charts are for comparing different items. </a:t>
            </a:r>
          </a:p>
          <a:p>
            <a:r>
              <a:rPr lang="en-US" sz="2600" b="1" dirty="0"/>
              <a:t>Last but not least, radar charts are best suited for visualizing multiple variables for multiple groups. </a:t>
            </a:r>
            <a:endParaRPr lang="en-US" sz="2200" b="1" dirty="0"/>
          </a:p>
        </p:txBody>
      </p:sp>
      <p:sp>
        <p:nvSpPr>
          <p:cNvPr id="4" name="頁尾版面配置區 3">
            <a:extLst>
              <a:ext uri="{FF2B5EF4-FFF2-40B4-BE49-F238E27FC236}">
                <a16:creationId xmlns:a16="http://schemas.microsoft.com/office/drawing/2014/main" id="{4321BB31-863C-434D-9921-ADDB9CBD49A3}"/>
              </a:ext>
            </a:extLst>
          </p:cNvPr>
          <p:cNvSpPr>
            <a:spLocks noGrp="1"/>
          </p:cNvSpPr>
          <p:nvPr>
            <p:ph type="ftr" sz="quarter" idx="11"/>
          </p:nvPr>
        </p:nvSpPr>
        <p:spPr/>
        <p:txBody>
          <a:bodyPr/>
          <a:lstStyle/>
          <a:p>
            <a:pPr algn="r"/>
            <a:fld id="{215E7548-F18C-4C4B-B96B-B6533EE29CBB}" type="slidenum">
              <a:rPr lang="en-US" altLang="zh-MO" smtClean="0"/>
              <a:pPr algn="r"/>
              <a:t>21</a:t>
            </a:fld>
            <a:endParaRPr lang="en-US" dirty="0"/>
          </a:p>
        </p:txBody>
      </p:sp>
      <p:sp>
        <p:nvSpPr>
          <p:cNvPr id="5" name="文字版面配置區 4">
            <a:extLst>
              <a:ext uri="{FF2B5EF4-FFF2-40B4-BE49-F238E27FC236}">
                <a16:creationId xmlns:a16="http://schemas.microsoft.com/office/drawing/2014/main" id="{96D96DA7-63BE-4A6D-918C-73A25183ECFD}"/>
              </a:ext>
            </a:extLst>
          </p:cNvPr>
          <p:cNvSpPr>
            <a:spLocks noGrp="1"/>
          </p:cNvSpPr>
          <p:nvPr>
            <p:ph type="body" sz="quarter" idx="13"/>
          </p:nvPr>
        </p:nvSpPr>
        <p:spPr>
          <a:xfrm>
            <a:off x="838200" y="676829"/>
            <a:ext cx="8667143" cy="639324"/>
          </a:xfrm>
        </p:spPr>
        <p:txBody>
          <a:bodyPr>
            <a:noAutofit/>
          </a:bodyPr>
          <a:lstStyle/>
          <a:p>
            <a:r>
              <a:rPr lang="en-US" altLang="zh-MO" sz="3200" dirty="0">
                <a:solidFill>
                  <a:srgbClr val="C00000"/>
                </a:solidFill>
              </a:rPr>
              <a:t>CISC7204 Data Science and Data Visualization</a:t>
            </a:r>
            <a:endParaRPr lang="zh-MO" altLang="en-US" sz="3200" dirty="0"/>
          </a:p>
        </p:txBody>
      </p:sp>
    </p:spTree>
    <p:extLst>
      <p:ext uri="{BB962C8B-B14F-4D97-AF65-F5344CB8AC3E}">
        <p14:creationId xmlns:p14="http://schemas.microsoft.com/office/powerpoint/2010/main" val="4212078255"/>
      </p:ext>
    </p:extLst>
  </p:cSld>
  <p:clrMapOvr>
    <a:masterClrMapping/>
  </p:clrMapOvr>
  <mc:AlternateContent xmlns:mc="http://schemas.openxmlformats.org/markup-compatibility/2006" xmlns:p14="http://schemas.microsoft.com/office/powerpoint/2010/main">
    <mc:Choice Requires="p14">
      <p:transition spd="slow" p14:dur="2000" advTm="30010"/>
    </mc:Choice>
    <mc:Fallback xmlns="">
      <p:transition spd="slow" advTm="30010"/>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2C39319-C3EB-463D-A73C-2DEA9D750625}"/>
              </a:ext>
            </a:extLst>
          </p:cNvPr>
          <p:cNvSpPr>
            <a:spLocks noGrp="1"/>
          </p:cNvSpPr>
          <p:nvPr>
            <p:ph type="title"/>
          </p:nvPr>
        </p:nvSpPr>
        <p:spPr/>
        <p:txBody>
          <a:bodyPr>
            <a:normAutofit/>
          </a:bodyPr>
          <a:lstStyle/>
          <a:p>
            <a:r>
              <a:rPr lang="en-US" altLang="zh-MO" sz="2800" dirty="0"/>
              <a:t> Introduction to Data Visualization Plots</a:t>
            </a:r>
            <a:endParaRPr lang="zh-MO" altLang="en-US" sz="2800" dirty="0"/>
          </a:p>
        </p:txBody>
      </p:sp>
      <p:sp>
        <p:nvSpPr>
          <p:cNvPr id="3" name="內容版面配置區 2">
            <a:extLst>
              <a:ext uri="{FF2B5EF4-FFF2-40B4-BE49-F238E27FC236}">
                <a16:creationId xmlns:a16="http://schemas.microsoft.com/office/drawing/2014/main" id="{72697A5A-2B81-4055-BE38-FBF0028B433F}"/>
              </a:ext>
            </a:extLst>
          </p:cNvPr>
          <p:cNvSpPr>
            <a:spLocks noGrp="1"/>
          </p:cNvSpPr>
          <p:nvPr>
            <p:ph idx="1"/>
          </p:nvPr>
        </p:nvSpPr>
        <p:spPr>
          <a:xfrm>
            <a:off x="958466" y="1825625"/>
            <a:ext cx="10513098" cy="4355546"/>
          </a:xfrm>
        </p:spPr>
        <p:txBody>
          <a:bodyPr anchor="ctr">
            <a:normAutofit fontScale="92500" lnSpcReduction="10000"/>
          </a:bodyPr>
          <a:lstStyle/>
          <a:p>
            <a:pPr marL="0" indent="0">
              <a:buNone/>
            </a:pPr>
            <a:r>
              <a:rPr lang="en-US" altLang="zh-MO" sz="3500" b="1" dirty="0">
                <a:solidFill>
                  <a:schemeClr val="accent4">
                    <a:lumMod val="75000"/>
                  </a:schemeClr>
                </a:solidFill>
              </a:rPr>
              <a:t>Part 3: Relation Plots</a:t>
            </a:r>
          </a:p>
          <a:p>
            <a:pPr marL="0" indent="0">
              <a:buNone/>
            </a:pPr>
            <a:r>
              <a:rPr lang="en-US" sz="2600" b="1" dirty="0"/>
              <a:t>Relation plots are perfectly suited to showing relationships among variables. </a:t>
            </a:r>
          </a:p>
          <a:p>
            <a:r>
              <a:rPr lang="en-US" sz="2600" b="1" dirty="0"/>
              <a:t>A </a:t>
            </a:r>
            <a:r>
              <a:rPr lang="en-US" sz="2600" b="1" i="1" dirty="0">
                <a:solidFill>
                  <a:schemeClr val="accent1"/>
                </a:solidFill>
              </a:rPr>
              <a:t>scatter plot </a:t>
            </a:r>
            <a:r>
              <a:rPr lang="en-US" sz="2600" b="1" dirty="0"/>
              <a:t>visualizes the correlation between two variables for one or multiple groups. </a:t>
            </a:r>
          </a:p>
          <a:p>
            <a:r>
              <a:rPr lang="en-US" sz="2600" b="1" i="1" dirty="0">
                <a:solidFill>
                  <a:schemeClr val="accent1"/>
                </a:solidFill>
              </a:rPr>
              <a:t>Bubble plots </a:t>
            </a:r>
            <a:r>
              <a:rPr lang="en-US" sz="2600" b="1" dirty="0"/>
              <a:t>can be used to show relationships between three variables. The additional third variable is represented by the dot size. </a:t>
            </a:r>
          </a:p>
          <a:p>
            <a:r>
              <a:rPr lang="en-US" sz="2600" b="1" i="1" dirty="0" err="1">
                <a:solidFill>
                  <a:schemeClr val="accent1"/>
                </a:solidFill>
              </a:rPr>
              <a:t>Heatmaps</a:t>
            </a:r>
            <a:r>
              <a:rPr lang="en-US" sz="2600" b="1" dirty="0"/>
              <a:t> are great for revealing patterns or correlations between two qualitative variables. </a:t>
            </a:r>
          </a:p>
          <a:p>
            <a:r>
              <a:rPr lang="en-US" sz="2600" b="1" dirty="0"/>
              <a:t>A </a:t>
            </a:r>
            <a:r>
              <a:rPr lang="en-US" sz="2600" b="1" i="1" dirty="0" err="1">
                <a:solidFill>
                  <a:schemeClr val="accent1"/>
                </a:solidFill>
              </a:rPr>
              <a:t>correlogram</a:t>
            </a:r>
            <a:r>
              <a:rPr lang="en-US" sz="2600" b="1" dirty="0"/>
              <a:t> is a perfect visualization for showing the correlation among multiple variables.</a:t>
            </a:r>
          </a:p>
        </p:txBody>
      </p:sp>
      <p:sp>
        <p:nvSpPr>
          <p:cNvPr id="4" name="頁尾版面配置區 3">
            <a:extLst>
              <a:ext uri="{FF2B5EF4-FFF2-40B4-BE49-F238E27FC236}">
                <a16:creationId xmlns:a16="http://schemas.microsoft.com/office/drawing/2014/main" id="{4321BB31-863C-434D-9921-ADDB9CBD49A3}"/>
              </a:ext>
            </a:extLst>
          </p:cNvPr>
          <p:cNvSpPr>
            <a:spLocks noGrp="1"/>
          </p:cNvSpPr>
          <p:nvPr>
            <p:ph type="ftr" sz="quarter" idx="11"/>
          </p:nvPr>
        </p:nvSpPr>
        <p:spPr/>
        <p:txBody>
          <a:bodyPr/>
          <a:lstStyle/>
          <a:p>
            <a:pPr algn="r"/>
            <a:fld id="{215E7548-F18C-4C4B-B96B-B6533EE29CBB}" type="slidenum">
              <a:rPr lang="en-US" altLang="zh-MO" smtClean="0"/>
              <a:pPr algn="r"/>
              <a:t>22</a:t>
            </a:fld>
            <a:endParaRPr lang="en-US" dirty="0"/>
          </a:p>
        </p:txBody>
      </p:sp>
      <p:sp>
        <p:nvSpPr>
          <p:cNvPr id="5" name="文字版面配置區 4">
            <a:extLst>
              <a:ext uri="{FF2B5EF4-FFF2-40B4-BE49-F238E27FC236}">
                <a16:creationId xmlns:a16="http://schemas.microsoft.com/office/drawing/2014/main" id="{96D96DA7-63BE-4A6D-918C-73A25183ECFD}"/>
              </a:ext>
            </a:extLst>
          </p:cNvPr>
          <p:cNvSpPr>
            <a:spLocks noGrp="1"/>
          </p:cNvSpPr>
          <p:nvPr>
            <p:ph type="body" sz="quarter" idx="13"/>
          </p:nvPr>
        </p:nvSpPr>
        <p:spPr>
          <a:xfrm>
            <a:off x="838200" y="676829"/>
            <a:ext cx="8667143" cy="639324"/>
          </a:xfrm>
        </p:spPr>
        <p:txBody>
          <a:bodyPr>
            <a:noAutofit/>
          </a:bodyPr>
          <a:lstStyle/>
          <a:p>
            <a:r>
              <a:rPr lang="en-US" altLang="zh-MO" sz="3200" dirty="0">
                <a:solidFill>
                  <a:srgbClr val="C00000"/>
                </a:solidFill>
              </a:rPr>
              <a:t>CISC7204 Data Science and Data Visualization</a:t>
            </a:r>
            <a:endParaRPr lang="zh-MO" altLang="en-US" sz="3200" dirty="0"/>
          </a:p>
        </p:txBody>
      </p:sp>
    </p:spTree>
    <p:extLst>
      <p:ext uri="{BB962C8B-B14F-4D97-AF65-F5344CB8AC3E}">
        <p14:creationId xmlns:p14="http://schemas.microsoft.com/office/powerpoint/2010/main" val="3180800299"/>
      </p:ext>
    </p:extLst>
  </p:cSld>
  <p:clrMapOvr>
    <a:masterClrMapping/>
  </p:clrMapOvr>
  <mc:AlternateContent xmlns:mc="http://schemas.openxmlformats.org/markup-compatibility/2006" xmlns:p14="http://schemas.microsoft.com/office/powerpoint/2010/main">
    <mc:Choice Requires="p14">
      <p:transition spd="slow" p14:dur="2000" advTm="30010"/>
    </mc:Choice>
    <mc:Fallback xmlns="">
      <p:transition spd="slow" advTm="30010"/>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2C39319-C3EB-463D-A73C-2DEA9D750625}"/>
              </a:ext>
            </a:extLst>
          </p:cNvPr>
          <p:cNvSpPr>
            <a:spLocks noGrp="1"/>
          </p:cNvSpPr>
          <p:nvPr>
            <p:ph type="title"/>
          </p:nvPr>
        </p:nvSpPr>
        <p:spPr/>
        <p:txBody>
          <a:bodyPr>
            <a:normAutofit/>
          </a:bodyPr>
          <a:lstStyle/>
          <a:p>
            <a:r>
              <a:rPr lang="en-US" altLang="zh-MO" sz="2800" dirty="0"/>
              <a:t> Introduction to Data Visualization Plots</a:t>
            </a:r>
            <a:endParaRPr lang="zh-MO" altLang="en-US" sz="2800" dirty="0"/>
          </a:p>
        </p:txBody>
      </p:sp>
      <p:sp>
        <p:nvSpPr>
          <p:cNvPr id="3" name="內容版面配置區 2">
            <a:extLst>
              <a:ext uri="{FF2B5EF4-FFF2-40B4-BE49-F238E27FC236}">
                <a16:creationId xmlns:a16="http://schemas.microsoft.com/office/drawing/2014/main" id="{72697A5A-2B81-4055-BE38-FBF0028B433F}"/>
              </a:ext>
            </a:extLst>
          </p:cNvPr>
          <p:cNvSpPr>
            <a:spLocks noGrp="1"/>
          </p:cNvSpPr>
          <p:nvPr>
            <p:ph idx="1"/>
          </p:nvPr>
        </p:nvSpPr>
        <p:spPr>
          <a:xfrm>
            <a:off x="958466" y="1825625"/>
            <a:ext cx="10513098" cy="4355546"/>
          </a:xfrm>
        </p:spPr>
        <p:txBody>
          <a:bodyPr anchor="ctr">
            <a:normAutofit fontScale="92500" lnSpcReduction="20000"/>
          </a:bodyPr>
          <a:lstStyle/>
          <a:p>
            <a:pPr marL="0" indent="0">
              <a:buNone/>
            </a:pPr>
            <a:r>
              <a:rPr lang="en-US" altLang="zh-MO" b="1" dirty="0">
                <a:solidFill>
                  <a:schemeClr val="accent4">
                    <a:lumMod val="75000"/>
                  </a:schemeClr>
                </a:solidFill>
              </a:rPr>
              <a:t>Part 3: Relation Plots</a:t>
            </a:r>
          </a:p>
          <a:p>
            <a:pPr marL="0" indent="0">
              <a:buNone/>
            </a:pPr>
            <a:r>
              <a:rPr lang="en-US" sz="2600" b="1" dirty="0">
                <a:solidFill>
                  <a:srgbClr val="FF0000"/>
                </a:solidFill>
              </a:rPr>
              <a:t>Scatter Plot </a:t>
            </a:r>
          </a:p>
          <a:p>
            <a:r>
              <a:rPr lang="en-US" sz="2600" b="1" dirty="0"/>
              <a:t>Scatter plots show data points for two numerical variables, displaying a variable on both axes. </a:t>
            </a:r>
          </a:p>
          <a:p>
            <a:pPr marL="0" indent="0">
              <a:buNone/>
            </a:pPr>
            <a:r>
              <a:rPr lang="en-US" sz="2600" b="1" dirty="0">
                <a:solidFill>
                  <a:schemeClr val="accent1"/>
                </a:solidFill>
              </a:rPr>
              <a:t>Uses</a:t>
            </a:r>
            <a:r>
              <a:rPr lang="en-US" sz="2600" b="1" i="1" dirty="0">
                <a:solidFill>
                  <a:schemeClr val="accent1"/>
                </a:solidFill>
              </a:rPr>
              <a:t> </a:t>
            </a:r>
          </a:p>
          <a:p>
            <a:r>
              <a:rPr lang="en-US" sz="2600" b="1" dirty="0"/>
              <a:t>You can detect whether a correlation (relationship) exists between two variables.</a:t>
            </a:r>
          </a:p>
          <a:p>
            <a:r>
              <a:rPr lang="en-US" sz="2600" b="1" dirty="0"/>
              <a:t>They allow you to plot the relationship between multiple groups or categories using different colors.</a:t>
            </a:r>
          </a:p>
          <a:p>
            <a:r>
              <a:rPr lang="en-US" sz="2600" b="1" dirty="0"/>
              <a:t>A bubble plot, which is a variation of the scatter plot, is an excellent tool for visualizing the correlation of a third variable.</a:t>
            </a:r>
          </a:p>
        </p:txBody>
      </p:sp>
      <p:sp>
        <p:nvSpPr>
          <p:cNvPr id="4" name="頁尾版面配置區 3">
            <a:extLst>
              <a:ext uri="{FF2B5EF4-FFF2-40B4-BE49-F238E27FC236}">
                <a16:creationId xmlns:a16="http://schemas.microsoft.com/office/drawing/2014/main" id="{4321BB31-863C-434D-9921-ADDB9CBD49A3}"/>
              </a:ext>
            </a:extLst>
          </p:cNvPr>
          <p:cNvSpPr>
            <a:spLocks noGrp="1"/>
          </p:cNvSpPr>
          <p:nvPr>
            <p:ph type="ftr" sz="quarter" idx="11"/>
          </p:nvPr>
        </p:nvSpPr>
        <p:spPr/>
        <p:txBody>
          <a:bodyPr/>
          <a:lstStyle/>
          <a:p>
            <a:pPr algn="r"/>
            <a:fld id="{215E7548-F18C-4C4B-B96B-B6533EE29CBB}" type="slidenum">
              <a:rPr lang="en-US" altLang="zh-MO" smtClean="0"/>
              <a:pPr algn="r"/>
              <a:t>23</a:t>
            </a:fld>
            <a:endParaRPr lang="en-US" dirty="0"/>
          </a:p>
        </p:txBody>
      </p:sp>
      <p:sp>
        <p:nvSpPr>
          <p:cNvPr id="5" name="文字版面配置區 4">
            <a:extLst>
              <a:ext uri="{FF2B5EF4-FFF2-40B4-BE49-F238E27FC236}">
                <a16:creationId xmlns:a16="http://schemas.microsoft.com/office/drawing/2014/main" id="{96D96DA7-63BE-4A6D-918C-73A25183ECFD}"/>
              </a:ext>
            </a:extLst>
          </p:cNvPr>
          <p:cNvSpPr>
            <a:spLocks noGrp="1"/>
          </p:cNvSpPr>
          <p:nvPr>
            <p:ph type="body" sz="quarter" idx="13"/>
          </p:nvPr>
        </p:nvSpPr>
        <p:spPr>
          <a:xfrm>
            <a:off x="838200" y="676829"/>
            <a:ext cx="8667143" cy="639324"/>
          </a:xfrm>
        </p:spPr>
        <p:txBody>
          <a:bodyPr>
            <a:noAutofit/>
          </a:bodyPr>
          <a:lstStyle/>
          <a:p>
            <a:r>
              <a:rPr lang="en-US" altLang="zh-MO" sz="3200" dirty="0">
                <a:solidFill>
                  <a:srgbClr val="C00000"/>
                </a:solidFill>
              </a:rPr>
              <a:t>CISC7204 Data Science and Data Visualization</a:t>
            </a:r>
            <a:endParaRPr lang="zh-MO" altLang="en-US" sz="3200" dirty="0"/>
          </a:p>
        </p:txBody>
      </p:sp>
    </p:spTree>
    <p:extLst>
      <p:ext uri="{BB962C8B-B14F-4D97-AF65-F5344CB8AC3E}">
        <p14:creationId xmlns:p14="http://schemas.microsoft.com/office/powerpoint/2010/main" val="560687045"/>
      </p:ext>
    </p:extLst>
  </p:cSld>
  <p:clrMapOvr>
    <a:masterClrMapping/>
  </p:clrMapOvr>
  <mc:AlternateContent xmlns:mc="http://schemas.openxmlformats.org/markup-compatibility/2006" xmlns:p14="http://schemas.microsoft.com/office/powerpoint/2010/main">
    <mc:Choice Requires="p14">
      <p:transition spd="slow" p14:dur="2000" advTm="30010"/>
    </mc:Choice>
    <mc:Fallback xmlns="">
      <p:transition spd="slow" advTm="30010"/>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2C39319-C3EB-463D-A73C-2DEA9D750625}"/>
              </a:ext>
            </a:extLst>
          </p:cNvPr>
          <p:cNvSpPr>
            <a:spLocks noGrp="1"/>
          </p:cNvSpPr>
          <p:nvPr>
            <p:ph type="title"/>
          </p:nvPr>
        </p:nvSpPr>
        <p:spPr/>
        <p:txBody>
          <a:bodyPr>
            <a:normAutofit/>
          </a:bodyPr>
          <a:lstStyle/>
          <a:p>
            <a:r>
              <a:rPr lang="en-US" altLang="zh-MO" sz="2800" dirty="0"/>
              <a:t> Introduction to Data Visualization Plots</a:t>
            </a:r>
            <a:endParaRPr lang="zh-MO" altLang="en-US" sz="2800" dirty="0"/>
          </a:p>
        </p:txBody>
      </p:sp>
      <p:sp>
        <p:nvSpPr>
          <p:cNvPr id="3" name="內容版面配置區 2">
            <a:extLst>
              <a:ext uri="{FF2B5EF4-FFF2-40B4-BE49-F238E27FC236}">
                <a16:creationId xmlns:a16="http://schemas.microsoft.com/office/drawing/2014/main" id="{72697A5A-2B81-4055-BE38-FBF0028B433F}"/>
              </a:ext>
            </a:extLst>
          </p:cNvPr>
          <p:cNvSpPr>
            <a:spLocks noGrp="1"/>
          </p:cNvSpPr>
          <p:nvPr>
            <p:ph idx="1"/>
          </p:nvPr>
        </p:nvSpPr>
        <p:spPr>
          <a:xfrm>
            <a:off x="958466" y="1825625"/>
            <a:ext cx="1356109" cy="4355546"/>
          </a:xfrm>
        </p:spPr>
        <p:txBody>
          <a:bodyPr anchor="ctr">
            <a:normAutofit lnSpcReduction="10000"/>
          </a:bodyPr>
          <a:lstStyle/>
          <a:p>
            <a:pPr marL="0" indent="0">
              <a:buNone/>
            </a:pPr>
            <a:r>
              <a:rPr lang="en-US" altLang="zh-MO" sz="2200" b="1" dirty="0">
                <a:solidFill>
                  <a:schemeClr val="accent4">
                    <a:lumMod val="75000"/>
                  </a:schemeClr>
                </a:solidFill>
              </a:rPr>
              <a:t>Part 3: Relation Plots</a:t>
            </a:r>
          </a:p>
          <a:p>
            <a:pPr marL="0" indent="0">
              <a:buNone/>
            </a:pPr>
            <a:r>
              <a:rPr lang="en-US" sz="2200" b="1" dirty="0">
                <a:solidFill>
                  <a:srgbClr val="FF0000"/>
                </a:solidFill>
              </a:rPr>
              <a:t>Scatter Plot </a:t>
            </a:r>
          </a:p>
          <a:p>
            <a:pPr marL="0" indent="0">
              <a:buNone/>
            </a:pPr>
            <a:r>
              <a:rPr lang="en-US" sz="1900" b="1" dirty="0"/>
              <a:t>Example</a:t>
            </a:r>
          </a:p>
          <a:p>
            <a:pPr marL="0" indent="0">
              <a:buNone/>
            </a:pPr>
            <a:r>
              <a:rPr lang="en-US" sz="1700" dirty="0">
                <a:solidFill>
                  <a:schemeClr val="accent1"/>
                </a:solidFill>
              </a:rPr>
              <a:t>The diagram shows a scatter plot of height and weight of persons belonging to a single group:</a:t>
            </a:r>
            <a:endParaRPr lang="en-US" sz="1700" dirty="0"/>
          </a:p>
        </p:txBody>
      </p:sp>
      <p:sp>
        <p:nvSpPr>
          <p:cNvPr id="4" name="頁尾版面配置區 3">
            <a:extLst>
              <a:ext uri="{FF2B5EF4-FFF2-40B4-BE49-F238E27FC236}">
                <a16:creationId xmlns:a16="http://schemas.microsoft.com/office/drawing/2014/main" id="{4321BB31-863C-434D-9921-ADDB9CBD49A3}"/>
              </a:ext>
            </a:extLst>
          </p:cNvPr>
          <p:cNvSpPr>
            <a:spLocks noGrp="1"/>
          </p:cNvSpPr>
          <p:nvPr>
            <p:ph type="ftr" sz="quarter" idx="11"/>
          </p:nvPr>
        </p:nvSpPr>
        <p:spPr/>
        <p:txBody>
          <a:bodyPr/>
          <a:lstStyle/>
          <a:p>
            <a:pPr algn="r"/>
            <a:fld id="{215E7548-F18C-4C4B-B96B-B6533EE29CBB}" type="slidenum">
              <a:rPr lang="en-US" altLang="zh-MO" smtClean="0"/>
              <a:pPr algn="r"/>
              <a:t>24</a:t>
            </a:fld>
            <a:endParaRPr lang="en-US" dirty="0"/>
          </a:p>
        </p:txBody>
      </p:sp>
      <p:sp>
        <p:nvSpPr>
          <p:cNvPr id="5" name="文字版面配置區 4">
            <a:extLst>
              <a:ext uri="{FF2B5EF4-FFF2-40B4-BE49-F238E27FC236}">
                <a16:creationId xmlns:a16="http://schemas.microsoft.com/office/drawing/2014/main" id="{96D96DA7-63BE-4A6D-918C-73A25183ECFD}"/>
              </a:ext>
            </a:extLst>
          </p:cNvPr>
          <p:cNvSpPr>
            <a:spLocks noGrp="1"/>
          </p:cNvSpPr>
          <p:nvPr>
            <p:ph type="body" sz="quarter" idx="13"/>
          </p:nvPr>
        </p:nvSpPr>
        <p:spPr>
          <a:xfrm>
            <a:off x="838200" y="676829"/>
            <a:ext cx="8667143" cy="639324"/>
          </a:xfrm>
        </p:spPr>
        <p:txBody>
          <a:bodyPr>
            <a:noAutofit/>
          </a:bodyPr>
          <a:lstStyle/>
          <a:p>
            <a:r>
              <a:rPr lang="en-US" altLang="zh-MO" sz="3200" dirty="0">
                <a:solidFill>
                  <a:srgbClr val="C00000"/>
                </a:solidFill>
              </a:rPr>
              <a:t>CISC7204 Data Science and Data Visualization</a:t>
            </a:r>
            <a:endParaRPr lang="zh-MO" altLang="en-US" sz="3200" dirty="0"/>
          </a:p>
        </p:txBody>
      </p:sp>
      <p:pic>
        <p:nvPicPr>
          <p:cNvPr id="6" name="圖片 5"/>
          <p:cNvPicPr>
            <a:picLocks noChangeAspect="1"/>
          </p:cNvPicPr>
          <p:nvPr/>
        </p:nvPicPr>
        <p:blipFill>
          <a:blip r:embed="rId2"/>
          <a:stretch>
            <a:fillRect/>
          </a:stretch>
        </p:blipFill>
        <p:spPr>
          <a:xfrm>
            <a:off x="3490912" y="1825626"/>
            <a:ext cx="6153151" cy="4355546"/>
          </a:xfrm>
          <a:prstGeom prst="rect">
            <a:avLst/>
          </a:prstGeom>
        </p:spPr>
      </p:pic>
      <p:sp>
        <p:nvSpPr>
          <p:cNvPr id="7" name="矩形 6"/>
          <p:cNvSpPr/>
          <p:nvPr/>
        </p:nvSpPr>
        <p:spPr>
          <a:xfrm>
            <a:off x="9891464" y="1949618"/>
            <a:ext cx="1857871" cy="646331"/>
          </a:xfrm>
          <a:prstGeom prst="rect">
            <a:avLst/>
          </a:prstGeom>
        </p:spPr>
        <p:txBody>
          <a:bodyPr wrap="square">
            <a:spAutoFit/>
          </a:bodyPr>
          <a:lstStyle/>
          <a:p>
            <a:r>
              <a:rPr lang="en-US" altLang="zh-HK" dirty="0"/>
              <a:t>Scatter plot with a single group</a:t>
            </a:r>
            <a:endParaRPr lang="zh-HK" altLang="en-US" dirty="0"/>
          </a:p>
        </p:txBody>
      </p:sp>
    </p:spTree>
    <p:extLst>
      <p:ext uri="{BB962C8B-B14F-4D97-AF65-F5344CB8AC3E}">
        <p14:creationId xmlns:p14="http://schemas.microsoft.com/office/powerpoint/2010/main" val="3549946559"/>
      </p:ext>
    </p:extLst>
  </p:cSld>
  <p:clrMapOvr>
    <a:masterClrMapping/>
  </p:clrMapOvr>
  <mc:AlternateContent xmlns:mc="http://schemas.openxmlformats.org/markup-compatibility/2006" xmlns:p14="http://schemas.microsoft.com/office/powerpoint/2010/main">
    <mc:Choice Requires="p14">
      <p:transition spd="slow" p14:dur="2000" advTm="30010"/>
    </mc:Choice>
    <mc:Fallback xmlns="">
      <p:transition spd="slow" advTm="30010"/>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2C39319-C3EB-463D-A73C-2DEA9D750625}"/>
              </a:ext>
            </a:extLst>
          </p:cNvPr>
          <p:cNvSpPr>
            <a:spLocks noGrp="1"/>
          </p:cNvSpPr>
          <p:nvPr>
            <p:ph type="title"/>
          </p:nvPr>
        </p:nvSpPr>
        <p:spPr/>
        <p:txBody>
          <a:bodyPr>
            <a:normAutofit/>
          </a:bodyPr>
          <a:lstStyle/>
          <a:p>
            <a:r>
              <a:rPr lang="en-US" altLang="zh-MO" sz="2800" dirty="0"/>
              <a:t> Introduction to Data Visualization Plots</a:t>
            </a:r>
            <a:endParaRPr lang="zh-MO" altLang="en-US" sz="2800" dirty="0"/>
          </a:p>
        </p:txBody>
      </p:sp>
      <p:sp>
        <p:nvSpPr>
          <p:cNvPr id="3" name="內容版面配置區 2">
            <a:extLst>
              <a:ext uri="{FF2B5EF4-FFF2-40B4-BE49-F238E27FC236}">
                <a16:creationId xmlns:a16="http://schemas.microsoft.com/office/drawing/2014/main" id="{72697A5A-2B81-4055-BE38-FBF0028B433F}"/>
              </a:ext>
            </a:extLst>
          </p:cNvPr>
          <p:cNvSpPr>
            <a:spLocks noGrp="1"/>
          </p:cNvSpPr>
          <p:nvPr>
            <p:ph idx="1"/>
          </p:nvPr>
        </p:nvSpPr>
        <p:spPr>
          <a:xfrm>
            <a:off x="958466" y="1825625"/>
            <a:ext cx="1356109" cy="4355546"/>
          </a:xfrm>
        </p:spPr>
        <p:txBody>
          <a:bodyPr anchor="ctr">
            <a:normAutofit fontScale="85000" lnSpcReduction="10000"/>
          </a:bodyPr>
          <a:lstStyle/>
          <a:p>
            <a:pPr marL="0" indent="0">
              <a:buNone/>
            </a:pPr>
            <a:r>
              <a:rPr lang="en-US" altLang="zh-MO" sz="2200" b="1" dirty="0">
                <a:solidFill>
                  <a:schemeClr val="accent4">
                    <a:lumMod val="75000"/>
                  </a:schemeClr>
                </a:solidFill>
              </a:rPr>
              <a:t>Part 3: Relation Plots</a:t>
            </a:r>
          </a:p>
          <a:p>
            <a:pPr marL="0" indent="0">
              <a:buNone/>
            </a:pPr>
            <a:r>
              <a:rPr lang="en-US" sz="2200" b="1" dirty="0">
                <a:solidFill>
                  <a:srgbClr val="FF0000"/>
                </a:solidFill>
              </a:rPr>
              <a:t>Scatter Plot </a:t>
            </a:r>
          </a:p>
          <a:p>
            <a:pPr marL="0" indent="0">
              <a:buNone/>
            </a:pPr>
            <a:r>
              <a:rPr lang="en-US" sz="1900" b="1" dirty="0"/>
              <a:t>Example</a:t>
            </a:r>
          </a:p>
          <a:p>
            <a:pPr marL="0" indent="0">
              <a:buNone/>
            </a:pPr>
            <a:r>
              <a:rPr lang="en-US" sz="1700" dirty="0">
                <a:solidFill>
                  <a:schemeClr val="accent1"/>
                </a:solidFill>
              </a:rPr>
              <a:t>The diagram shows the same data as in the previous plot but differentiates between groups. </a:t>
            </a:r>
          </a:p>
          <a:p>
            <a:pPr marL="0" indent="0">
              <a:buNone/>
            </a:pPr>
            <a:r>
              <a:rPr lang="en-US" sz="1700" dirty="0">
                <a:solidFill>
                  <a:schemeClr val="accent1"/>
                </a:solidFill>
              </a:rPr>
              <a:t>In this case, we have different groups: A, B, and C:</a:t>
            </a:r>
            <a:endParaRPr lang="en-US" sz="1700" dirty="0"/>
          </a:p>
        </p:txBody>
      </p:sp>
      <p:sp>
        <p:nvSpPr>
          <p:cNvPr id="4" name="頁尾版面配置區 3">
            <a:extLst>
              <a:ext uri="{FF2B5EF4-FFF2-40B4-BE49-F238E27FC236}">
                <a16:creationId xmlns:a16="http://schemas.microsoft.com/office/drawing/2014/main" id="{4321BB31-863C-434D-9921-ADDB9CBD49A3}"/>
              </a:ext>
            </a:extLst>
          </p:cNvPr>
          <p:cNvSpPr>
            <a:spLocks noGrp="1"/>
          </p:cNvSpPr>
          <p:nvPr>
            <p:ph type="ftr" sz="quarter" idx="11"/>
          </p:nvPr>
        </p:nvSpPr>
        <p:spPr/>
        <p:txBody>
          <a:bodyPr/>
          <a:lstStyle/>
          <a:p>
            <a:pPr algn="r"/>
            <a:fld id="{215E7548-F18C-4C4B-B96B-B6533EE29CBB}" type="slidenum">
              <a:rPr lang="en-US" altLang="zh-MO" smtClean="0"/>
              <a:pPr algn="r"/>
              <a:t>25</a:t>
            </a:fld>
            <a:endParaRPr lang="en-US" dirty="0"/>
          </a:p>
        </p:txBody>
      </p:sp>
      <p:sp>
        <p:nvSpPr>
          <p:cNvPr id="5" name="文字版面配置區 4">
            <a:extLst>
              <a:ext uri="{FF2B5EF4-FFF2-40B4-BE49-F238E27FC236}">
                <a16:creationId xmlns:a16="http://schemas.microsoft.com/office/drawing/2014/main" id="{96D96DA7-63BE-4A6D-918C-73A25183ECFD}"/>
              </a:ext>
            </a:extLst>
          </p:cNvPr>
          <p:cNvSpPr>
            <a:spLocks noGrp="1"/>
          </p:cNvSpPr>
          <p:nvPr>
            <p:ph type="body" sz="quarter" idx="13"/>
          </p:nvPr>
        </p:nvSpPr>
        <p:spPr>
          <a:xfrm>
            <a:off x="838200" y="676829"/>
            <a:ext cx="8667143" cy="639324"/>
          </a:xfrm>
        </p:spPr>
        <p:txBody>
          <a:bodyPr>
            <a:noAutofit/>
          </a:bodyPr>
          <a:lstStyle/>
          <a:p>
            <a:r>
              <a:rPr lang="en-US" altLang="zh-MO" sz="3200" dirty="0">
                <a:solidFill>
                  <a:srgbClr val="C00000"/>
                </a:solidFill>
              </a:rPr>
              <a:t>CISC7204 Data Science and Data Visualization</a:t>
            </a:r>
            <a:endParaRPr lang="zh-MO" altLang="en-US" sz="3200" dirty="0"/>
          </a:p>
        </p:txBody>
      </p:sp>
      <p:pic>
        <p:nvPicPr>
          <p:cNvPr id="8" name="圖片 7"/>
          <p:cNvPicPr>
            <a:picLocks noChangeAspect="1"/>
          </p:cNvPicPr>
          <p:nvPr/>
        </p:nvPicPr>
        <p:blipFill>
          <a:blip r:embed="rId2"/>
          <a:stretch>
            <a:fillRect/>
          </a:stretch>
        </p:blipFill>
        <p:spPr>
          <a:xfrm>
            <a:off x="3328987" y="1945723"/>
            <a:ext cx="6329363" cy="4235448"/>
          </a:xfrm>
          <a:prstGeom prst="rect">
            <a:avLst/>
          </a:prstGeom>
        </p:spPr>
      </p:pic>
      <p:sp>
        <p:nvSpPr>
          <p:cNvPr id="9" name="矩形 8"/>
          <p:cNvSpPr/>
          <p:nvPr/>
        </p:nvSpPr>
        <p:spPr>
          <a:xfrm>
            <a:off x="9823174" y="2127587"/>
            <a:ext cx="1779858" cy="646331"/>
          </a:xfrm>
          <a:prstGeom prst="rect">
            <a:avLst/>
          </a:prstGeom>
        </p:spPr>
        <p:txBody>
          <a:bodyPr wrap="square">
            <a:spAutoFit/>
          </a:bodyPr>
          <a:lstStyle/>
          <a:p>
            <a:r>
              <a:rPr lang="en-US" altLang="zh-HK" dirty="0"/>
              <a:t>Scatter plot with multiple groups</a:t>
            </a:r>
            <a:endParaRPr lang="zh-HK" altLang="en-US" dirty="0"/>
          </a:p>
        </p:txBody>
      </p:sp>
    </p:spTree>
    <p:extLst>
      <p:ext uri="{BB962C8B-B14F-4D97-AF65-F5344CB8AC3E}">
        <p14:creationId xmlns:p14="http://schemas.microsoft.com/office/powerpoint/2010/main" val="2747532994"/>
      </p:ext>
    </p:extLst>
  </p:cSld>
  <p:clrMapOvr>
    <a:masterClrMapping/>
  </p:clrMapOvr>
  <mc:AlternateContent xmlns:mc="http://schemas.openxmlformats.org/markup-compatibility/2006" xmlns:p14="http://schemas.microsoft.com/office/powerpoint/2010/main">
    <mc:Choice Requires="p14">
      <p:transition spd="slow" p14:dur="2000" advTm="30010"/>
    </mc:Choice>
    <mc:Fallback xmlns="">
      <p:transition spd="slow" advTm="30010"/>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2C39319-C3EB-463D-A73C-2DEA9D750625}"/>
              </a:ext>
            </a:extLst>
          </p:cNvPr>
          <p:cNvSpPr>
            <a:spLocks noGrp="1"/>
          </p:cNvSpPr>
          <p:nvPr>
            <p:ph type="title"/>
          </p:nvPr>
        </p:nvSpPr>
        <p:spPr/>
        <p:txBody>
          <a:bodyPr>
            <a:normAutofit/>
          </a:bodyPr>
          <a:lstStyle/>
          <a:p>
            <a:r>
              <a:rPr lang="en-US" altLang="zh-MO" sz="2800" dirty="0"/>
              <a:t> Introduction to Data Visualization Plots</a:t>
            </a:r>
            <a:endParaRPr lang="zh-MO" altLang="en-US" sz="2800" dirty="0"/>
          </a:p>
        </p:txBody>
      </p:sp>
      <p:sp>
        <p:nvSpPr>
          <p:cNvPr id="3" name="內容版面配置區 2">
            <a:extLst>
              <a:ext uri="{FF2B5EF4-FFF2-40B4-BE49-F238E27FC236}">
                <a16:creationId xmlns:a16="http://schemas.microsoft.com/office/drawing/2014/main" id="{72697A5A-2B81-4055-BE38-FBF0028B433F}"/>
              </a:ext>
            </a:extLst>
          </p:cNvPr>
          <p:cNvSpPr>
            <a:spLocks noGrp="1"/>
          </p:cNvSpPr>
          <p:nvPr>
            <p:ph idx="1"/>
          </p:nvPr>
        </p:nvSpPr>
        <p:spPr>
          <a:xfrm>
            <a:off x="958466" y="1825625"/>
            <a:ext cx="1356109" cy="4355546"/>
          </a:xfrm>
        </p:spPr>
        <p:txBody>
          <a:bodyPr anchor="ctr">
            <a:normAutofit fontScale="77500" lnSpcReduction="20000"/>
          </a:bodyPr>
          <a:lstStyle/>
          <a:p>
            <a:pPr marL="0" indent="0">
              <a:buNone/>
            </a:pPr>
            <a:r>
              <a:rPr lang="en-US" altLang="zh-MO" sz="2200" b="1" dirty="0">
                <a:solidFill>
                  <a:schemeClr val="accent4">
                    <a:lumMod val="75000"/>
                  </a:schemeClr>
                </a:solidFill>
              </a:rPr>
              <a:t>Part 3: Relation Plots</a:t>
            </a:r>
          </a:p>
          <a:p>
            <a:pPr marL="0" indent="0">
              <a:buNone/>
            </a:pPr>
            <a:r>
              <a:rPr lang="en-US" sz="2200" b="1" dirty="0">
                <a:solidFill>
                  <a:srgbClr val="FF0000"/>
                </a:solidFill>
              </a:rPr>
              <a:t>Scatter Plot </a:t>
            </a:r>
          </a:p>
          <a:p>
            <a:pPr marL="0" indent="0">
              <a:buNone/>
            </a:pPr>
            <a:r>
              <a:rPr lang="en-US" sz="1900" b="1" dirty="0"/>
              <a:t>Example</a:t>
            </a:r>
          </a:p>
          <a:p>
            <a:pPr marL="0" indent="0">
              <a:buNone/>
            </a:pPr>
            <a:r>
              <a:rPr lang="en-US" sz="1700" dirty="0">
                <a:solidFill>
                  <a:schemeClr val="accent1"/>
                </a:solidFill>
              </a:rPr>
              <a:t>The diagram shows the correlation between body mass and the maximum longevity for various animals grouped by their classes. </a:t>
            </a:r>
          </a:p>
          <a:p>
            <a:pPr marL="0" indent="0">
              <a:buNone/>
            </a:pPr>
            <a:r>
              <a:rPr lang="en-US" sz="1700" dirty="0">
                <a:solidFill>
                  <a:schemeClr val="accent1"/>
                </a:solidFill>
              </a:rPr>
              <a:t>There is a positive correlation between body mass and maximum longevity:</a:t>
            </a:r>
            <a:endParaRPr lang="en-US" sz="1700" dirty="0"/>
          </a:p>
        </p:txBody>
      </p:sp>
      <p:sp>
        <p:nvSpPr>
          <p:cNvPr id="4" name="頁尾版面配置區 3">
            <a:extLst>
              <a:ext uri="{FF2B5EF4-FFF2-40B4-BE49-F238E27FC236}">
                <a16:creationId xmlns:a16="http://schemas.microsoft.com/office/drawing/2014/main" id="{4321BB31-863C-434D-9921-ADDB9CBD49A3}"/>
              </a:ext>
            </a:extLst>
          </p:cNvPr>
          <p:cNvSpPr>
            <a:spLocks noGrp="1"/>
          </p:cNvSpPr>
          <p:nvPr>
            <p:ph type="ftr" sz="quarter" idx="11"/>
          </p:nvPr>
        </p:nvSpPr>
        <p:spPr/>
        <p:txBody>
          <a:bodyPr/>
          <a:lstStyle/>
          <a:p>
            <a:pPr algn="r"/>
            <a:fld id="{215E7548-F18C-4C4B-B96B-B6533EE29CBB}" type="slidenum">
              <a:rPr lang="en-US" altLang="zh-MO" smtClean="0"/>
              <a:pPr algn="r"/>
              <a:t>26</a:t>
            </a:fld>
            <a:endParaRPr lang="en-US" dirty="0"/>
          </a:p>
        </p:txBody>
      </p:sp>
      <p:sp>
        <p:nvSpPr>
          <p:cNvPr id="5" name="文字版面配置區 4">
            <a:extLst>
              <a:ext uri="{FF2B5EF4-FFF2-40B4-BE49-F238E27FC236}">
                <a16:creationId xmlns:a16="http://schemas.microsoft.com/office/drawing/2014/main" id="{96D96DA7-63BE-4A6D-918C-73A25183ECFD}"/>
              </a:ext>
            </a:extLst>
          </p:cNvPr>
          <p:cNvSpPr>
            <a:spLocks noGrp="1"/>
          </p:cNvSpPr>
          <p:nvPr>
            <p:ph type="body" sz="quarter" idx="13"/>
          </p:nvPr>
        </p:nvSpPr>
        <p:spPr>
          <a:xfrm>
            <a:off x="838200" y="676829"/>
            <a:ext cx="8667143" cy="639324"/>
          </a:xfrm>
        </p:spPr>
        <p:txBody>
          <a:bodyPr>
            <a:noAutofit/>
          </a:bodyPr>
          <a:lstStyle/>
          <a:p>
            <a:r>
              <a:rPr lang="en-US" altLang="zh-MO" sz="3200" dirty="0">
                <a:solidFill>
                  <a:srgbClr val="C00000"/>
                </a:solidFill>
              </a:rPr>
              <a:t>CISC7204 Data Science and Data Visualization</a:t>
            </a:r>
            <a:endParaRPr lang="zh-MO" altLang="en-US" sz="3200" dirty="0"/>
          </a:p>
        </p:txBody>
      </p:sp>
      <p:pic>
        <p:nvPicPr>
          <p:cNvPr id="6" name="圖片 5"/>
          <p:cNvPicPr>
            <a:picLocks noChangeAspect="1"/>
          </p:cNvPicPr>
          <p:nvPr/>
        </p:nvPicPr>
        <p:blipFill>
          <a:blip r:embed="rId2"/>
          <a:stretch>
            <a:fillRect/>
          </a:stretch>
        </p:blipFill>
        <p:spPr>
          <a:xfrm>
            <a:off x="2700337" y="1788807"/>
            <a:ext cx="7086601" cy="4392364"/>
          </a:xfrm>
          <a:prstGeom prst="rect">
            <a:avLst/>
          </a:prstGeom>
        </p:spPr>
      </p:pic>
      <p:sp>
        <p:nvSpPr>
          <p:cNvPr id="7" name="矩形 6"/>
          <p:cNvSpPr/>
          <p:nvPr/>
        </p:nvSpPr>
        <p:spPr>
          <a:xfrm>
            <a:off x="10048461" y="2059806"/>
            <a:ext cx="1671637" cy="1754326"/>
          </a:xfrm>
          <a:prstGeom prst="rect">
            <a:avLst/>
          </a:prstGeom>
        </p:spPr>
        <p:txBody>
          <a:bodyPr wrap="square">
            <a:spAutoFit/>
          </a:bodyPr>
          <a:lstStyle/>
          <a:p>
            <a:r>
              <a:rPr lang="en-US" altLang="zh-HK" dirty="0"/>
              <a:t>Correlation between body mass and maximum longevity for animals</a:t>
            </a:r>
            <a:endParaRPr lang="zh-HK" altLang="en-US" dirty="0"/>
          </a:p>
        </p:txBody>
      </p:sp>
    </p:spTree>
    <p:extLst>
      <p:ext uri="{BB962C8B-B14F-4D97-AF65-F5344CB8AC3E}">
        <p14:creationId xmlns:p14="http://schemas.microsoft.com/office/powerpoint/2010/main" val="166442917"/>
      </p:ext>
    </p:extLst>
  </p:cSld>
  <p:clrMapOvr>
    <a:masterClrMapping/>
  </p:clrMapOvr>
  <mc:AlternateContent xmlns:mc="http://schemas.openxmlformats.org/markup-compatibility/2006" xmlns:p14="http://schemas.microsoft.com/office/powerpoint/2010/main">
    <mc:Choice Requires="p14">
      <p:transition spd="slow" p14:dur="2000" advTm="30010"/>
    </mc:Choice>
    <mc:Fallback xmlns="">
      <p:transition spd="slow" advTm="30010"/>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2C39319-C3EB-463D-A73C-2DEA9D750625}"/>
              </a:ext>
            </a:extLst>
          </p:cNvPr>
          <p:cNvSpPr>
            <a:spLocks noGrp="1"/>
          </p:cNvSpPr>
          <p:nvPr>
            <p:ph type="title"/>
          </p:nvPr>
        </p:nvSpPr>
        <p:spPr/>
        <p:txBody>
          <a:bodyPr>
            <a:normAutofit/>
          </a:bodyPr>
          <a:lstStyle/>
          <a:p>
            <a:r>
              <a:rPr lang="en-US" altLang="zh-MO" sz="2800" dirty="0"/>
              <a:t> Introduction to Data Visualization Plots</a:t>
            </a:r>
            <a:endParaRPr lang="zh-MO" altLang="en-US" sz="2800" dirty="0"/>
          </a:p>
        </p:txBody>
      </p:sp>
      <p:sp>
        <p:nvSpPr>
          <p:cNvPr id="3" name="內容版面配置區 2">
            <a:extLst>
              <a:ext uri="{FF2B5EF4-FFF2-40B4-BE49-F238E27FC236}">
                <a16:creationId xmlns:a16="http://schemas.microsoft.com/office/drawing/2014/main" id="{72697A5A-2B81-4055-BE38-FBF0028B433F}"/>
              </a:ext>
            </a:extLst>
          </p:cNvPr>
          <p:cNvSpPr>
            <a:spLocks noGrp="1"/>
          </p:cNvSpPr>
          <p:nvPr>
            <p:ph idx="1"/>
          </p:nvPr>
        </p:nvSpPr>
        <p:spPr>
          <a:xfrm>
            <a:off x="958466" y="1825625"/>
            <a:ext cx="10513098" cy="4355546"/>
          </a:xfrm>
        </p:spPr>
        <p:txBody>
          <a:bodyPr anchor="ctr">
            <a:normAutofit/>
          </a:bodyPr>
          <a:lstStyle/>
          <a:p>
            <a:pPr marL="0" indent="0">
              <a:buNone/>
            </a:pPr>
            <a:r>
              <a:rPr lang="en-US" altLang="zh-MO" b="1" dirty="0">
                <a:solidFill>
                  <a:schemeClr val="accent4">
                    <a:lumMod val="75000"/>
                  </a:schemeClr>
                </a:solidFill>
              </a:rPr>
              <a:t>Part 3: Relation Plots</a:t>
            </a:r>
          </a:p>
          <a:p>
            <a:pPr marL="0" indent="0">
              <a:buNone/>
            </a:pPr>
            <a:r>
              <a:rPr lang="en-US" sz="2600" b="1" dirty="0">
                <a:solidFill>
                  <a:srgbClr val="FF0000"/>
                </a:solidFill>
              </a:rPr>
              <a:t>Scatter Plot – </a:t>
            </a:r>
            <a:r>
              <a:rPr lang="en-US" sz="2600" b="1" dirty="0">
                <a:solidFill>
                  <a:schemeClr val="accent1"/>
                </a:solidFill>
              </a:rPr>
              <a:t>Design Practices</a:t>
            </a:r>
          </a:p>
          <a:p>
            <a:r>
              <a:rPr lang="en-US" sz="2600" b="1" dirty="0"/>
              <a:t>Start both axes at zero to represent data accurately.</a:t>
            </a:r>
          </a:p>
          <a:p>
            <a:r>
              <a:rPr lang="en-US" sz="2600" b="1" dirty="0"/>
              <a:t>Use contrasting colors for data points and avoid using symbols for scatter plots with multiple groups or categories.</a:t>
            </a:r>
          </a:p>
        </p:txBody>
      </p:sp>
      <p:sp>
        <p:nvSpPr>
          <p:cNvPr id="4" name="頁尾版面配置區 3">
            <a:extLst>
              <a:ext uri="{FF2B5EF4-FFF2-40B4-BE49-F238E27FC236}">
                <a16:creationId xmlns:a16="http://schemas.microsoft.com/office/drawing/2014/main" id="{4321BB31-863C-434D-9921-ADDB9CBD49A3}"/>
              </a:ext>
            </a:extLst>
          </p:cNvPr>
          <p:cNvSpPr>
            <a:spLocks noGrp="1"/>
          </p:cNvSpPr>
          <p:nvPr>
            <p:ph type="ftr" sz="quarter" idx="11"/>
          </p:nvPr>
        </p:nvSpPr>
        <p:spPr/>
        <p:txBody>
          <a:bodyPr/>
          <a:lstStyle/>
          <a:p>
            <a:pPr algn="r"/>
            <a:fld id="{215E7548-F18C-4C4B-B96B-B6533EE29CBB}" type="slidenum">
              <a:rPr lang="en-US" altLang="zh-MO" smtClean="0"/>
              <a:pPr algn="r"/>
              <a:t>27</a:t>
            </a:fld>
            <a:endParaRPr lang="en-US" dirty="0"/>
          </a:p>
        </p:txBody>
      </p:sp>
      <p:sp>
        <p:nvSpPr>
          <p:cNvPr id="5" name="文字版面配置區 4">
            <a:extLst>
              <a:ext uri="{FF2B5EF4-FFF2-40B4-BE49-F238E27FC236}">
                <a16:creationId xmlns:a16="http://schemas.microsoft.com/office/drawing/2014/main" id="{96D96DA7-63BE-4A6D-918C-73A25183ECFD}"/>
              </a:ext>
            </a:extLst>
          </p:cNvPr>
          <p:cNvSpPr>
            <a:spLocks noGrp="1"/>
          </p:cNvSpPr>
          <p:nvPr>
            <p:ph type="body" sz="quarter" idx="13"/>
          </p:nvPr>
        </p:nvSpPr>
        <p:spPr>
          <a:xfrm>
            <a:off x="838200" y="676829"/>
            <a:ext cx="8667143" cy="639324"/>
          </a:xfrm>
        </p:spPr>
        <p:txBody>
          <a:bodyPr>
            <a:noAutofit/>
          </a:bodyPr>
          <a:lstStyle/>
          <a:p>
            <a:r>
              <a:rPr lang="en-US" altLang="zh-MO" sz="3200" dirty="0">
                <a:solidFill>
                  <a:srgbClr val="C00000"/>
                </a:solidFill>
              </a:rPr>
              <a:t>CISC7204 Data Science and Data Visualization</a:t>
            </a:r>
            <a:endParaRPr lang="zh-MO" altLang="en-US" sz="3200" dirty="0"/>
          </a:p>
        </p:txBody>
      </p:sp>
    </p:spTree>
    <p:extLst>
      <p:ext uri="{BB962C8B-B14F-4D97-AF65-F5344CB8AC3E}">
        <p14:creationId xmlns:p14="http://schemas.microsoft.com/office/powerpoint/2010/main" val="3093783892"/>
      </p:ext>
    </p:extLst>
  </p:cSld>
  <p:clrMapOvr>
    <a:masterClrMapping/>
  </p:clrMapOvr>
  <mc:AlternateContent xmlns:mc="http://schemas.openxmlformats.org/markup-compatibility/2006" xmlns:p14="http://schemas.microsoft.com/office/powerpoint/2010/main">
    <mc:Choice Requires="p14">
      <p:transition spd="slow" p14:dur="2000" advTm="30010"/>
    </mc:Choice>
    <mc:Fallback xmlns="">
      <p:transition spd="slow" advTm="30010"/>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2C39319-C3EB-463D-A73C-2DEA9D750625}"/>
              </a:ext>
            </a:extLst>
          </p:cNvPr>
          <p:cNvSpPr>
            <a:spLocks noGrp="1"/>
          </p:cNvSpPr>
          <p:nvPr>
            <p:ph type="title"/>
          </p:nvPr>
        </p:nvSpPr>
        <p:spPr/>
        <p:txBody>
          <a:bodyPr>
            <a:normAutofit/>
          </a:bodyPr>
          <a:lstStyle/>
          <a:p>
            <a:r>
              <a:rPr lang="en-US" altLang="zh-MO" sz="2800" dirty="0"/>
              <a:t> Introduction to Data Visualization Plots</a:t>
            </a:r>
            <a:endParaRPr lang="zh-MO" altLang="en-US" sz="2800" dirty="0"/>
          </a:p>
        </p:txBody>
      </p:sp>
      <p:sp>
        <p:nvSpPr>
          <p:cNvPr id="3" name="內容版面配置區 2">
            <a:extLst>
              <a:ext uri="{FF2B5EF4-FFF2-40B4-BE49-F238E27FC236}">
                <a16:creationId xmlns:a16="http://schemas.microsoft.com/office/drawing/2014/main" id="{72697A5A-2B81-4055-BE38-FBF0028B433F}"/>
              </a:ext>
            </a:extLst>
          </p:cNvPr>
          <p:cNvSpPr>
            <a:spLocks noGrp="1"/>
          </p:cNvSpPr>
          <p:nvPr>
            <p:ph idx="1"/>
          </p:nvPr>
        </p:nvSpPr>
        <p:spPr>
          <a:xfrm>
            <a:off x="958466" y="1825625"/>
            <a:ext cx="10513098" cy="4355546"/>
          </a:xfrm>
        </p:spPr>
        <p:txBody>
          <a:bodyPr anchor="ctr">
            <a:normAutofit/>
          </a:bodyPr>
          <a:lstStyle/>
          <a:p>
            <a:pPr marL="0" indent="0">
              <a:buNone/>
            </a:pPr>
            <a:r>
              <a:rPr lang="en-US" altLang="zh-MO" b="1" dirty="0">
                <a:solidFill>
                  <a:schemeClr val="accent4">
                    <a:lumMod val="75000"/>
                  </a:schemeClr>
                </a:solidFill>
              </a:rPr>
              <a:t>Part 3: Relation Plots</a:t>
            </a:r>
          </a:p>
          <a:p>
            <a:pPr marL="0" indent="0">
              <a:buNone/>
            </a:pPr>
            <a:r>
              <a:rPr lang="en-US" sz="2600" b="1" dirty="0">
                <a:solidFill>
                  <a:srgbClr val="FF0000"/>
                </a:solidFill>
              </a:rPr>
              <a:t>Scatter Plot – </a:t>
            </a:r>
            <a:r>
              <a:rPr lang="en-US" sz="2600" b="1" dirty="0">
                <a:solidFill>
                  <a:schemeClr val="accent1"/>
                </a:solidFill>
              </a:rPr>
              <a:t>Variants</a:t>
            </a:r>
          </a:p>
          <a:p>
            <a:pPr marL="0" indent="0">
              <a:buNone/>
            </a:pPr>
            <a:r>
              <a:rPr lang="en-US" sz="2600" b="1" dirty="0">
                <a:solidFill>
                  <a:schemeClr val="accent1"/>
                </a:solidFill>
              </a:rPr>
              <a:t>Scatter Plots with Marginal Histograms</a:t>
            </a:r>
          </a:p>
          <a:p>
            <a:r>
              <a:rPr lang="en-US" sz="2600" b="1" dirty="0"/>
              <a:t>In addition to the scatter plot, which visualizes the correlation between two numerical variables, you can plot the marginal distribution for each variable in the form of histograms to give better insight into how each variable is distributed.</a:t>
            </a:r>
          </a:p>
        </p:txBody>
      </p:sp>
      <p:sp>
        <p:nvSpPr>
          <p:cNvPr id="4" name="頁尾版面配置區 3">
            <a:extLst>
              <a:ext uri="{FF2B5EF4-FFF2-40B4-BE49-F238E27FC236}">
                <a16:creationId xmlns:a16="http://schemas.microsoft.com/office/drawing/2014/main" id="{4321BB31-863C-434D-9921-ADDB9CBD49A3}"/>
              </a:ext>
            </a:extLst>
          </p:cNvPr>
          <p:cNvSpPr>
            <a:spLocks noGrp="1"/>
          </p:cNvSpPr>
          <p:nvPr>
            <p:ph type="ftr" sz="quarter" idx="11"/>
          </p:nvPr>
        </p:nvSpPr>
        <p:spPr/>
        <p:txBody>
          <a:bodyPr/>
          <a:lstStyle/>
          <a:p>
            <a:pPr algn="r"/>
            <a:fld id="{215E7548-F18C-4C4B-B96B-B6533EE29CBB}" type="slidenum">
              <a:rPr lang="en-US" altLang="zh-MO" smtClean="0"/>
              <a:pPr algn="r"/>
              <a:t>28</a:t>
            </a:fld>
            <a:endParaRPr lang="en-US" dirty="0"/>
          </a:p>
        </p:txBody>
      </p:sp>
      <p:sp>
        <p:nvSpPr>
          <p:cNvPr id="5" name="文字版面配置區 4">
            <a:extLst>
              <a:ext uri="{FF2B5EF4-FFF2-40B4-BE49-F238E27FC236}">
                <a16:creationId xmlns:a16="http://schemas.microsoft.com/office/drawing/2014/main" id="{96D96DA7-63BE-4A6D-918C-73A25183ECFD}"/>
              </a:ext>
            </a:extLst>
          </p:cNvPr>
          <p:cNvSpPr>
            <a:spLocks noGrp="1"/>
          </p:cNvSpPr>
          <p:nvPr>
            <p:ph type="body" sz="quarter" idx="13"/>
          </p:nvPr>
        </p:nvSpPr>
        <p:spPr>
          <a:xfrm>
            <a:off x="838200" y="676829"/>
            <a:ext cx="8667143" cy="639324"/>
          </a:xfrm>
        </p:spPr>
        <p:txBody>
          <a:bodyPr>
            <a:noAutofit/>
          </a:bodyPr>
          <a:lstStyle/>
          <a:p>
            <a:r>
              <a:rPr lang="en-US" altLang="zh-MO" sz="3200" dirty="0">
                <a:solidFill>
                  <a:srgbClr val="C00000"/>
                </a:solidFill>
              </a:rPr>
              <a:t>CISC7204 Data Science and Data Visualization</a:t>
            </a:r>
            <a:endParaRPr lang="zh-MO" altLang="en-US" sz="3200" dirty="0"/>
          </a:p>
        </p:txBody>
      </p:sp>
    </p:spTree>
    <p:extLst>
      <p:ext uri="{BB962C8B-B14F-4D97-AF65-F5344CB8AC3E}">
        <p14:creationId xmlns:p14="http://schemas.microsoft.com/office/powerpoint/2010/main" val="691662078"/>
      </p:ext>
    </p:extLst>
  </p:cSld>
  <p:clrMapOvr>
    <a:masterClrMapping/>
  </p:clrMapOvr>
  <mc:AlternateContent xmlns:mc="http://schemas.openxmlformats.org/markup-compatibility/2006" xmlns:p14="http://schemas.microsoft.com/office/powerpoint/2010/main">
    <mc:Choice Requires="p14">
      <p:transition spd="slow" p14:dur="2000" advTm="30010"/>
    </mc:Choice>
    <mc:Fallback xmlns="">
      <p:transition spd="slow" advTm="30010"/>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2C39319-C3EB-463D-A73C-2DEA9D750625}"/>
              </a:ext>
            </a:extLst>
          </p:cNvPr>
          <p:cNvSpPr>
            <a:spLocks noGrp="1"/>
          </p:cNvSpPr>
          <p:nvPr>
            <p:ph type="title"/>
          </p:nvPr>
        </p:nvSpPr>
        <p:spPr/>
        <p:txBody>
          <a:bodyPr>
            <a:normAutofit/>
          </a:bodyPr>
          <a:lstStyle/>
          <a:p>
            <a:r>
              <a:rPr lang="en-US" altLang="zh-MO" sz="2800" dirty="0"/>
              <a:t> Introduction to Data Visualization Plots</a:t>
            </a:r>
            <a:endParaRPr lang="zh-MO" altLang="en-US" sz="2800" dirty="0"/>
          </a:p>
        </p:txBody>
      </p:sp>
      <p:sp>
        <p:nvSpPr>
          <p:cNvPr id="3" name="內容版面配置區 2">
            <a:extLst>
              <a:ext uri="{FF2B5EF4-FFF2-40B4-BE49-F238E27FC236}">
                <a16:creationId xmlns:a16="http://schemas.microsoft.com/office/drawing/2014/main" id="{72697A5A-2B81-4055-BE38-FBF0028B433F}"/>
              </a:ext>
            </a:extLst>
          </p:cNvPr>
          <p:cNvSpPr>
            <a:spLocks noGrp="1"/>
          </p:cNvSpPr>
          <p:nvPr>
            <p:ph idx="1"/>
          </p:nvPr>
        </p:nvSpPr>
        <p:spPr>
          <a:xfrm>
            <a:off x="958466" y="1825625"/>
            <a:ext cx="1870459" cy="4355546"/>
          </a:xfrm>
        </p:spPr>
        <p:txBody>
          <a:bodyPr anchor="ctr">
            <a:normAutofit fontScale="55000" lnSpcReduction="20000"/>
          </a:bodyPr>
          <a:lstStyle/>
          <a:p>
            <a:pPr marL="0" indent="0">
              <a:buNone/>
            </a:pPr>
            <a:r>
              <a:rPr lang="en-US" altLang="zh-MO" b="1" dirty="0">
                <a:solidFill>
                  <a:schemeClr val="accent4">
                    <a:lumMod val="75000"/>
                  </a:schemeClr>
                </a:solidFill>
              </a:rPr>
              <a:t>Part 3: Relation Plots</a:t>
            </a:r>
          </a:p>
          <a:p>
            <a:pPr marL="0" indent="0">
              <a:buNone/>
            </a:pPr>
            <a:r>
              <a:rPr lang="en-US" sz="2600" b="1" dirty="0">
                <a:solidFill>
                  <a:schemeClr val="accent1"/>
                </a:solidFill>
              </a:rPr>
              <a:t>Scatter Plots with Marginal Histograms</a:t>
            </a:r>
          </a:p>
          <a:p>
            <a:pPr marL="0" indent="0">
              <a:buNone/>
            </a:pPr>
            <a:r>
              <a:rPr lang="en-US" sz="2600" b="1" dirty="0">
                <a:solidFill>
                  <a:srgbClr val="FF0000"/>
                </a:solidFill>
              </a:rPr>
              <a:t>Example</a:t>
            </a:r>
          </a:p>
          <a:p>
            <a:r>
              <a:rPr lang="en-US" sz="2600" b="1" dirty="0"/>
              <a:t>The diagram shows the correlation between body mass and the maximum longevity for animals in the Aves class. </a:t>
            </a:r>
          </a:p>
          <a:p>
            <a:r>
              <a:rPr lang="en-US" sz="2600" b="1" dirty="0"/>
              <a:t>The marginal histograms are also shown, which helps to get a better insight into both variables:</a:t>
            </a:r>
          </a:p>
        </p:txBody>
      </p:sp>
      <p:sp>
        <p:nvSpPr>
          <p:cNvPr id="4" name="頁尾版面配置區 3">
            <a:extLst>
              <a:ext uri="{FF2B5EF4-FFF2-40B4-BE49-F238E27FC236}">
                <a16:creationId xmlns:a16="http://schemas.microsoft.com/office/drawing/2014/main" id="{4321BB31-863C-434D-9921-ADDB9CBD49A3}"/>
              </a:ext>
            </a:extLst>
          </p:cNvPr>
          <p:cNvSpPr>
            <a:spLocks noGrp="1"/>
          </p:cNvSpPr>
          <p:nvPr>
            <p:ph type="ftr" sz="quarter" idx="11"/>
          </p:nvPr>
        </p:nvSpPr>
        <p:spPr/>
        <p:txBody>
          <a:bodyPr/>
          <a:lstStyle/>
          <a:p>
            <a:pPr algn="r"/>
            <a:fld id="{215E7548-F18C-4C4B-B96B-B6533EE29CBB}" type="slidenum">
              <a:rPr lang="en-US" altLang="zh-MO" smtClean="0"/>
              <a:pPr algn="r"/>
              <a:t>29</a:t>
            </a:fld>
            <a:endParaRPr lang="en-US" dirty="0"/>
          </a:p>
        </p:txBody>
      </p:sp>
      <p:sp>
        <p:nvSpPr>
          <p:cNvPr id="5" name="文字版面配置區 4">
            <a:extLst>
              <a:ext uri="{FF2B5EF4-FFF2-40B4-BE49-F238E27FC236}">
                <a16:creationId xmlns:a16="http://schemas.microsoft.com/office/drawing/2014/main" id="{96D96DA7-63BE-4A6D-918C-73A25183ECFD}"/>
              </a:ext>
            </a:extLst>
          </p:cNvPr>
          <p:cNvSpPr>
            <a:spLocks noGrp="1"/>
          </p:cNvSpPr>
          <p:nvPr>
            <p:ph type="body" sz="quarter" idx="13"/>
          </p:nvPr>
        </p:nvSpPr>
        <p:spPr>
          <a:xfrm>
            <a:off x="838200" y="676829"/>
            <a:ext cx="8667143" cy="639324"/>
          </a:xfrm>
        </p:spPr>
        <p:txBody>
          <a:bodyPr>
            <a:noAutofit/>
          </a:bodyPr>
          <a:lstStyle/>
          <a:p>
            <a:r>
              <a:rPr lang="en-US" altLang="zh-MO" sz="3200" dirty="0">
                <a:solidFill>
                  <a:srgbClr val="C00000"/>
                </a:solidFill>
              </a:rPr>
              <a:t>CISC7204 Data Science and Data Visualization</a:t>
            </a:r>
            <a:endParaRPr lang="zh-MO" altLang="en-US" sz="3200" dirty="0"/>
          </a:p>
        </p:txBody>
      </p:sp>
      <p:pic>
        <p:nvPicPr>
          <p:cNvPr id="6" name="圖片 5"/>
          <p:cNvPicPr>
            <a:picLocks noChangeAspect="1"/>
          </p:cNvPicPr>
          <p:nvPr/>
        </p:nvPicPr>
        <p:blipFill>
          <a:blip r:embed="rId2"/>
          <a:stretch>
            <a:fillRect/>
          </a:stretch>
        </p:blipFill>
        <p:spPr>
          <a:xfrm>
            <a:off x="3328988" y="1779282"/>
            <a:ext cx="5472112" cy="4864406"/>
          </a:xfrm>
          <a:prstGeom prst="rect">
            <a:avLst/>
          </a:prstGeom>
        </p:spPr>
      </p:pic>
      <p:sp>
        <p:nvSpPr>
          <p:cNvPr id="7" name="矩形 6"/>
          <p:cNvSpPr/>
          <p:nvPr/>
        </p:nvSpPr>
        <p:spPr>
          <a:xfrm>
            <a:off x="9143069" y="1907599"/>
            <a:ext cx="2124075" cy="1754326"/>
          </a:xfrm>
          <a:prstGeom prst="rect">
            <a:avLst/>
          </a:prstGeom>
        </p:spPr>
        <p:txBody>
          <a:bodyPr wrap="square">
            <a:spAutoFit/>
          </a:bodyPr>
          <a:lstStyle/>
          <a:p>
            <a:r>
              <a:rPr lang="en-US" altLang="zh-HK" dirty="0"/>
              <a:t>Correlation between body mass and maximum longevity of the Aves class with marginal histograms</a:t>
            </a:r>
            <a:endParaRPr lang="zh-HK" altLang="en-US" dirty="0"/>
          </a:p>
        </p:txBody>
      </p:sp>
    </p:spTree>
    <p:extLst>
      <p:ext uri="{BB962C8B-B14F-4D97-AF65-F5344CB8AC3E}">
        <p14:creationId xmlns:p14="http://schemas.microsoft.com/office/powerpoint/2010/main" val="1495235058"/>
      </p:ext>
    </p:extLst>
  </p:cSld>
  <p:clrMapOvr>
    <a:masterClrMapping/>
  </p:clrMapOvr>
  <mc:AlternateContent xmlns:mc="http://schemas.openxmlformats.org/markup-compatibility/2006" xmlns:p14="http://schemas.microsoft.com/office/powerpoint/2010/main">
    <mc:Choice Requires="p14">
      <p:transition spd="slow" p14:dur="2000" advTm="30010"/>
    </mc:Choice>
    <mc:Fallback xmlns="">
      <p:transition spd="slow" advTm="30010"/>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2C39319-C3EB-463D-A73C-2DEA9D750625}"/>
              </a:ext>
            </a:extLst>
          </p:cNvPr>
          <p:cNvSpPr>
            <a:spLocks noGrp="1"/>
          </p:cNvSpPr>
          <p:nvPr>
            <p:ph type="title"/>
          </p:nvPr>
        </p:nvSpPr>
        <p:spPr/>
        <p:txBody>
          <a:bodyPr>
            <a:normAutofit/>
          </a:bodyPr>
          <a:lstStyle/>
          <a:p>
            <a:r>
              <a:rPr lang="en-US" altLang="zh-MO" sz="2800" dirty="0"/>
              <a:t> Introduction to Data Visualization Plots</a:t>
            </a:r>
            <a:endParaRPr lang="zh-MO" altLang="en-US" sz="2800" dirty="0"/>
          </a:p>
        </p:txBody>
      </p:sp>
      <p:sp>
        <p:nvSpPr>
          <p:cNvPr id="3" name="內容版面配置區 2">
            <a:extLst>
              <a:ext uri="{FF2B5EF4-FFF2-40B4-BE49-F238E27FC236}">
                <a16:creationId xmlns:a16="http://schemas.microsoft.com/office/drawing/2014/main" id="{72697A5A-2B81-4055-BE38-FBF0028B433F}"/>
              </a:ext>
            </a:extLst>
          </p:cNvPr>
          <p:cNvSpPr>
            <a:spLocks noGrp="1"/>
          </p:cNvSpPr>
          <p:nvPr>
            <p:ph idx="1"/>
          </p:nvPr>
        </p:nvSpPr>
        <p:spPr>
          <a:xfrm>
            <a:off x="958466" y="1825625"/>
            <a:ext cx="10513098" cy="4355546"/>
          </a:xfrm>
        </p:spPr>
        <p:txBody>
          <a:bodyPr anchor="ctr">
            <a:normAutofit/>
          </a:bodyPr>
          <a:lstStyle/>
          <a:p>
            <a:pPr marL="0" indent="0">
              <a:buNone/>
            </a:pPr>
            <a:r>
              <a:rPr lang="en-US" altLang="zh-MO" b="1" dirty="0">
                <a:solidFill>
                  <a:schemeClr val="accent4">
                    <a:lumMod val="75000"/>
                  </a:schemeClr>
                </a:solidFill>
              </a:rPr>
              <a:t>Part 3: Relation Plots</a:t>
            </a:r>
          </a:p>
          <a:p>
            <a:pPr marL="0" indent="0">
              <a:buNone/>
            </a:pPr>
            <a:r>
              <a:rPr lang="en-US" sz="2600" b="1" dirty="0">
                <a:solidFill>
                  <a:srgbClr val="FF0000"/>
                </a:solidFill>
              </a:rPr>
              <a:t>Bubble Plot</a:t>
            </a:r>
            <a:endParaRPr lang="en-US" sz="2600" b="1" dirty="0">
              <a:solidFill>
                <a:schemeClr val="accent1"/>
              </a:solidFill>
            </a:endParaRPr>
          </a:p>
          <a:p>
            <a:r>
              <a:rPr lang="en-US" sz="2600" b="1" dirty="0"/>
              <a:t>A bubble plot extends a scatter plot by introducing a third numerical variable. The value of the variable is represented by the size of the dots. The area of the dots is proportional to the value. A legend is used to link the size of the dot to an actual numerical value.</a:t>
            </a:r>
          </a:p>
          <a:p>
            <a:pPr marL="0" indent="0">
              <a:buNone/>
            </a:pPr>
            <a:r>
              <a:rPr lang="en-US" sz="2600" b="1" dirty="0">
                <a:solidFill>
                  <a:schemeClr val="accent1"/>
                </a:solidFill>
              </a:rPr>
              <a:t>Use</a:t>
            </a:r>
          </a:p>
          <a:p>
            <a:r>
              <a:rPr lang="en-US" altLang="zh-HK" sz="2600" b="1" dirty="0"/>
              <a:t>Bubble plots help to show a correlation between three variables.</a:t>
            </a:r>
            <a:endParaRPr lang="en-US" sz="2600" b="1" dirty="0"/>
          </a:p>
        </p:txBody>
      </p:sp>
      <p:sp>
        <p:nvSpPr>
          <p:cNvPr id="4" name="頁尾版面配置區 3">
            <a:extLst>
              <a:ext uri="{FF2B5EF4-FFF2-40B4-BE49-F238E27FC236}">
                <a16:creationId xmlns:a16="http://schemas.microsoft.com/office/drawing/2014/main" id="{4321BB31-863C-434D-9921-ADDB9CBD49A3}"/>
              </a:ext>
            </a:extLst>
          </p:cNvPr>
          <p:cNvSpPr>
            <a:spLocks noGrp="1"/>
          </p:cNvSpPr>
          <p:nvPr>
            <p:ph type="ftr" sz="quarter" idx="11"/>
          </p:nvPr>
        </p:nvSpPr>
        <p:spPr/>
        <p:txBody>
          <a:bodyPr/>
          <a:lstStyle/>
          <a:p>
            <a:pPr algn="r"/>
            <a:fld id="{215E7548-F18C-4C4B-B96B-B6533EE29CBB}" type="slidenum">
              <a:rPr lang="en-US" altLang="zh-MO" smtClean="0"/>
              <a:pPr algn="r"/>
              <a:t>30</a:t>
            </a:fld>
            <a:endParaRPr lang="en-US" dirty="0"/>
          </a:p>
        </p:txBody>
      </p:sp>
      <p:sp>
        <p:nvSpPr>
          <p:cNvPr id="5" name="文字版面配置區 4">
            <a:extLst>
              <a:ext uri="{FF2B5EF4-FFF2-40B4-BE49-F238E27FC236}">
                <a16:creationId xmlns:a16="http://schemas.microsoft.com/office/drawing/2014/main" id="{96D96DA7-63BE-4A6D-918C-73A25183ECFD}"/>
              </a:ext>
            </a:extLst>
          </p:cNvPr>
          <p:cNvSpPr>
            <a:spLocks noGrp="1"/>
          </p:cNvSpPr>
          <p:nvPr>
            <p:ph type="body" sz="quarter" idx="13"/>
          </p:nvPr>
        </p:nvSpPr>
        <p:spPr>
          <a:xfrm>
            <a:off x="838200" y="676829"/>
            <a:ext cx="8667143" cy="639324"/>
          </a:xfrm>
        </p:spPr>
        <p:txBody>
          <a:bodyPr>
            <a:noAutofit/>
          </a:bodyPr>
          <a:lstStyle/>
          <a:p>
            <a:r>
              <a:rPr lang="en-US" altLang="zh-MO" sz="3200" dirty="0">
                <a:solidFill>
                  <a:srgbClr val="C00000"/>
                </a:solidFill>
              </a:rPr>
              <a:t>CISC7204 Data Science and Data Visualization</a:t>
            </a:r>
            <a:endParaRPr lang="zh-MO" altLang="en-US" sz="3200" dirty="0"/>
          </a:p>
        </p:txBody>
      </p:sp>
    </p:spTree>
    <p:extLst>
      <p:ext uri="{BB962C8B-B14F-4D97-AF65-F5344CB8AC3E}">
        <p14:creationId xmlns:p14="http://schemas.microsoft.com/office/powerpoint/2010/main" val="2576423117"/>
      </p:ext>
    </p:extLst>
  </p:cSld>
  <p:clrMapOvr>
    <a:masterClrMapping/>
  </p:clrMapOvr>
  <mc:AlternateContent xmlns:mc="http://schemas.openxmlformats.org/markup-compatibility/2006" xmlns:p14="http://schemas.microsoft.com/office/powerpoint/2010/main">
    <mc:Choice Requires="p14">
      <p:transition spd="slow" p14:dur="2000" advTm="30010"/>
    </mc:Choice>
    <mc:Fallback xmlns="">
      <p:transition spd="slow" advTm="30010"/>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2C39319-C3EB-463D-A73C-2DEA9D750625}"/>
              </a:ext>
            </a:extLst>
          </p:cNvPr>
          <p:cNvSpPr>
            <a:spLocks noGrp="1"/>
          </p:cNvSpPr>
          <p:nvPr>
            <p:ph type="title"/>
          </p:nvPr>
        </p:nvSpPr>
        <p:spPr/>
        <p:txBody>
          <a:bodyPr>
            <a:normAutofit/>
          </a:bodyPr>
          <a:lstStyle/>
          <a:p>
            <a:r>
              <a:rPr lang="en-US" altLang="zh-MO" sz="2800" dirty="0"/>
              <a:t> Introduction to Data Visualization Plots</a:t>
            </a:r>
            <a:endParaRPr lang="zh-MO" altLang="en-US" sz="2800" dirty="0"/>
          </a:p>
        </p:txBody>
      </p:sp>
      <p:sp>
        <p:nvSpPr>
          <p:cNvPr id="3" name="內容版面配置區 2">
            <a:extLst>
              <a:ext uri="{FF2B5EF4-FFF2-40B4-BE49-F238E27FC236}">
                <a16:creationId xmlns:a16="http://schemas.microsoft.com/office/drawing/2014/main" id="{72697A5A-2B81-4055-BE38-FBF0028B433F}"/>
              </a:ext>
            </a:extLst>
          </p:cNvPr>
          <p:cNvSpPr>
            <a:spLocks noGrp="1"/>
          </p:cNvSpPr>
          <p:nvPr>
            <p:ph idx="1"/>
          </p:nvPr>
        </p:nvSpPr>
        <p:spPr>
          <a:xfrm>
            <a:off x="958466" y="1825625"/>
            <a:ext cx="1870459" cy="4355546"/>
          </a:xfrm>
        </p:spPr>
        <p:txBody>
          <a:bodyPr anchor="ctr">
            <a:normAutofit fontScale="70000" lnSpcReduction="20000"/>
          </a:bodyPr>
          <a:lstStyle/>
          <a:p>
            <a:pPr marL="0" indent="0">
              <a:buNone/>
            </a:pPr>
            <a:r>
              <a:rPr lang="en-US" altLang="zh-MO" b="1" dirty="0">
                <a:solidFill>
                  <a:schemeClr val="accent4">
                    <a:lumMod val="75000"/>
                  </a:schemeClr>
                </a:solidFill>
              </a:rPr>
              <a:t>Part 3: Relation Plots</a:t>
            </a:r>
          </a:p>
          <a:p>
            <a:pPr marL="0" indent="0">
              <a:buNone/>
            </a:pPr>
            <a:r>
              <a:rPr lang="en-US" sz="2600" b="1" dirty="0">
                <a:solidFill>
                  <a:schemeClr val="accent1"/>
                </a:solidFill>
              </a:rPr>
              <a:t>Bubble Plots </a:t>
            </a:r>
          </a:p>
          <a:p>
            <a:pPr marL="0" indent="0">
              <a:buNone/>
            </a:pPr>
            <a:r>
              <a:rPr lang="en-US" sz="2600" b="1" dirty="0">
                <a:solidFill>
                  <a:srgbClr val="FF0000"/>
                </a:solidFill>
              </a:rPr>
              <a:t>Example</a:t>
            </a:r>
          </a:p>
          <a:p>
            <a:pPr marL="0" indent="0">
              <a:buNone/>
            </a:pPr>
            <a:r>
              <a:rPr lang="en-US" sz="2600" dirty="0"/>
              <a:t>The following diagram shows a bubble plot that highlights the relationship between heights and age of humans to get the weight of each person, which is represented by the size of the bubble:</a:t>
            </a:r>
          </a:p>
        </p:txBody>
      </p:sp>
      <p:sp>
        <p:nvSpPr>
          <p:cNvPr id="4" name="頁尾版面配置區 3">
            <a:extLst>
              <a:ext uri="{FF2B5EF4-FFF2-40B4-BE49-F238E27FC236}">
                <a16:creationId xmlns:a16="http://schemas.microsoft.com/office/drawing/2014/main" id="{4321BB31-863C-434D-9921-ADDB9CBD49A3}"/>
              </a:ext>
            </a:extLst>
          </p:cNvPr>
          <p:cNvSpPr>
            <a:spLocks noGrp="1"/>
          </p:cNvSpPr>
          <p:nvPr>
            <p:ph type="ftr" sz="quarter" idx="11"/>
          </p:nvPr>
        </p:nvSpPr>
        <p:spPr/>
        <p:txBody>
          <a:bodyPr/>
          <a:lstStyle/>
          <a:p>
            <a:pPr algn="r"/>
            <a:fld id="{215E7548-F18C-4C4B-B96B-B6533EE29CBB}" type="slidenum">
              <a:rPr lang="en-US" altLang="zh-MO" smtClean="0"/>
              <a:pPr algn="r"/>
              <a:t>31</a:t>
            </a:fld>
            <a:endParaRPr lang="en-US" dirty="0"/>
          </a:p>
        </p:txBody>
      </p:sp>
      <p:sp>
        <p:nvSpPr>
          <p:cNvPr id="5" name="文字版面配置區 4">
            <a:extLst>
              <a:ext uri="{FF2B5EF4-FFF2-40B4-BE49-F238E27FC236}">
                <a16:creationId xmlns:a16="http://schemas.microsoft.com/office/drawing/2014/main" id="{96D96DA7-63BE-4A6D-918C-73A25183ECFD}"/>
              </a:ext>
            </a:extLst>
          </p:cNvPr>
          <p:cNvSpPr>
            <a:spLocks noGrp="1"/>
          </p:cNvSpPr>
          <p:nvPr>
            <p:ph type="body" sz="quarter" idx="13"/>
          </p:nvPr>
        </p:nvSpPr>
        <p:spPr>
          <a:xfrm>
            <a:off x="838200" y="676829"/>
            <a:ext cx="8667143" cy="639324"/>
          </a:xfrm>
        </p:spPr>
        <p:txBody>
          <a:bodyPr>
            <a:noAutofit/>
          </a:bodyPr>
          <a:lstStyle/>
          <a:p>
            <a:r>
              <a:rPr lang="en-US" altLang="zh-MO" sz="3200" dirty="0">
                <a:solidFill>
                  <a:srgbClr val="C00000"/>
                </a:solidFill>
              </a:rPr>
              <a:t>CISC7204 Data Science and Data Visualization</a:t>
            </a:r>
            <a:endParaRPr lang="zh-MO" altLang="en-US" sz="3200" dirty="0"/>
          </a:p>
        </p:txBody>
      </p:sp>
      <p:pic>
        <p:nvPicPr>
          <p:cNvPr id="8" name="圖片 7"/>
          <p:cNvPicPr>
            <a:picLocks noChangeAspect="1"/>
          </p:cNvPicPr>
          <p:nvPr/>
        </p:nvPicPr>
        <p:blipFill>
          <a:blip r:embed="rId2"/>
          <a:stretch>
            <a:fillRect/>
          </a:stretch>
        </p:blipFill>
        <p:spPr>
          <a:xfrm>
            <a:off x="3128963" y="1957387"/>
            <a:ext cx="5815012" cy="4223783"/>
          </a:xfrm>
          <a:prstGeom prst="rect">
            <a:avLst/>
          </a:prstGeom>
        </p:spPr>
      </p:pic>
      <p:sp>
        <p:nvSpPr>
          <p:cNvPr id="9" name="矩形 8"/>
          <p:cNvSpPr/>
          <p:nvPr/>
        </p:nvSpPr>
        <p:spPr>
          <a:xfrm>
            <a:off x="9391650" y="2367171"/>
            <a:ext cx="2038350" cy="1477328"/>
          </a:xfrm>
          <a:prstGeom prst="rect">
            <a:avLst/>
          </a:prstGeom>
        </p:spPr>
        <p:txBody>
          <a:bodyPr wrap="square">
            <a:spAutoFit/>
          </a:bodyPr>
          <a:lstStyle/>
          <a:p>
            <a:r>
              <a:rPr lang="en-US" altLang="zh-HK" dirty="0"/>
              <a:t>Bubble plot showing the relation between height and age of humans</a:t>
            </a:r>
            <a:endParaRPr lang="zh-HK" altLang="en-US" dirty="0"/>
          </a:p>
        </p:txBody>
      </p:sp>
    </p:spTree>
    <p:extLst>
      <p:ext uri="{BB962C8B-B14F-4D97-AF65-F5344CB8AC3E}">
        <p14:creationId xmlns:p14="http://schemas.microsoft.com/office/powerpoint/2010/main" val="2953937894"/>
      </p:ext>
    </p:extLst>
  </p:cSld>
  <p:clrMapOvr>
    <a:masterClrMapping/>
  </p:clrMapOvr>
  <mc:AlternateContent xmlns:mc="http://schemas.openxmlformats.org/markup-compatibility/2006" xmlns:p14="http://schemas.microsoft.com/office/powerpoint/2010/main">
    <mc:Choice Requires="p14">
      <p:transition spd="slow" p14:dur="2000" advTm="30010"/>
    </mc:Choice>
    <mc:Fallback xmlns="">
      <p:transition spd="slow" advTm="30010"/>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2C39319-C3EB-463D-A73C-2DEA9D750625}"/>
              </a:ext>
            </a:extLst>
          </p:cNvPr>
          <p:cNvSpPr>
            <a:spLocks noGrp="1"/>
          </p:cNvSpPr>
          <p:nvPr>
            <p:ph type="title"/>
          </p:nvPr>
        </p:nvSpPr>
        <p:spPr/>
        <p:txBody>
          <a:bodyPr>
            <a:normAutofit/>
          </a:bodyPr>
          <a:lstStyle/>
          <a:p>
            <a:r>
              <a:rPr lang="en-US" altLang="zh-MO" sz="2800" dirty="0"/>
              <a:t> Introduction to Data Visualization Plots</a:t>
            </a:r>
            <a:endParaRPr lang="zh-MO" altLang="en-US" sz="2800" dirty="0"/>
          </a:p>
        </p:txBody>
      </p:sp>
      <p:sp>
        <p:nvSpPr>
          <p:cNvPr id="3" name="內容版面配置區 2">
            <a:extLst>
              <a:ext uri="{FF2B5EF4-FFF2-40B4-BE49-F238E27FC236}">
                <a16:creationId xmlns:a16="http://schemas.microsoft.com/office/drawing/2014/main" id="{72697A5A-2B81-4055-BE38-FBF0028B433F}"/>
              </a:ext>
            </a:extLst>
          </p:cNvPr>
          <p:cNvSpPr>
            <a:spLocks noGrp="1"/>
          </p:cNvSpPr>
          <p:nvPr>
            <p:ph idx="1"/>
          </p:nvPr>
        </p:nvSpPr>
        <p:spPr>
          <a:xfrm>
            <a:off x="958466" y="1825625"/>
            <a:ext cx="10513098" cy="4355546"/>
          </a:xfrm>
        </p:spPr>
        <p:txBody>
          <a:bodyPr anchor="ctr">
            <a:normAutofit/>
          </a:bodyPr>
          <a:lstStyle/>
          <a:p>
            <a:pPr marL="0" indent="0">
              <a:buNone/>
            </a:pPr>
            <a:r>
              <a:rPr lang="en-US" altLang="zh-MO" b="1" dirty="0">
                <a:solidFill>
                  <a:schemeClr val="accent4">
                    <a:lumMod val="75000"/>
                  </a:schemeClr>
                </a:solidFill>
              </a:rPr>
              <a:t>Part 3: Relation Plots</a:t>
            </a:r>
          </a:p>
          <a:p>
            <a:pPr marL="0" indent="0">
              <a:buNone/>
            </a:pPr>
            <a:r>
              <a:rPr lang="en-US" sz="2600" b="1" dirty="0">
                <a:solidFill>
                  <a:srgbClr val="FF0000"/>
                </a:solidFill>
              </a:rPr>
              <a:t>Bubble Plot – </a:t>
            </a:r>
            <a:r>
              <a:rPr lang="en-US" sz="2600" b="1" dirty="0">
                <a:solidFill>
                  <a:schemeClr val="accent1"/>
                </a:solidFill>
              </a:rPr>
              <a:t>Design Practices</a:t>
            </a:r>
          </a:p>
          <a:p>
            <a:r>
              <a:rPr lang="en-US" sz="2600" b="1" dirty="0"/>
              <a:t>The design practices for the scatter plot are also applicable to the bubble plot.</a:t>
            </a:r>
          </a:p>
          <a:p>
            <a:r>
              <a:rPr lang="en-US" sz="2600" b="1" dirty="0"/>
              <a:t>Don’t use bubble plots for very large amounts of data, since too many bubbles make the chart difficult to read.</a:t>
            </a:r>
          </a:p>
        </p:txBody>
      </p:sp>
      <p:sp>
        <p:nvSpPr>
          <p:cNvPr id="4" name="頁尾版面配置區 3">
            <a:extLst>
              <a:ext uri="{FF2B5EF4-FFF2-40B4-BE49-F238E27FC236}">
                <a16:creationId xmlns:a16="http://schemas.microsoft.com/office/drawing/2014/main" id="{4321BB31-863C-434D-9921-ADDB9CBD49A3}"/>
              </a:ext>
            </a:extLst>
          </p:cNvPr>
          <p:cNvSpPr>
            <a:spLocks noGrp="1"/>
          </p:cNvSpPr>
          <p:nvPr>
            <p:ph type="ftr" sz="quarter" idx="11"/>
          </p:nvPr>
        </p:nvSpPr>
        <p:spPr/>
        <p:txBody>
          <a:bodyPr/>
          <a:lstStyle/>
          <a:p>
            <a:pPr algn="r"/>
            <a:fld id="{215E7548-F18C-4C4B-B96B-B6533EE29CBB}" type="slidenum">
              <a:rPr lang="en-US" altLang="zh-MO" smtClean="0"/>
              <a:pPr algn="r"/>
              <a:t>32</a:t>
            </a:fld>
            <a:endParaRPr lang="en-US" dirty="0"/>
          </a:p>
        </p:txBody>
      </p:sp>
      <p:sp>
        <p:nvSpPr>
          <p:cNvPr id="5" name="文字版面配置區 4">
            <a:extLst>
              <a:ext uri="{FF2B5EF4-FFF2-40B4-BE49-F238E27FC236}">
                <a16:creationId xmlns:a16="http://schemas.microsoft.com/office/drawing/2014/main" id="{96D96DA7-63BE-4A6D-918C-73A25183ECFD}"/>
              </a:ext>
            </a:extLst>
          </p:cNvPr>
          <p:cNvSpPr>
            <a:spLocks noGrp="1"/>
          </p:cNvSpPr>
          <p:nvPr>
            <p:ph type="body" sz="quarter" idx="13"/>
          </p:nvPr>
        </p:nvSpPr>
        <p:spPr>
          <a:xfrm>
            <a:off x="838200" y="676829"/>
            <a:ext cx="8667143" cy="639324"/>
          </a:xfrm>
        </p:spPr>
        <p:txBody>
          <a:bodyPr>
            <a:noAutofit/>
          </a:bodyPr>
          <a:lstStyle/>
          <a:p>
            <a:r>
              <a:rPr lang="en-US" altLang="zh-MO" sz="3200" dirty="0">
                <a:solidFill>
                  <a:srgbClr val="C00000"/>
                </a:solidFill>
              </a:rPr>
              <a:t>CISC7204 Data Science and Data Visualization</a:t>
            </a:r>
            <a:endParaRPr lang="zh-MO" altLang="en-US" sz="3200" dirty="0"/>
          </a:p>
        </p:txBody>
      </p:sp>
    </p:spTree>
    <p:extLst>
      <p:ext uri="{BB962C8B-B14F-4D97-AF65-F5344CB8AC3E}">
        <p14:creationId xmlns:p14="http://schemas.microsoft.com/office/powerpoint/2010/main" val="3934432033"/>
      </p:ext>
    </p:extLst>
  </p:cSld>
  <p:clrMapOvr>
    <a:masterClrMapping/>
  </p:clrMapOvr>
  <mc:AlternateContent xmlns:mc="http://schemas.openxmlformats.org/markup-compatibility/2006" xmlns:p14="http://schemas.microsoft.com/office/powerpoint/2010/main">
    <mc:Choice Requires="p14">
      <p:transition spd="slow" p14:dur="2000" advTm="30010"/>
    </mc:Choice>
    <mc:Fallback xmlns="">
      <p:transition spd="slow" advTm="30010"/>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2C39319-C3EB-463D-A73C-2DEA9D750625}"/>
              </a:ext>
            </a:extLst>
          </p:cNvPr>
          <p:cNvSpPr>
            <a:spLocks noGrp="1"/>
          </p:cNvSpPr>
          <p:nvPr>
            <p:ph type="title"/>
          </p:nvPr>
        </p:nvSpPr>
        <p:spPr/>
        <p:txBody>
          <a:bodyPr>
            <a:normAutofit/>
          </a:bodyPr>
          <a:lstStyle/>
          <a:p>
            <a:r>
              <a:rPr lang="en-US" altLang="zh-MO" sz="2800" dirty="0"/>
              <a:t> Introduction to Data Visualization Plots</a:t>
            </a:r>
            <a:endParaRPr lang="zh-MO" altLang="en-US" sz="2800" dirty="0"/>
          </a:p>
        </p:txBody>
      </p:sp>
      <p:sp>
        <p:nvSpPr>
          <p:cNvPr id="3" name="內容版面配置區 2">
            <a:extLst>
              <a:ext uri="{FF2B5EF4-FFF2-40B4-BE49-F238E27FC236}">
                <a16:creationId xmlns:a16="http://schemas.microsoft.com/office/drawing/2014/main" id="{72697A5A-2B81-4055-BE38-FBF0028B433F}"/>
              </a:ext>
            </a:extLst>
          </p:cNvPr>
          <p:cNvSpPr>
            <a:spLocks noGrp="1"/>
          </p:cNvSpPr>
          <p:nvPr>
            <p:ph idx="1"/>
          </p:nvPr>
        </p:nvSpPr>
        <p:spPr>
          <a:xfrm>
            <a:off x="958466" y="1825625"/>
            <a:ext cx="10513098" cy="4355546"/>
          </a:xfrm>
        </p:spPr>
        <p:txBody>
          <a:bodyPr anchor="ctr">
            <a:normAutofit fontScale="92500" lnSpcReduction="10000"/>
          </a:bodyPr>
          <a:lstStyle/>
          <a:p>
            <a:pPr marL="0" indent="0">
              <a:buNone/>
            </a:pPr>
            <a:r>
              <a:rPr lang="en-US" altLang="zh-MO" b="1" dirty="0">
                <a:solidFill>
                  <a:schemeClr val="accent4">
                    <a:lumMod val="75000"/>
                  </a:schemeClr>
                </a:solidFill>
              </a:rPr>
              <a:t>Part 3: Relation Plots</a:t>
            </a:r>
          </a:p>
          <a:p>
            <a:pPr marL="0" indent="0">
              <a:buNone/>
            </a:pPr>
            <a:r>
              <a:rPr lang="en-US" sz="2600" b="1" dirty="0" err="1">
                <a:solidFill>
                  <a:srgbClr val="FF0000"/>
                </a:solidFill>
              </a:rPr>
              <a:t>Correlogram</a:t>
            </a:r>
            <a:endParaRPr lang="en-US" sz="2600" b="1" dirty="0">
              <a:solidFill>
                <a:schemeClr val="accent1"/>
              </a:solidFill>
            </a:endParaRPr>
          </a:p>
          <a:p>
            <a:r>
              <a:rPr lang="en-US" sz="2600" b="1" dirty="0"/>
              <a:t>A </a:t>
            </a:r>
            <a:r>
              <a:rPr lang="en-US" sz="2600" b="1" dirty="0" err="1"/>
              <a:t>correlogram</a:t>
            </a:r>
            <a:r>
              <a:rPr lang="en-US" sz="2600" b="1" dirty="0"/>
              <a:t> is a combination of scatter plots and histograms. Histograms will be discussed in detail later in this lecture. A </a:t>
            </a:r>
            <a:r>
              <a:rPr lang="en-US" sz="2600" b="1" dirty="0" err="1"/>
              <a:t>correlogram</a:t>
            </a:r>
            <a:r>
              <a:rPr lang="en-US" sz="2600" b="1" dirty="0"/>
              <a:t> or correlation matrix visualizes the relationship between each pair of numerical variables using a scatter plot.</a:t>
            </a:r>
          </a:p>
          <a:p>
            <a:r>
              <a:rPr lang="en-US" sz="2600" b="1" dirty="0"/>
              <a:t>The diagonals of the correlation matrix represent the distribution of each variable in the form of a histogram. You can also plot the relationship between multiple groups or categories using different colors. A </a:t>
            </a:r>
            <a:r>
              <a:rPr lang="en-US" sz="2600" b="1" dirty="0" err="1"/>
              <a:t>correlogram</a:t>
            </a:r>
            <a:r>
              <a:rPr lang="en-US" sz="2600" b="1" dirty="0"/>
              <a:t> is a great chart for exploratory data analysis to get a feel for your data, especially the correlation between variable pairs.</a:t>
            </a:r>
          </a:p>
        </p:txBody>
      </p:sp>
      <p:sp>
        <p:nvSpPr>
          <p:cNvPr id="4" name="頁尾版面配置區 3">
            <a:extLst>
              <a:ext uri="{FF2B5EF4-FFF2-40B4-BE49-F238E27FC236}">
                <a16:creationId xmlns:a16="http://schemas.microsoft.com/office/drawing/2014/main" id="{4321BB31-863C-434D-9921-ADDB9CBD49A3}"/>
              </a:ext>
            </a:extLst>
          </p:cNvPr>
          <p:cNvSpPr>
            <a:spLocks noGrp="1"/>
          </p:cNvSpPr>
          <p:nvPr>
            <p:ph type="ftr" sz="quarter" idx="11"/>
          </p:nvPr>
        </p:nvSpPr>
        <p:spPr/>
        <p:txBody>
          <a:bodyPr/>
          <a:lstStyle/>
          <a:p>
            <a:pPr algn="r"/>
            <a:fld id="{215E7548-F18C-4C4B-B96B-B6533EE29CBB}" type="slidenum">
              <a:rPr lang="en-US" altLang="zh-MO" smtClean="0"/>
              <a:pPr algn="r"/>
              <a:t>33</a:t>
            </a:fld>
            <a:endParaRPr lang="en-US" dirty="0"/>
          </a:p>
        </p:txBody>
      </p:sp>
      <p:sp>
        <p:nvSpPr>
          <p:cNvPr id="5" name="文字版面配置區 4">
            <a:extLst>
              <a:ext uri="{FF2B5EF4-FFF2-40B4-BE49-F238E27FC236}">
                <a16:creationId xmlns:a16="http://schemas.microsoft.com/office/drawing/2014/main" id="{96D96DA7-63BE-4A6D-918C-73A25183ECFD}"/>
              </a:ext>
            </a:extLst>
          </p:cNvPr>
          <p:cNvSpPr>
            <a:spLocks noGrp="1"/>
          </p:cNvSpPr>
          <p:nvPr>
            <p:ph type="body" sz="quarter" idx="13"/>
          </p:nvPr>
        </p:nvSpPr>
        <p:spPr>
          <a:xfrm>
            <a:off x="838200" y="676829"/>
            <a:ext cx="8667143" cy="639324"/>
          </a:xfrm>
        </p:spPr>
        <p:txBody>
          <a:bodyPr>
            <a:noAutofit/>
          </a:bodyPr>
          <a:lstStyle/>
          <a:p>
            <a:r>
              <a:rPr lang="en-US" altLang="zh-MO" sz="3200" dirty="0">
                <a:solidFill>
                  <a:srgbClr val="C00000"/>
                </a:solidFill>
              </a:rPr>
              <a:t>CISC7204 Data Science and Data Visualization</a:t>
            </a:r>
            <a:endParaRPr lang="zh-MO" altLang="en-US" sz="3200" dirty="0"/>
          </a:p>
        </p:txBody>
      </p:sp>
    </p:spTree>
    <p:extLst>
      <p:ext uri="{BB962C8B-B14F-4D97-AF65-F5344CB8AC3E}">
        <p14:creationId xmlns:p14="http://schemas.microsoft.com/office/powerpoint/2010/main" val="1618436228"/>
      </p:ext>
    </p:extLst>
  </p:cSld>
  <p:clrMapOvr>
    <a:masterClrMapping/>
  </p:clrMapOvr>
  <mc:AlternateContent xmlns:mc="http://schemas.openxmlformats.org/markup-compatibility/2006" xmlns:p14="http://schemas.microsoft.com/office/powerpoint/2010/main">
    <mc:Choice Requires="p14">
      <p:transition spd="slow" p14:dur="2000" advTm="30010"/>
    </mc:Choice>
    <mc:Fallback xmlns="">
      <p:transition spd="slow" advTm="30010"/>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2C39319-C3EB-463D-A73C-2DEA9D750625}"/>
              </a:ext>
            </a:extLst>
          </p:cNvPr>
          <p:cNvSpPr>
            <a:spLocks noGrp="1"/>
          </p:cNvSpPr>
          <p:nvPr>
            <p:ph type="title"/>
          </p:nvPr>
        </p:nvSpPr>
        <p:spPr/>
        <p:txBody>
          <a:bodyPr>
            <a:normAutofit/>
          </a:bodyPr>
          <a:lstStyle/>
          <a:p>
            <a:r>
              <a:rPr lang="en-US" altLang="zh-MO" sz="2800" dirty="0"/>
              <a:t> Introduction to Data Visualization Plots</a:t>
            </a:r>
            <a:endParaRPr lang="zh-MO" altLang="en-US" sz="2800" dirty="0"/>
          </a:p>
        </p:txBody>
      </p:sp>
      <p:sp>
        <p:nvSpPr>
          <p:cNvPr id="3" name="內容版面配置區 2">
            <a:extLst>
              <a:ext uri="{FF2B5EF4-FFF2-40B4-BE49-F238E27FC236}">
                <a16:creationId xmlns:a16="http://schemas.microsoft.com/office/drawing/2014/main" id="{72697A5A-2B81-4055-BE38-FBF0028B433F}"/>
              </a:ext>
            </a:extLst>
          </p:cNvPr>
          <p:cNvSpPr>
            <a:spLocks noGrp="1"/>
          </p:cNvSpPr>
          <p:nvPr>
            <p:ph idx="1"/>
          </p:nvPr>
        </p:nvSpPr>
        <p:spPr>
          <a:xfrm>
            <a:off x="838201" y="1825625"/>
            <a:ext cx="1576388" cy="4355546"/>
          </a:xfrm>
        </p:spPr>
        <p:txBody>
          <a:bodyPr anchor="ctr">
            <a:normAutofit fontScale="55000" lnSpcReduction="20000"/>
          </a:bodyPr>
          <a:lstStyle/>
          <a:p>
            <a:pPr marL="0" indent="0">
              <a:buNone/>
            </a:pPr>
            <a:r>
              <a:rPr lang="en-US" altLang="zh-MO" b="1" dirty="0">
                <a:solidFill>
                  <a:schemeClr val="accent4">
                    <a:lumMod val="75000"/>
                  </a:schemeClr>
                </a:solidFill>
              </a:rPr>
              <a:t>Part 3: Relation Plots</a:t>
            </a:r>
          </a:p>
          <a:p>
            <a:pPr marL="0" indent="0">
              <a:buNone/>
            </a:pPr>
            <a:r>
              <a:rPr lang="en-US" sz="2600" b="1" dirty="0" err="1">
                <a:solidFill>
                  <a:srgbClr val="FF0000"/>
                </a:solidFill>
              </a:rPr>
              <a:t>Correlogram</a:t>
            </a:r>
            <a:endParaRPr lang="en-US" sz="2600" b="1" dirty="0">
              <a:solidFill>
                <a:schemeClr val="accent1"/>
              </a:solidFill>
            </a:endParaRPr>
          </a:p>
          <a:p>
            <a:pPr marL="0" indent="0">
              <a:buNone/>
            </a:pPr>
            <a:r>
              <a:rPr lang="en-US" sz="2600" b="1" dirty="0"/>
              <a:t>Example</a:t>
            </a:r>
          </a:p>
          <a:p>
            <a:pPr marL="0" indent="0">
              <a:buNone/>
            </a:pPr>
            <a:r>
              <a:rPr lang="en-US" sz="2600" dirty="0"/>
              <a:t>The diagram shows a </a:t>
            </a:r>
            <a:r>
              <a:rPr lang="en-US" sz="2600" dirty="0" err="1"/>
              <a:t>correlogram</a:t>
            </a:r>
            <a:r>
              <a:rPr lang="en-US" sz="2600" dirty="0"/>
              <a:t> for the height, weight, and age of humans. </a:t>
            </a:r>
          </a:p>
          <a:p>
            <a:pPr marL="0" indent="0">
              <a:buNone/>
            </a:pPr>
            <a:r>
              <a:rPr lang="en-US" sz="2600" dirty="0"/>
              <a:t>The diagonal plots show a histogram for each variable. </a:t>
            </a:r>
          </a:p>
          <a:p>
            <a:pPr marL="0" indent="0">
              <a:buNone/>
            </a:pPr>
            <a:r>
              <a:rPr lang="en-US" sz="2600" dirty="0"/>
              <a:t>The off-diagonal elements show scatter plots between variable pairs:</a:t>
            </a:r>
          </a:p>
        </p:txBody>
      </p:sp>
      <p:sp>
        <p:nvSpPr>
          <p:cNvPr id="4" name="頁尾版面配置區 3">
            <a:extLst>
              <a:ext uri="{FF2B5EF4-FFF2-40B4-BE49-F238E27FC236}">
                <a16:creationId xmlns:a16="http://schemas.microsoft.com/office/drawing/2014/main" id="{4321BB31-863C-434D-9921-ADDB9CBD49A3}"/>
              </a:ext>
            </a:extLst>
          </p:cNvPr>
          <p:cNvSpPr>
            <a:spLocks noGrp="1"/>
          </p:cNvSpPr>
          <p:nvPr>
            <p:ph type="ftr" sz="quarter" idx="11"/>
          </p:nvPr>
        </p:nvSpPr>
        <p:spPr/>
        <p:txBody>
          <a:bodyPr/>
          <a:lstStyle/>
          <a:p>
            <a:pPr algn="r"/>
            <a:fld id="{215E7548-F18C-4C4B-B96B-B6533EE29CBB}" type="slidenum">
              <a:rPr lang="en-US" altLang="zh-MO" smtClean="0"/>
              <a:pPr algn="r"/>
              <a:t>34</a:t>
            </a:fld>
            <a:endParaRPr lang="en-US" dirty="0"/>
          </a:p>
        </p:txBody>
      </p:sp>
      <p:sp>
        <p:nvSpPr>
          <p:cNvPr id="5" name="文字版面配置區 4">
            <a:extLst>
              <a:ext uri="{FF2B5EF4-FFF2-40B4-BE49-F238E27FC236}">
                <a16:creationId xmlns:a16="http://schemas.microsoft.com/office/drawing/2014/main" id="{96D96DA7-63BE-4A6D-918C-73A25183ECFD}"/>
              </a:ext>
            </a:extLst>
          </p:cNvPr>
          <p:cNvSpPr>
            <a:spLocks noGrp="1"/>
          </p:cNvSpPr>
          <p:nvPr>
            <p:ph type="body" sz="quarter" idx="13"/>
          </p:nvPr>
        </p:nvSpPr>
        <p:spPr>
          <a:xfrm>
            <a:off x="838200" y="676829"/>
            <a:ext cx="8667143" cy="639324"/>
          </a:xfrm>
        </p:spPr>
        <p:txBody>
          <a:bodyPr>
            <a:noAutofit/>
          </a:bodyPr>
          <a:lstStyle/>
          <a:p>
            <a:r>
              <a:rPr lang="en-US" altLang="zh-MO" sz="3200" dirty="0">
                <a:solidFill>
                  <a:srgbClr val="C00000"/>
                </a:solidFill>
              </a:rPr>
              <a:t>CISC7204 Data Science and Data Visualization</a:t>
            </a:r>
            <a:endParaRPr lang="zh-MO" altLang="en-US" sz="3200" dirty="0"/>
          </a:p>
        </p:txBody>
      </p:sp>
      <p:pic>
        <p:nvPicPr>
          <p:cNvPr id="6" name="圖片 5"/>
          <p:cNvPicPr>
            <a:picLocks noChangeAspect="1"/>
          </p:cNvPicPr>
          <p:nvPr/>
        </p:nvPicPr>
        <p:blipFill>
          <a:blip r:embed="rId2"/>
          <a:stretch>
            <a:fillRect/>
          </a:stretch>
        </p:blipFill>
        <p:spPr>
          <a:xfrm>
            <a:off x="3190874" y="1746738"/>
            <a:ext cx="6181725" cy="4556608"/>
          </a:xfrm>
          <a:prstGeom prst="rect">
            <a:avLst/>
          </a:prstGeom>
        </p:spPr>
      </p:pic>
      <p:sp>
        <p:nvSpPr>
          <p:cNvPr id="7" name="矩形 6"/>
          <p:cNvSpPr/>
          <p:nvPr/>
        </p:nvSpPr>
        <p:spPr>
          <a:xfrm>
            <a:off x="9823174" y="2414408"/>
            <a:ext cx="1628775" cy="923330"/>
          </a:xfrm>
          <a:prstGeom prst="rect">
            <a:avLst/>
          </a:prstGeom>
        </p:spPr>
        <p:txBody>
          <a:bodyPr wrap="square">
            <a:spAutoFit/>
          </a:bodyPr>
          <a:lstStyle/>
          <a:p>
            <a:r>
              <a:rPr lang="en-US" altLang="zh-HK" dirty="0" err="1"/>
              <a:t>Correlogram</a:t>
            </a:r>
            <a:r>
              <a:rPr lang="en-US" altLang="zh-HK" dirty="0"/>
              <a:t> with a single category</a:t>
            </a:r>
            <a:endParaRPr lang="zh-HK" altLang="en-US" dirty="0"/>
          </a:p>
        </p:txBody>
      </p:sp>
    </p:spTree>
    <p:extLst>
      <p:ext uri="{BB962C8B-B14F-4D97-AF65-F5344CB8AC3E}">
        <p14:creationId xmlns:p14="http://schemas.microsoft.com/office/powerpoint/2010/main" val="2809976893"/>
      </p:ext>
    </p:extLst>
  </p:cSld>
  <p:clrMapOvr>
    <a:masterClrMapping/>
  </p:clrMapOvr>
  <mc:AlternateContent xmlns:mc="http://schemas.openxmlformats.org/markup-compatibility/2006" xmlns:p14="http://schemas.microsoft.com/office/powerpoint/2010/main">
    <mc:Choice Requires="p14">
      <p:transition spd="slow" p14:dur="2000" advTm="30010"/>
    </mc:Choice>
    <mc:Fallback xmlns="">
      <p:transition spd="slow" advTm="30010"/>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2C39319-C3EB-463D-A73C-2DEA9D750625}"/>
              </a:ext>
            </a:extLst>
          </p:cNvPr>
          <p:cNvSpPr>
            <a:spLocks noGrp="1"/>
          </p:cNvSpPr>
          <p:nvPr>
            <p:ph type="title"/>
          </p:nvPr>
        </p:nvSpPr>
        <p:spPr/>
        <p:txBody>
          <a:bodyPr>
            <a:normAutofit/>
          </a:bodyPr>
          <a:lstStyle/>
          <a:p>
            <a:r>
              <a:rPr lang="en-US" altLang="zh-MO" sz="2800" dirty="0"/>
              <a:t> Introduction to Data Visualization Plots</a:t>
            </a:r>
            <a:endParaRPr lang="zh-MO" altLang="en-US" sz="2800" dirty="0"/>
          </a:p>
        </p:txBody>
      </p:sp>
      <p:sp>
        <p:nvSpPr>
          <p:cNvPr id="3" name="內容版面配置區 2">
            <a:extLst>
              <a:ext uri="{FF2B5EF4-FFF2-40B4-BE49-F238E27FC236}">
                <a16:creationId xmlns:a16="http://schemas.microsoft.com/office/drawing/2014/main" id="{72697A5A-2B81-4055-BE38-FBF0028B433F}"/>
              </a:ext>
            </a:extLst>
          </p:cNvPr>
          <p:cNvSpPr>
            <a:spLocks noGrp="1"/>
          </p:cNvSpPr>
          <p:nvPr>
            <p:ph idx="1"/>
          </p:nvPr>
        </p:nvSpPr>
        <p:spPr>
          <a:xfrm>
            <a:off x="838201" y="1825625"/>
            <a:ext cx="1590674" cy="4355546"/>
          </a:xfrm>
        </p:spPr>
        <p:txBody>
          <a:bodyPr anchor="ctr">
            <a:normAutofit fontScale="92500" lnSpcReduction="10000"/>
          </a:bodyPr>
          <a:lstStyle/>
          <a:p>
            <a:pPr marL="0" indent="0">
              <a:buNone/>
            </a:pPr>
            <a:r>
              <a:rPr lang="en-US" altLang="zh-MO" sz="2200" b="1" dirty="0">
                <a:solidFill>
                  <a:schemeClr val="accent4">
                    <a:lumMod val="75000"/>
                  </a:schemeClr>
                </a:solidFill>
              </a:rPr>
              <a:t>Part 3: Relation Plots</a:t>
            </a:r>
          </a:p>
          <a:p>
            <a:pPr marL="0" indent="0">
              <a:buNone/>
            </a:pPr>
            <a:r>
              <a:rPr lang="en-US" sz="1900" b="1" dirty="0" err="1">
                <a:solidFill>
                  <a:srgbClr val="FF0000"/>
                </a:solidFill>
              </a:rPr>
              <a:t>Correlogram</a:t>
            </a:r>
            <a:endParaRPr lang="en-US" sz="1900" b="1" dirty="0">
              <a:solidFill>
                <a:schemeClr val="accent1"/>
              </a:solidFill>
            </a:endParaRPr>
          </a:p>
          <a:p>
            <a:pPr marL="0" indent="0">
              <a:buNone/>
            </a:pPr>
            <a:r>
              <a:rPr lang="en-US" sz="1900" b="1" dirty="0">
                <a:solidFill>
                  <a:schemeClr val="accent1"/>
                </a:solidFill>
              </a:rPr>
              <a:t>Example</a:t>
            </a:r>
          </a:p>
          <a:p>
            <a:pPr marL="0" indent="0">
              <a:buNone/>
            </a:pPr>
            <a:r>
              <a:rPr lang="en-US" sz="1900" dirty="0"/>
              <a:t>The following diagram shows the </a:t>
            </a:r>
            <a:r>
              <a:rPr lang="en-US" sz="1900" dirty="0" err="1"/>
              <a:t>correlogram</a:t>
            </a:r>
            <a:r>
              <a:rPr lang="en-US" sz="1900" dirty="0"/>
              <a:t> with data samples separated by color into different groups:</a:t>
            </a:r>
          </a:p>
        </p:txBody>
      </p:sp>
      <p:sp>
        <p:nvSpPr>
          <p:cNvPr id="4" name="頁尾版面配置區 3">
            <a:extLst>
              <a:ext uri="{FF2B5EF4-FFF2-40B4-BE49-F238E27FC236}">
                <a16:creationId xmlns:a16="http://schemas.microsoft.com/office/drawing/2014/main" id="{4321BB31-863C-434D-9921-ADDB9CBD49A3}"/>
              </a:ext>
            </a:extLst>
          </p:cNvPr>
          <p:cNvSpPr>
            <a:spLocks noGrp="1"/>
          </p:cNvSpPr>
          <p:nvPr>
            <p:ph type="ftr" sz="quarter" idx="11"/>
          </p:nvPr>
        </p:nvSpPr>
        <p:spPr/>
        <p:txBody>
          <a:bodyPr/>
          <a:lstStyle/>
          <a:p>
            <a:pPr algn="r"/>
            <a:fld id="{215E7548-F18C-4C4B-B96B-B6533EE29CBB}" type="slidenum">
              <a:rPr lang="en-US" altLang="zh-MO" smtClean="0"/>
              <a:pPr algn="r"/>
              <a:t>35</a:t>
            </a:fld>
            <a:endParaRPr lang="en-US" dirty="0"/>
          </a:p>
        </p:txBody>
      </p:sp>
      <p:sp>
        <p:nvSpPr>
          <p:cNvPr id="5" name="文字版面配置區 4">
            <a:extLst>
              <a:ext uri="{FF2B5EF4-FFF2-40B4-BE49-F238E27FC236}">
                <a16:creationId xmlns:a16="http://schemas.microsoft.com/office/drawing/2014/main" id="{96D96DA7-63BE-4A6D-918C-73A25183ECFD}"/>
              </a:ext>
            </a:extLst>
          </p:cNvPr>
          <p:cNvSpPr>
            <a:spLocks noGrp="1"/>
          </p:cNvSpPr>
          <p:nvPr>
            <p:ph type="body" sz="quarter" idx="13"/>
          </p:nvPr>
        </p:nvSpPr>
        <p:spPr>
          <a:xfrm>
            <a:off x="838200" y="676829"/>
            <a:ext cx="8667143" cy="639324"/>
          </a:xfrm>
        </p:spPr>
        <p:txBody>
          <a:bodyPr>
            <a:noAutofit/>
          </a:bodyPr>
          <a:lstStyle/>
          <a:p>
            <a:r>
              <a:rPr lang="en-US" altLang="zh-MO" sz="3200" dirty="0">
                <a:solidFill>
                  <a:srgbClr val="C00000"/>
                </a:solidFill>
              </a:rPr>
              <a:t>CISC7204 Data Science and Data Visualization</a:t>
            </a:r>
            <a:endParaRPr lang="zh-MO" altLang="en-US" sz="3200" dirty="0"/>
          </a:p>
        </p:txBody>
      </p:sp>
      <p:pic>
        <p:nvPicPr>
          <p:cNvPr id="8" name="圖片 7"/>
          <p:cNvPicPr>
            <a:picLocks noChangeAspect="1"/>
          </p:cNvPicPr>
          <p:nvPr/>
        </p:nvPicPr>
        <p:blipFill>
          <a:blip r:embed="rId2"/>
          <a:stretch>
            <a:fillRect/>
          </a:stretch>
        </p:blipFill>
        <p:spPr>
          <a:xfrm>
            <a:off x="3324224" y="1825625"/>
            <a:ext cx="6362701" cy="4355546"/>
          </a:xfrm>
          <a:prstGeom prst="rect">
            <a:avLst/>
          </a:prstGeom>
        </p:spPr>
      </p:pic>
      <p:sp>
        <p:nvSpPr>
          <p:cNvPr id="9" name="矩形 8"/>
          <p:cNvSpPr/>
          <p:nvPr/>
        </p:nvSpPr>
        <p:spPr>
          <a:xfrm>
            <a:off x="9841810" y="2230938"/>
            <a:ext cx="1659216" cy="923330"/>
          </a:xfrm>
          <a:prstGeom prst="rect">
            <a:avLst/>
          </a:prstGeom>
        </p:spPr>
        <p:txBody>
          <a:bodyPr wrap="square">
            <a:spAutoFit/>
          </a:bodyPr>
          <a:lstStyle/>
          <a:p>
            <a:r>
              <a:rPr lang="en-US" altLang="zh-HK" dirty="0" err="1"/>
              <a:t>Correlogram</a:t>
            </a:r>
            <a:r>
              <a:rPr lang="en-US" altLang="zh-HK" dirty="0"/>
              <a:t> with multiple categories</a:t>
            </a:r>
            <a:endParaRPr lang="zh-HK" altLang="en-US" dirty="0"/>
          </a:p>
        </p:txBody>
      </p:sp>
    </p:spTree>
    <p:extLst>
      <p:ext uri="{BB962C8B-B14F-4D97-AF65-F5344CB8AC3E}">
        <p14:creationId xmlns:p14="http://schemas.microsoft.com/office/powerpoint/2010/main" val="3805588130"/>
      </p:ext>
    </p:extLst>
  </p:cSld>
  <p:clrMapOvr>
    <a:masterClrMapping/>
  </p:clrMapOvr>
  <mc:AlternateContent xmlns:mc="http://schemas.openxmlformats.org/markup-compatibility/2006" xmlns:p14="http://schemas.microsoft.com/office/powerpoint/2010/main">
    <mc:Choice Requires="p14">
      <p:transition spd="slow" p14:dur="2000" advTm="30010"/>
    </mc:Choice>
    <mc:Fallback xmlns="">
      <p:transition spd="slow" advTm="30010"/>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2C39319-C3EB-463D-A73C-2DEA9D750625}"/>
              </a:ext>
            </a:extLst>
          </p:cNvPr>
          <p:cNvSpPr>
            <a:spLocks noGrp="1"/>
          </p:cNvSpPr>
          <p:nvPr>
            <p:ph type="title"/>
          </p:nvPr>
        </p:nvSpPr>
        <p:spPr/>
        <p:txBody>
          <a:bodyPr>
            <a:normAutofit/>
          </a:bodyPr>
          <a:lstStyle/>
          <a:p>
            <a:r>
              <a:rPr lang="en-US" altLang="zh-MO" sz="2800" dirty="0"/>
              <a:t> Introduction to Data Visualization Plots</a:t>
            </a:r>
            <a:endParaRPr lang="zh-MO" altLang="en-US" sz="2800" dirty="0"/>
          </a:p>
        </p:txBody>
      </p:sp>
      <p:sp>
        <p:nvSpPr>
          <p:cNvPr id="3" name="內容版面配置區 2">
            <a:extLst>
              <a:ext uri="{FF2B5EF4-FFF2-40B4-BE49-F238E27FC236}">
                <a16:creationId xmlns:a16="http://schemas.microsoft.com/office/drawing/2014/main" id="{72697A5A-2B81-4055-BE38-FBF0028B433F}"/>
              </a:ext>
            </a:extLst>
          </p:cNvPr>
          <p:cNvSpPr>
            <a:spLocks noGrp="1"/>
          </p:cNvSpPr>
          <p:nvPr>
            <p:ph idx="1"/>
          </p:nvPr>
        </p:nvSpPr>
        <p:spPr>
          <a:xfrm>
            <a:off x="958466" y="1825625"/>
            <a:ext cx="10513098" cy="4355546"/>
          </a:xfrm>
        </p:spPr>
        <p:txBody>
          <a:bodyPr anchor="ctr">
            <a:normAutofit/>
          </a:bodyPr>
          <a:lstStyle/>
          <a:p>
            <a:pPr marL="0" indent="0">
              <a:buNone/>
            </a:pPr>
            <a:r>
              <a:rPr lang="en-US" altLang="zh-MO" b="1" dirty="0">
                <a:solidFill>
                  <a:schemeClr val="accent4">
                    <a:lumMod val="75000"/>
                  </a:schemeClr>
                </a:solidFill>
              </a:rPr>
              <a:t>Part 3: Relation Plots</a:t>
            </a:r>
          </a:p>
          <a:p>
            <a:pPr marL="0" indent="0">
              <a:buNone/>
            </a:pPr>
            <a:r>
              <a:rPr lang="en-US" sz="2600" b="1" dirty="0" err="1">
                <a:solidFill>
                  <a:srgbClr val="FF0000"/>
                </a:solidFill>
              </a:rPr>
              <a:t>Correlogram</a:t>
            </a:r>
            <a:r>
              <a:rPr lang="en-US" sz="2600" b="1" dirty="0">
                <a:solidFill>
                  <a:srgbClr val="FF0000"/>
                </a:solidFill>
              </a:rPr>
              <a:t> – </a:t>
            </a:r>
            <a:r>
              <a:rPr lang="en-US" sz="2600" b="1" dirty="0">
                <a:solidFill>
                  <a:schemeClr val="accent1"/>
                </a:solidFill>
              </a:rPr>
              <a:t>Design Practices</a:t>
            </a:r>
          </a:p>
          <a:p>
            <a:r>
              <a:rPr lang="en-US" sz="2600" b="1" dirty="0"/>
              <a:t>Start both axes at zero to represent data accurately.</a:t>
            </a:r>
          </a:p>
          <a:p>
            <a:r>
              <a:rPr lang="en-US" sz="2600" b="1" dirty="0"/>
              <a:t>Use contrasting colors for data points and avoid using symbols for scatter plots with multiple groups or categories.</a:t>
            </a:r>
          </a:p>
        </p:txBody>
      </p:sp>
      <p:sp>
        <p:nvSpPr>
          <p:cNvPr id="4" name="頁尾版面配置區 3">
            <a:extLst>
              <a:ext uri="{FF2B5EF4-FFF2-40B4-BE49-F238E27FC236}">
                <a16:creationId xmlns:a16="http://schemas.microsoft.com/office/drawing/2014/main" id="{4321BB31-863C-434D-9921-ADDB9CBD49A3}"/>
              </a:ext>
            </a:extLst>
          </p:cNvPr>
          <p:cNvSpPr>
            <a:spLocks noGrp="1"/>
          </p:cNvSpPr>
          <p:nvPr>
            <p:ph type="ftr" sz="quarter" idx="11"/>
          </p:nvPr>
        </p:nvSpPr>
        <p:spPr/>
        <p:txBody>
          <a:bodyPr/>
          <a:lstStyle/>
          <a:p>
            <a:pPr algn="r"/>
            <a:fld id="{215E7548-F18C-4C4B-B96B-B6533EE29CBB}" type="slidenum">
              <a:rPr lang="en-US" altLang="zh-MO" smtClean="0"/>
              <a:pPr algn="r"/>
              <a:t>36</a:t>
            </a:fld>
            <a:endParaRPr lang="en-US" dirty="0"/>
          </a:p>
        </p:txBody>
      </p:sp>
      <p:sp>
        <p:nvSpPr>
          <p:cNvPr id="5" name="文字版面配置區 4">
            <a:extLst>
              <a:ext uri="{FF2B5EF4-FFF2-40B4-BE49-F238E27FC236}">
                <a16:creationId xmlns:a16="http://schemas.microsoft.com/office/drawing/2014/main" id="{96D96DA7-63BE-4A6D-918C-73A25183ECFD}"/>
              </a:ext>
            </a:extLst>
          </p:cNvPr>
          <p:cNvSpPr>
            <a:spLocks noGrp="1"/>
          </p:cNvSpPr>
          <p:nvPr>
            <p:ph type="body" sz="quarter" idx="13"/>
          </p:nvPr>
        </p:nvSpPr>
        <p:spPr>
          <a:xfrm>
            <a:off x="838200" y="676829"/>
            <a:ext cx="8667143" cy="639324"/>
          </a:xfrm>
        </p:spPr>
        <p:txBody>
          <a:bodyPr>
            <a:noAutofit/>
          </a:bodyPr>
          <a:lstStyle/>
          <a:p>
            <a:r>
              <a:rPr lang="en-US" altLang="zh-MO" sz="3200" dirty="0">
                <a:solidFill>
                  <a:srgbClr val="C00000"/>
                </a:solidFill>
              </a:rPr>
              <a:t>CISC7204 Data Science and Data Visualization</a:t>
            </a:r>
            <a:endParaRPr lang="zh-MO" altLang="en-US" sz="3200" dirty="0"/>
          </a:p>
        </p:txBody>
      </p:sp>
    </p:spTree>
    <p:extLst>
      <p:ext uri="{BB962C8B-B14F-4D97-AF65-F5344CB8AC3E}">
        <p14:creationId xmlns:p14="http://schemas.microsoft.com/office/powerpoint/2010/main" val="1609842734"/>
      </p:ext>
    </p:extLst>
  </p:cSld>
  <p:clrMapOvr>
    <a:masterClrMapping/>
  </p:clrMapOvr>
  <mc:AlternateContent xmlns:mc="http://schemas.openxmlformats.org/markup-compatibility/2006" xmlns:p14="http://schemas.microsoft.com/office/powerpoint/2010/main">
    <mc:Choice Requires="p14">
      <p:transition spd="slow" p14:dur="2000" advTm="30010"/>
    </mc:Choice>
    <mc:Fallback xmlns="">
      <p:transition spd="slow" advTm="30010"/>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2C39319-C3EB-463D-A73C-2DEA9D750625}"/>
              </a:ext>
            </a:extLst>
          </p:cNvPr>
          <p:cNvSpPr>
            <a:spLocks noGrp="1"/>
          </p:cNvSpPr>
          <p:nvPr>
            <p:ph type="title"/>
          </p:nvPr>
        </p:nvSpPr>
        <p:spPr/>
        <p:txBody>
          <a:bodyPr>
            <a:normAutofit/>
          </a:bodyPr>
          <a:lstStyle/>
          <a:p>
            <a:r>
              <a:rPr lang="en-US" altLang="zh-MO" sz="2800" dirty="0"/>
              <a:t> Introduction to Data Visualization Plots</a:t>
            </a:r>
            <a:endParaRPr lang="zh-MO" altLang="en-US" sz="2800" dirty="0"/>
          </a:p>
        </p:txBody>
      </p:sp>
      <p:sp>
        <p:nvSpPr>
          <p:cNvPr id="3" name="內容版面配置區 2">
            <a:extLst>
              <a:ext uri="{FF2B5EF4-FFF2-40B4-BE49-F238E27FC236}">
                <a16:creationId xmlns:a16="http://schemas.microsoft.com/office/drawing/2014/main" id="{72697A5A-2B81-4055-BE38-FBF0028B433F}"/>
              </a:ext>
            </a:extLst>
          </p:cNvPr>
          <p:cNvSpPr>
            <a:spLocks noGrp="1"/>
          </p:cNvSpPr>
          <p:nvPr>
            <p:ph idx="1"/>
          </p:nvPr>
        </p:nvSpPr>
        <p:spPr>
          <a:xfrm>
            <a:off x="958466" y="1825625"/>
            <a:ext cx="10513098" cy="4355546"/>
          </a:xfrm>
        </p:spPr>
        <p:txBody>
          <a:bodyPr anchor="ctr">
            <a:normAutofit fontScale="92500" lnSpcReduction="10000"/>
          </a:bodyPr>
          <a:lstStyle/>
          <a:p>
            <a:pPr marL="0" indent="0">
              <a:buNone/>
            </a:pPr>
            <a:r>
              <a:rPr lang="en-US" altLang="zh-MO" b="1" dirty="0">
                <a:solidFill>
                  <a:schemeClr val="accent4">
                    <a:lumMod val="75000"/>
                  </a:schemeClr>
                </a:solidFill>
              </a:rPr>
              <a:t>Part 3: Relation Plots</a:t>
            </a:r>
          </a:p>
          <a:p>
            <a:pPr marL="0" indent="0">
              <a:buNone/>
            </a:pPr>
            <a:r>
              <a:rPr lang="en-US" sz="2600" b="1" dirty="0" err="1">
                <a:solidFill>
                  <a:srgbClr val="FF0000"/>
                </a:solidFill>
              </a:rPr>
              <a:t>Heatmap</a:t>
            </a:r>
            <a:endParaRPr lang="en-US" sz="2600" b="1" dirty="0">
              <a:solidFill>
                <a:schemeClr val="accent1"/>
              </a:solidFill>
            </a:endParaRPr>
          </a:p>
          <a:p>
            <a:r>
              <a:rPr lang="en-US" sz="2600" b="1" dirty="0"/>
              <a:t>A </a:t>
            </a:r>
            <a:r>
              <a:rPr lang="en-US" sz="2600" b="1" dirty="0" err="1"/>
              <a:t>heatmap</a:t>
            </a:r>
            <a:r>
              <a:rPr lang="en-US" sz="2600" b="1" dirty="0"/>
              <a:t> is a visualization where values contained in a matrix are represented as colors or color saturation. </a:t>
            </a:r>
            <a:r>
              <a:rPr lang="en-US" sz="2600" b="1" dirty="0" err="1"/>
              <a:t>Heatmaps</a:t>
            </a:r>
            <a:r>
              <a:rPr lang="en-US" sz="2600" b="1" dirty="0"/>
              <a:t> are great for visualizing multivariate data (data in which analysis is based on more than two variables per observation), where categorical variables are placed in the rows and columns and a numerical or categorical variable is represented as colors or color saturation.</a:t>
            </a:r>
          </a:p>
          <a:p>
            <a:pPr marL="0" indent="0">
              <a:buNone/>
            </a:pPr>
            <a:r>
              <a:rPr lang="en-US" sz="2600" b="1" dirty="0">
                <a:solidFill>
                  <a:schemeClr val="accent1"/>
                </a:solidFill>
              </a:rPr>
              <a:t>Use</a:t>
            </a:r>
          </a:p>
          <a:p>
            <a:r>
              <a:rPr lang="en-US" sz="2600" b="1" dirty="0"/>
              <a:t>The visualization of multivariate data can be done using </a:t>
            </a:r>
            <a:r>
              <a:rPr lang="en-US" sz="2600" b="1" dirty="0" err="1"/>
              <a:t>heatmaps</a:t>
            </a:r>
            <a:r>
              <a:rPr lang="en-US" sz="2600" b="1" dirty="0"/>
              <a:t> as they are great for finding patterns in your data.</a:t>
            </a:r>
          </a:p>
        </p:txBody>
      </p:sp>
      <p:sp>
        <p:nvSpPr>
          <p:cNvPr id="4" name="頁尾版面配置區 3">
            <a:extLst>
              <a:ext uri="{FF2B5EF4-FFF2-40B4-BE49-F238E27FC236}">
                <a16:creationId xmlns:a16="http://schemas.microsoft.com/office/drawing/2014/main" id="{4321BB31-863C-434D-9921-ADDB9CBD49A3}"/>
              </a:ext>
            </a:extLst>
          </p:cNvPr>
          <p:cNvSpPr>
            <a:spLocks noGrp="1"/>
          </p:cNvSpPr>
          <p:nvPr>
            <p:ph type="ftr" sz="quarter" idx="11"/>
          </p:nvPr>
        </p:nvSpPr>
        <p:spPr/>
        <p:txBody>
          <a:bodyPr/>
          <a:lstStyle/>
          <a:p>
            <a:pPr algn="r"/>
            <a:fld id="{215E7548-F18C-4C4B-B96B-B6533EE29CBB}" type="slidenum">
              <a:rPr lang="en-US" altLang="zh-MO" smtClean="0"/>
              <a:pPr algn="r"/>
              <a:t>37</a:t>
            </a:fld>
            <a:endParaRPr lang="en-US" dirty="0"/>
          </a:p>
        </p:txBody>
      </p:sp>
      <p:sp>
        <p:nvSpPr>
          <p:cNvPr id="5" name="文字版面配置區 4">
            <a:extLst>
              <a:ext uri="{FF2B5EF4-FFF2-40B4-BE49-F238E27FC236}">
                <a16:creationId xmlns:a16="http://schemas.microsoft.com/office/drawing/2014/main" id="{96D96DA7-63BE-4A6D-918C-73A25183ECFD}"/>
              </a:ext>
            </a:extLst>
          </p:cNvPr>
          <p:cNvSpPr>
            <a:spLocks noGrp="1"/>
          </p:cNvSpPr>
          <p:nvPr>
            <p:ph type="body" sz="quarter" idx="13"/>
          </p:nvPr>
        </p:nvSpPr>
        <p:spPr>
          <a:xfrm>
            <a:off x="838200" y="676829"/>
            <a:ext cx="8667143" cy="639324"/>
          </a:xfrm>
        </p:spPr>
        <p:txBody>
          <a:bodyPr>
            <a:noAutofit/>
          </a:bodyPr>
          <a:lstStyle/>
          <a:p>
            <a:r>
              <a:rPr lang="en-US" altLang="zh-MO" sz="3200" dirty="0">
                <a:solidFill>
                  <a:srgbClr val="C00000"/>
                </a:solidFill>
              </a:rPr>
              <a:t>CISC7204 Data Science and Data Visualization</a:t>
            </a:r>
            <a:endParaRPr lang="zh-MO" altLang="en-US" sz="3200" dirty="0"/>
          </a:p>
        </p:txBody>
      </p:sp>
    </p:spTree>
    <p:extLst>
      <p:ext uri="{BB962C8B-B14F-4D97-AF65-F5344CB8AC3E}">
        <p14:creationId xmlns:p14="http://schemas.microsoft.com/office/powerpoint/2010/main" val="177503441"/>
      </p:ext>
    </p:extLst>
  </p:cSld>
  <p:clrMapOvr>
    <a:masterClrMapping/>
  </p:clrMapOvr>
  <mc:AlternateContent xmlns:mc="http://schemas.openxmlformats.org/markup-compatibility/2006" xmlns:p14="http://schemas.microsoft.com/office/powerpoint/2010/main">
    <mc:Choice Requires="p14">
      <p:transition spd="slow" p14:dur="2000" advTm="30010"/>
    </mc:Choice>
    <mc:Fallback xmlns="">
      <p:transition spd="slow" advTm="30010"/>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2C39319-C3EB-463D-A73C-2DEA9D750625}"/>
              </a:ext>
            </a:extLst>
          </p:cNvPr>
          <p:cNvSpPr>
            <a:spLocks noGrp="1"/>
          </p:cNvSpPr>
          <p:nvPr>
            <p:ph type="title"/>
          </p:nvPr>
        </p:nvSpPr>
        <p:spPr/>
        <p:txBody>
          <a:bodyPr>
            <a:normAutofit/>
          </a:bodyPr>
          <a:lstStyle/>
          <a:p>
            <a:r>
              <a:rPr lang="en-US" altLang="zh-MO" sz="2800" dirty="0"/>
              <a:t> Introduction to Data Visualization Plots</a:t>
            </a:r>
            <a:endParaRPr lang="zh-MO" altLang="en-US" sz="2800" dirty="0"/>
          </a:p>
        </p:txBody>
      </p:sp>
      <p:sp>
        <p:nvSpPr>
          <p:cNvPr id="3" name="內容版面配置區 2">
            <a:extLst>
              <a:ext uri="{FF2B5EF4-FFF2-40B4-BE49-F238E27FC236}">
                <a16:creationId xmlns:a16="http://schemas.microsoft.com/office/drawing/2014/main" id="{72697A5A-2B81-4055-BE38-FBF0028B433F}"/>
              </a:ext>
            </a:extLst>
          </p:cNvPr>
          <p:cNvSpPr>
            <a:spLocks noGrp="1"/>
          </p:cNvSpPr>
          <p:nvPr>
            <p:ph idx="1"/>
          </p:nvPr>
        </p:nvSpPr>
        <p:spPr>
          <a:xfrm>
            <a:off x="958466" y="1825625"/>
            <a:ext cx="1470409" cy="4355546"/>
          </a:xfrm>
        </p:spPr>
        <p:txBody>
          <a:bodyPr anchor="ctr">
            <a:normAutofit fontScale="40000" lnSpcReduction="20000"/>
          </a:bodyPr>
          <a:lstStyle/>
          <a:p>
            <a:pPr marL="0" indent="0">
              <a:buNone/>
            </a:pPr>
            <a:r>
              <a:rPr lang="en-US" altLang="zh-MO" sz="3400" b="1" dirty="0">
                <a:solidFill>
                  <a:schemeClr val="accent4">
                    <a:lumMod val="75000"/>
                  </a:schemeClr>
                </a:solidFill>
              </a:rPr>
              <a:t>Part 3: Relation Plots</a:t>
            </a:r>
          </a:p>
          <a:p>
            <a:pPr marL="0" indent="0">
              <a:buNone/>
            </a:pPr>
            <a:r>
              <a:rPr lang="en-US" sz="3800" b="1" dirty="0" err="1">
                <a:solidFill>
                  <a:srgbClr val="FF0000"/>
                </a:solidFill>
              </a:rPr>
              <a:t>Heatmap</a:t>
            </a:r>
            <a:endParaRPr lang="en-US" sz="3800" b="1" dirty="0">
              <a:solidFill>
                <a:schemeClr val="accent1"/>
              </a:solidFill>
            </a:endParaRPr>
          </a:p>
          <a:p>
            <a:pPr marL="0" indent="0">
              <a:buNone/>
            </a:pPr>
            <a:r>
              <a:rPr lang="en-US" sz="3800" b="1" dirty="0">
                <a:solidFill>
                  <a:schemeClr val="accent1"/>
                </a:solidFill>
              </a:rPr>
              <a:t>Example</a:t>
            </a:r>
          </a:p>
          <a:p>
            <a:pPr marL="0" indent="0">
              <a:buNone/>
            </a:pPr>
            <a:r>
              <a:rPr lang="en-US" sz="2900" dirty="0"/>
              <a:t>The following diagram shows a </a:t>
            </a:r>
            <a:r>
              <a:rPr lang="en-US" sz="2900" dirty="0" err="1"/>
              <a:t>heatmap</a:t>
            </a:r>
            <a:r>
              <a:rPr lang="en-US" sz="2900" dirty="0"/>
              <a:t> for the most popular products on the electronics category page across various e-commerce websites, where the color shows the number of units sold. </a:t>
            </a:r>
          </a:p>
          <a:p>
            <a:pPr marL="0" indent="0">
              <a:buNone/>
            </a:pPr>
            <a:r>
              <a:rPr lang="en-US" sz="2900" dirty="0"/>
              <a:t>In the following diagram, we can analyze that the darker colors represent more units sold, as shown in the key:</a:t>
            </a:r>
          </a:p>
        </p:txBody>
      </p:sp>
      <p:sp>
        <p:nvSpPr>
          <p:cNvPr id="4" name="頁尾版面配置區 3">
            <a:extLst>
              <a:ext uri="{FF2B5EF4-FFF2-40B4-BE49-F238E27FC236}">
                <a16:creationId xmlns:a16="http://schemas.microsoft.com/office/drawing/2014/main" id="{4321BB31-863C-434D-9921-ADDB9CBD49A3}"/>
              </a:ext>
            </a:extLst>
          </p:cNvPr>
          <p:cNvSpPr>
            <a:spLocks noGrp="1"/>
          </p:cNvSpPr>
          <p:nvPr>
            <p:ph type="ftr" sz="quarter" idx="11"/>
          </p:nvPr>
        </p:nvSpPr>
        <p:spPr/>
        <p:txBody>
          <a:bodyPr/>
          <a:lstStyle/>
          <a:p>
            <a:pPr algn="r"/>
            <a:fld id="{215E7548-F18C-4C4B-B96B-B6533EE29CBB}" type="slidenum">
              <a:rPr lang="en-US" altLang="zh-MO" smtClean="0"/>
              <a:pPr algn="r"/>
              <a:t>38</a:t>
            </a:fld>
            <a:endParaRPr lang="en-US" dirty="0"/>
          </a:p>
        </p:txBody>
      </p:sp>
      <p:sp>
        <p:nvSpPr>
          <p:cNvPr id="5" name="文字版面配置區 4">
            <a:extLst>
              <a:ext uri="{FF2B5EF4-FFF2-40B4-BE49-F238E27FC236}">
                <a16:creationId xmlns:a16="http://schemas.microsoft.com/office/drawing/2014/main" id="{96D96DA7-63BE-4A6D-918C-73A25183ECFD}"/>
              </a:ext>
            </a:extLst>
          </p:cNvPr>
          <p:cNvSpPr>
            <a:spLocks noGrp="1"/>
          </p:cNvSpPr>
          <p:nvPr>
            <p:ph type="body" sz="quarter" idx="13"/>
          </p:nvPr>
        </p:nvSpPr>
        <p:spPr>
          <a:xfrm>
            <a:off x="838200" y="676829"/>
            <a:ext cx="8667143" cy="639324"/>
          </a:xfrm>
        </p:spPr>
        <p:txBody>
          <a:bodyPr>
            <a:noAutofit/>
          </a:bodyPr>
          <a:lstStyle/>
          <a:p>
            <a:r>
              <a:rPr lang="en-US" altLang="zh-MO" sz="3200" dirty="0">
                <a:solidFill>
                  <a:srgbClr val="C00000"/>
                </a:solidFill>
              </a:rPr>
              <a:t>CISC7204 Data Science and Data Visualization</a:t>
            </a:r>
            <a:endParaRPr lang="zh-MO" altLang="en-US" sz="3200" dirty="0"/>
          </a:p>
        </p:txBody>
      </p:sp>
      <p:pic>
        <p:nvPicPr>
          <p:cNvPr id="6" name="圖片 5"/>
          <p:cNvPicPr>
            <a:picLocks noChangeAspect="1"/>
          </p:cNvPicPr>
          <p:nvPr/>
        </p:nvPicPr>
        <p:blipFill>
          <a:blip r:embed="rId2"/>
          <a:stretch>
            <a:fillRect/>
          </a:stretch>
        </p:blipFill>
        <p:spPr>
          <a:xfrm>
            <a:off x="3333749" y="1825625"/>
            <a:ext cx="5495925" cy="4355546"/>
          </a:xfrm>
          <a:prstGeom prst="rect">
            <a:avLst/>
          </a:prstGeom>
        </p:spPr>
      </p:pic>
      <p:sp>
        <p:nvSpPr>
          <p:cNvPr id="7" name="矩形 6"/>
          <p:cNvSpPr/>
          <p:nvPr/>
        </p:nvSpPr>
        <p:spPr>
          <a:xfrm>
            <a:off x="9505343" y="2052936"/>
            <a:ext cx="1696057" cy="1477328"/>
          </a:xfrm>
          <a:prstGeom prst="rect">
            <a:avLst/>
          </a:prstGeom>
        </p:spPr>
        <p:txBody>
          <a:bodyPr wrap="square">
            <a:spAutoFit/>
          </a:bodyPr>
          <a:lstStyle/>
          <a:p>
            <a:r>
              <a:rPr lang="en-US" altLang="zh-HK" dirty="0" err="1"/>
              <a:t>Heatmap</a:t>
            </a:r>
            <a:r>
              <a:rPr lang="en-US" altLang="zh-HK" dirty="0"/>
              <a:t> for popular products in the electronics category</a:t>
            </a:r>
          </a:p>
        </p:txBody>
      </p:sp>
    </p:spTree>
    <p:extLst>
      <p:ext uri="{BB962C8B-B14F-4D97-AF65-F5344CB8AC3E}">
        <p14:creationId xmlns:p14="http://schemas.microsoft.com/office/powerpoint/2010/main" val="926546585"/>
      </p:ext>
    </p:extLst>
  </p:cSld>
  <p:clrMapOvr>
    <a:masterClrMapping/>
  </p:clrMapOvr>
  <mc:AlternateContent xmlns:mc="http://schemas.openxmlformats.org/markup-compatibility/2006" xmlns:p14="http://schemas.microsoft.com/office/powerpoint/2010/main">
    <mc:Choice Requires="p14">
      <p:transition spd="slow" p14:dur="2000" advTm="30010"/>
    </mc:Choice>
    <mc:Fallback xmlns="">
      <p:transition spd="slow" advTm="30010"/>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2C39319-C3EB-463D-A73C-2DEA9D750625}"/>
              </a:ext>
            </a:extLst>
          </p:cNvPr>
          <p:cNvSpPr>
            <a:spLocks noGrp="1"/>
          </p:cNvSpPr>
          <p:nvPr>
            <p:ph type="title"/>
          </p:nvPr>
        </p:nvSpPr>
        <p:spPr/>
        <p:txBody>
          <a:bodyPr>
            <a:normAutofit/>
          </a:bodyPr>
          <a:lstStyle/>
          <a:p>
            <a:r>
              <a:rPr lang="en-US" altLang="zh-MO" sz="2800" dirty="0"/>
              <a:t> Introduction to Data Visualization Plots</a:t>
            </a:r>
            <a:endParaRPr lang="zh-MO" altLang="en-US" sz="2800" dirty="0"/>
          </a:p>
        </p:txBody>
      </p:sp>
      <p:sp>
        <p:nvSpPr>
          <p:cNvPr id="3" name="內容版面配置區 2">
            <a:extLst>
              <a:ext uri="{FF2B5EF4-FFF2-40B4-BE49-F238E27FC236}">
                <a16:creationId xmlns:a16="http://schemas.microsoft.com/office/drawing/2014/main" id="{72697A5A-2B81-4055-BE38-FBF0028B433F}"/>
              </a:ext>
            </a:extLst>
          </p:cNvPr>
          <p:cNvSpPr>
            <a:spLocks noGrp="1"/>
          </p:cNvSpPr>
          <p:nvPr>
            <p:ph idx="1"/>
          </p:nvPr>
        </p:nvSpPr>
        <p:spPr>
          <a:xfrm>
            <a:off x="958466" y="1825625"/>
            <a:ext cx="1470409" cy="4355546"/>
          </a:xfrm>
        </p:spPr>
        <p:txBody>
          <a:bodyPr anchor="ctr">
            <a:normAutofit fontScale="77500" lnSpcReduction="20000"/>
          </a:bodyPr>
          <a:lstStyle/>
          <a:p>
            <a:pPr marL="0" indent="0">
              <a:buNone/>
            </a:pPr>
            <a:r>
              <a:rPr lang="en-US" altLang="zh-MO" sz="3400" b="1" dirty="0">
                <a:solidFill>
                  <a:schemeClr val="accent4">
                    <a:lumMod val="75000"/>
                  </a:schemeClr>
                </a:solidFill>
              </a:rPr>
              <a:t>Part 3: Relation Plots</a:t>
            </a:r>
          </a:p>
          <a:p>
            <a:pPr marL="0" indent="0">
              <a:buNone/>
            </a:pPr>
            <a:r>
              <a:rPr lang="en-US" sz="2900" b="1" dirty="0">
                <a:solidFill>
                  <a:srgbClr val="FF0000"/>
                </a:solidFill>
              </a:rPr>
              <a:t>Variants: Annotated </a:t>
            </a:r>
            <a:r>
              <a:rPr lang="en-US" sz="2900" b="1" dirty="0" err="1">
                <a:solidFill>
                  <a:srgbClr val="FF0000"/>
                </a:solidFill>
              </a:rPr>
              <a:t>Heatmap</a:t>
            </a:r>
            <a:endParaRPr lang="en-US" sz="2900" b="1" dirty="0">
              <a:solidFill>
                <a:schemeClr val="accent1"/>
              </a:solidFill>
            </a:endParaRPr>
          </a:p>
          <a:p>
            <a:pPr marL="0" indent="0">
              <a:buNone/>
            </a:pPr>
            <a:r>
              <a:rPr lang="en-US" sz="2900" b="1" dirty="0">
                <a:solidFill>
                  <a:schemeClr val="accent1"/>
                </a:solidFill>
              </a:rPr>
              <a:t>Example</a:t>
            </a:r>
          </a:p>
          <a:p>
            <a:pPr marL="0" indent="0">
              <a:buNone/>
            </a:pPr>
            <a:r>
              <a:rPr lang="en-US" sz="2000" dirty="0"/>
              <a:t>Let’s see the same example we saw previously in an annotated </a:t>
            </a:r>
            <a:r>
              <a:rPr lang="en-US" sz="2000" dirty="0" err="1"/>
              <a:t>heatmap</a:t>
            </a:r>
            <a:r>
              <a:rPr lang="en-US" sz="2000" dirty="0"/>
              <a:t>, where the color shows the number of units sold:</a:t>
            </a:r>
          </a:p>
        </p:txBody>
      </p:sp>
      <p:sp>
        <p:nvSpPr>
          <p:cNvPr id="4" name="頁尾版面配置區 3">
            <a:extLst>
              <a:ext uri="{FF2B5EF4-FFF2-40B4-BE49-F238E27FC236}">
                <a16:creationId xmlns:a16="http://schemas.microsoft.com/office/drawing/2014/main" id="{4321BB31-863C-434D-9921-ADDB9CBD49A3}"/>
              </a:ext>
            </a:extLst>
          </p:cNvPr>
          <p:cNvSpPr>
            <a:spLocks noGrp="1"/>
          </p:cNvSpPr>
          <p:nvPr>
            <p:ph type="ftr" sz="quarter" idx="11"/>
          </p:nvPr>
        </p:nvSpPr>
        <p:spPr/>
        <p:txBody>
          <a:bodyPr/>
          <a:lstStyle/>
          <a:p>
            <a:pPr algn="r"/>
            <a:fld id="{215E7548-F18C-4C4B-B96B-B6533EE29CBB}" type="slidenum">
              <a:rPr lang="en-US" altLang="zh-MO" smtClean="0"/>
              <a:pPr algn="r"/>
              <a:t>39</a:t>
            </a:fld>
            <a:endParaRPr lang="en-US" dirty="0"/>
          </a:p>
        </p:txBody>
      </p:sp>
      <p:sp>
        <p:nvSpPr>
          <p:cNvPr id="5" name="文字版面配置區 4">
            <a:extLst>
              <a:ext uri="{FF2B5EF4-FFF2-40B4-BE49-F238E27FC236}">
                <a16:creationId xmlns:a16="http://schemas.microsoft.com/office/drawing/2014/main" id="{96D96DA7-63BE-4A6D-918C-73A25183ECFD}"/>
              </a:ext>
            </a:extLst>
          </p:cNvPr>
          <p:cNvSpPr>
            <a:spLocks noGrp="1"/>
          </p:cNvSpPr>
          <p:nvPr>
            <p:ph type="body" sz="quarter" idx="13"/>
          </p:nvPr>
        </p:nvSpPr>
        <p:spPr>
          <a:xfrm>
            <a:off x="838200" y="676829"/>
            <a:ext cx="8667143" cy="639324"/>
          </a:xfrm>
        </p:spPr>
        <p:txBody>
          <a:bodyPr>
            <a:noAutofit/>
          </a:bodyPr>
          <a:lstStyle/>
          <a:p>
            <a:r>
              <a:rPr lang="en-US" altLang="zh-MO" sz="3200" dirty="0">
                <a:solidFill>
                  <a:srgbClr val="C00000"/>
                </a:solidFill>
              </a:rPr>
              <a:t>CISC7204 Data Science and Data Visualization</a:t>
            </a:r>
            <a:endParaRPr lang="zh-MO" altLang="en-US" sz="3200" dirty="0"/>
          </a:p>
        </p:txBody>
      </p:sp>
      <p:pic>
        <p:nvPicPr>
          <p:cNvPr id="8" name="圖片 7"/>
          <p:cNvPicPr>
            <a:picLocks noChangeAspect="1"/>
          </p:cNvPicPr>
          <p:nvPr/>
        </p:nvPicPr>
        <p:blipFill>
          <a:blip r:embed="rId2"/>
          <a:stretch>
            <a:fillRect/>
          </a:stretch>
        </p:blipFill>
        <p:spPr>
          <a:xfrm>
            <a:off x="3333749" y="1864207"/>
            <a:ext cx="5738813" cy="4316964"/>
          </a:xfrm>
          <a:prstGeom prst="rect">
            <a:avLst/>
          </a:prstGeom>
        </p:spPr>
      </p:pic>
      <p:sp>
        <p:nvSpPr>
          <p:cNvPr id="9" name="矩形 8"/>
          <p:cNvSpPr/>
          <p:nvPr/>
        </p:nvSpPr>
        <p:spPr>
          <a:xfrm>
            <a:off x="9509498" y="2235967"/>
            <a:ext cx="2245001" cy="1200329"/>
          </a:xfrm>
          <a:prstGeom prst="rect">
            <a:avLst/>
          </a:prstGeom>
        </p:spPr>
        <p:txBody>
          <a:bodyPr wrap="square">
            <a:spAutoFit/>
          </a:bodyPr>
          <a:lstStyle/>
          <a:p>
            <a:r>
              <a:rPr lang="en-US" altLang="zh-HK" dirty="0"/>
              <a:t>Annotated </a:t>
            </a:r>
            <a:r>
              <a:rPr lang="en-US" altLang="zh-HK" dirty="0" err="1"/>
              <a:t>heatmap</a:t>
            </a:r>
            <a:r>
              <a:rPr lang="en-US" altLang="zh-HK" dirty="0"/>
              <a:t> for popular products in the electronics category</a:t>
            </a:r>
            <a:endParaRPr lang="zh-HK" altLang="en-US" dirty="0"/>
          </a:p>
        </p:txBody>
      </p:sp>
    </p:spTree>
    <p:extLst>
      <p:ext uri="{BB962C8B-B14F-4D97-AF65-F5344CB8AC3E}">
        <p14:creationId xmlns:p14="http://schemas.microsoft.com/office/powerpoint/2010/main" val="3450639268"/>
      </p:ext>
    </p:extLst>
  </p:cSld>
  <p:clrMapOvr>
    <a:masterClrMapping/>
  </p:clrMapOvr>
  <mc:AlternateContent xmlns:mc="http://schemas.openxmlformats.org/markup-compatibility/2006" xmlns:p14="http://schemas.microsoft.com/office/powerpoint/2010/main">
    <mc:Choice Requires="p14">
      <p:transition spd="slow" p14:dur="2000" advTm="30010"/>
    </mc:Choice>
    <mc:Fallback xmlns="">
      <p:transition spd="slow" advTm="30010"/>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2C39319-C3EB-463D-A73C-2DEA9D750625}"/>
              </a:ext>
            </a:extLst>
          </p:cNvPr>
          <p:cNvSpPr>
            <a:spLocks noGrp="1"/>
          </p:cNvSpPr>
          <p:nvPr>
            <p:ph type="title"/>
          </p:nvPr>
        </p:nvSpPr>
        <p:spPr/>
        <p:txBody>
          <a:bodyPr>
            <a:normAutofit/>
          </a:bodyPr>
          <a:lstStyle/>
          <a:p>
            <a:r>
              <a:rPr lang="en-US" altLang="zh-MO" sz="2800" dirty="0"/>
              <a:t> Introduction to Data Visualization Plots</a:t>
            </a:r>
            <a:endParaRPr lang="zh-MO" altLang="en-US" sz="2800" dirty="0"/>
          </a:p>
        </p:txBody>
      </p:sp>
      <p:sp>
        <p:nvSpPr>
          <p:cNvPr id="3" name="內容版面配置區 2">
            <a:extLst>
              <a:ext uri="{FF2B5EF4-FFF2-40B4-BE49-F238E27FC236}">
                <a16:creationId xmlns:a16="http://schemas.microsoft.com/office/drawing/2014/main" id="{72697A5A-2B81-4055-BE38-FBF0028B433F}"/>
              </a:ext>
            </a:extLst>
          </p:cNvPr>
          <p:cNvSpPr>
            <a:spLocks noGrp="1"/>
          </p:cNvSpPr>
          <p:nvPr>
            <p:ph idx="1"/>
          </p:nvPr>
        </p:nvSpPr>
        <p:spPr>
          <a:xfrm>
            <a:off x="958466" y="1825625"/>
            <a:ext cx="10513098" cy="4355546"/>
          </a:xfrm>
        </p:spPr>
        <p:txBody>
          <a:bodyPr anchor="ctr">
            <a:normAutofit/>
          </a:bodyPr>
          <a:lstStyle/>
          <a:p>
            <a:pPr marL="0" indent="0">
              <a:buNone/>
            </a:pPr>
            <a:r>
              <a:rPr lang="en-US" altLang="zh-MO" b="1" dirty="0">
                <a:solidFill>
                  <a:schemeClr val="accent4">
                    <a:lumMod val="75000"/>
                  </a:schemeClr>
                </a:solidFill>
              </a:rPr>
              <a:t>Part 3: Relation Plots</a:t>
            </a:r>
          </a:p>
          <a:p>
            <a:pPr marL="0" indent="0">
              <a:buNone/>
            </a:pPr>
            <a:r>
              <a:rPr lang="en-US" sz="2600" b="1" dirty="0" err="1">
                <a:solidFill>
                  <a:srgbClr val="FF0000"/>
                </a:solidFill>
              </a:rPr>
              <a:t>Heatmap</a:t>
            </a:r>
            <a:r>
              <a:rPr lang="en-US" sz="2600" b="1" dirty="0">
                <a:solidFill>
                  <a:srgbClr val="FF0000"/>
                </a:solidFill>
              </a:rPr>
              <a:t> – </a:t>
            </a:r>
            <a:r>
              <a:rPr lang="en-US" sz="2600" b="1" dirty="0">
                <a:solidFill>
                  <a:schemeClr val="accent1"/>
                </a:solidFill>
              </a:rPr>
              <a:t>Design Practices</a:t>
            </a:r>
          </a:p>
          <a:p>
            <a:r>
              <a:rPr lang="en-US" sz="2600" b="1" dirty="0"/>
              <a:t>Select colors and contrasts that will be easily visible to individuals with vision problems so that your plots are more inclusive.</a:t>
            </a:r>
          </a:p>
        </p:txBody>
      </p:sp>
      <p:sp>
        <p:nvSpPr>
          <p:cNvPr id="4" name="頁尾版面配置區 3">
            <a:extLst>
              <a:ext uri="{FF2B5EF4-FFF2-40B4-BE49-F238E27FC236}">
                <a16:creationId xmlns:a16="http://schemas.microsoft.com/office/drawing/2014/main" id="{4321BB31-863C-434D-9921-ADDB9CBD49A3}"/>
              </a:ext>
            </a:extLst>
          </p:cNvPr>
          <p:cNvSpPr>
            <a:spLocks noGrp="1"/>
          </p:cNvSpPr>
          <p:nvPr>
            <p:ph type="ftr" sz="quarter" idx="11"/>
          </p:nvPr>
        </p:nvSpPr>
        <p:spPr/>
        <p:txBody>
          <a:bodyPr/>
          <a:lstStyle/>
          <a:p>
            <a:pPr algn="r"/>
            <a:fld id="{215E7548-F18C-4C4B-B96B-B6533EE29CBB}" type="slidenum">
              <a:rPr lang="en-US" altLang="zh-MO" smtClean="0"/>
              <a:pPr algn="r"/>
              <a:t>40</a:t>
            </a:fld>
            <a:endParaRPr lang="en-US" dirty="0"/>
          </a:p>
        </p:txBody>
      </p:sp>
      <p:sp>
        <p:nvSpPr>
          <p:cNvPr id="5" name="文字版面配置區 4">
            <a:extLst>
              <a:ext uri="{FF2B5EF4-FFF2-40B4-BE49-F238E27FC236}">
                <a16:creationId xmlns:a16="http://schemas.microsoft.com/office/drawing/2014/main" id="{96D96DA7-63BE-4A6D-918C-73A25183ECFD}"/>
              </a:ext>
            </a:extLst>
          </p:cNvPr>
          <p:cNvSpPr>
            <a:spLocks noGrp="1"/>
          </p:cNvSpPr>
          <p:nvPr>
            <p:ph type="body" sz="quarter" idx="13"/>
          </p:nvPr>
        </p:nvSpPr>
        <p:spPr>
          <a:xfrm>
            <a:off x="838200" y="676829"/>
            <a:ext cx="8667143" cy="639324"/>
          </a:xfrm>
        </p:spPr>
        <p:txBody>
          <a:bodyPr>
            <a:noAutofit/>
          </a:bodyPr>
          <a:lstStyle/>
          <a:p>
            <a:r>
              <a:rPr lang="en-US" altLang="zh-MO" sz="3200" dirty="0">
                <a:solidFill>
                  <a:srgbClr val="C00000"/>
                </a:solidFill>
              </a:rPr>
              <a:t>CISC7204 Data Science and Data Visualization</a:t>
            </a:r>
            <a:endParaRPr lang="zh-MO" altLang="en-US" sz="3200" dirty="0"/>
          </a:p>
        </p:txBody>
      </p:sp>
    </p:spTree>
    <p:extLst>
      <p:ext uri="{BB962C8B-B14F-4D97-AF65-F5344CB8AC3E}">
        <p14:creationId xmlns:p14="http://schemas.microsoft.com/office/powerpoint/2010/main" val="2673145155"/>
      </p:ext>
    </p:extLst>
  </p:cSld>
  <p:clrMapOvr>
    <a:masterClrMapping/>
  </p:clrMapOvr>
  <mc:AlternateContent xmlns:mc="http://schemas.openxmlformats.org/markup-compatibility/2006" xmlns:p14="http://schemas.microsoft.com/office/powerpoint/2010/main">
    <mc:Choice Requires="p14">
      <p:transition spd="slow" p14:dur="2000" advTm="30010"/>
    </mc:Choice>
    <mc:Fallback xmlns="">
      <p:transition spd="slow" advTm="30010"/>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2C39319-C3EB-463D-A73C-2DEA9D750625}"/>
              </a:ext>
            </a:extLst>
          </p:cNvPr>
          <p:cNvSpPr>
            <a:spLocks noGrp="1"/>
          </p:cNvSpPr>
          <p:nvPr>
            <p:ph type="title"/>
          </p:nvPr>
        </p:nvSpPr>
        <p:spPr/>
        <p:txBody>
          <a:bodyPr>
            <a:normAutofit/>
          </a:bodyPr>
          <a:lstStyle/>
          <a:p>
            <a:r>
              <a:rPr lang="en-US" altLang="zh-MO" sz="2800" dirty="0"/>
              <a:t> Introduction to Data Visualization Plots</a:t>
            </a:r>
            <a:endParaRPr lang="zh-MO" altLang="en-US" sz="2800" dirty="0"/>
          </a:p>
        </p:txBody>
      </p:sp>
      <p:sp>
        <p:nvSpPr>
          <p:cNvPr id="3" name="內容版面配置區 2">
            <a:extLst>
              <a:ext uri="{FF2B5EF4-FFF2-40B4-BE49-F238E27FC236}">
                <a16:creationId xmlns:a16="http://schemas.microsoft.com/office/drawing/2014/main" id="{72697A5A-2B81-4055-BE38-FBF0028B433F}"/>
              </a:ext>
            </a:extLst>
          </p:cNvPr>
          <p:cNvSpPr>
            <a:spLocks noGrp="1"/>
          </p:cNvSpPr>
          <p:nvPr>
            <p:ph idx="1"/>
          </p:nvPr>
        </p:nvSpPr>
        <p:spPr>
          <a:xfrm>
            <a:off x="958466" y="1825625"/>
            <a:ext cx="10513098" cy="4355546"/>
          </a:xfrm>
        </p:spPr>
        <p:txBody>
          <a:bodyPr anchor="ctr">
            <a:normAutofit/>
          </a:bodyPr>
          <a:lstStyle/>
          <a:p>
            <a:pPr marL="0" indent="0">
              <a:buNone/>
            </a:pPr>
            <a:r>
              <a:rPr lang="en-US" altLang="zh-MO" sz="3500" b="1" dirty="0">
                <a:solidFill>
                  <a:schemeClr val="accent4">
                    <a:lumMod val="75000"/>
                  </a:schemeClr>
                </a:solidFill>
              </a:rPr>
              <a:t>Part 3: Relation Plots</a:t>
            </a:r>
          </a:p>
          <a:p>
            <a:pPr marL="0" indent="0">
              <a:buNone/>
            </a:pPr>
            <a:r>
              <a:rPr lang="en-US" sz="2600" b="1" dirty="0">
                <a:solidFill>
                  <a:srgbClr val="FF0000"/>
                </a:solidFill>
              </a:rPr>
              <a:t>Sum Up</a:t>
            </a:r>
            <a:endParaRPr lang="en-US" sz="2600" b="1" dirty="0">
              <a:solidFill>
                <a:schemeClr val="accent1"/>
              </a:solidFill>
            </a:endParaRPr>
          </a:p>
          <a:p>
            <a:pPr marL="0" indent="0">
              <a:buNone/>
            </a:pPr>
            <a:r>
              <a:rPr lang="en-US" sz="2600" b="1" dirty="0"/>
              <a:t>In this section, we introduced various plots for relating a variable to other variables and looked at their uses, and multiple examples for the different relation plots were given. </a:t>
            </a:r>
            <a:endParaRPr lang="en-US" sz="2200" b="1" dirty="0"/>
          </a:p>
        </p:txBody>
      </p:sp>
      <p:sp>
        <p:nvSpPr>
          <p:cNvPr id="4" name="頁尾版面配置區 3">
            <a:extLst>
              <a:ext uri="{FF2B5EF4-FFF2-40B4-BE49-F238E27FC236}">
                <a16:creationId xmlns:a16="http://schemas.microsoft.com/office/drawing/2014/main" id="{4321BB31-863C-434D-9921-ADDB9CBD49A3}"/>
              </a:ext>
            </a:extLst>
          </p:cNvPr>
          <p:cNvSpPr>
            <a:spLocks noGrp="1"/>
          </p:cNvSpPr>
          <p:nvPr>
            <p:ph type="ftr" sz="quarter" idx="11"/>
          </p:nvPr>
        </p:nvSpPr>
        <p:spPr/>
        <p:txBody>
          <a:bodyPr/>
          <a:lstStyle/>
          <a:p>
            <a:pPr algn="r"/>
            <a:fld id="{215E7548-F18C-4C4B-B96B-B6533EE29CBB}" type="slidenum">
              <a:rPr lang="en-US" altLang="zh-MO" smtClean="0"/>
              <a:pPr algn="r"/>
              <a:t>41</a:t>
            </a:fld>
            <a:endParaRPr lang="en-US" dirty="0"/>
          </a:p>
        </p:txBody>
      </p:sp>
      <p:sp>
        <p:nvSpPr>
          <p:cNvPr id="5" name="文字版面配置區 4">
            <a:extLst>
              <a:ext uri="{FF2B5EF4-FFF2-40B4-BE49-F238E27FC236}">
                <a16:creationId xmlns:a16="http://schemas.microsoft.com/office/drawing/2014/main" id="{96D96DA7-63BE-4A6D-918C-73A25183ECFD}"/>
              </a:ext>
            </a:extLst>
          </p:cNvPr>
          <p:cNvSpPr>
            <a:spLocks noGrp="1"/>
          </p:cNvSpPr>
          <p:nvPr>
            <p:ph type="body" sz="quarter" idx="13"/>
          </p:nvPr>
        </p:nvSpPr>
        <p:spPr>
          <a:xfrm>
            <a:off x="838200" y="676829"/>
            <a:ext cx="8667143" cy="639324"/>
          </a:xfrm>
        </p:spPr>
        <p:txBody>
          <a:bodyPr>
            <a:noAutofit/>
          </a:bodyPr>
          <a:lstStyle/>
          <a:p>
            <a:r>
              <a:rPr lang="en-US" altLang="zh-MO" sz="3200" dirty="0">
                <a:solidFill>
                  <a:srgbClr val="C00000"/>
                </a:solidFill>
              </a:rPr>
              <a:t>CISC7204 Data Science and Data Visualization</a:t>
            </a:r>
            <a:endParaRPr lang="zh-MO" altLang="en-US" sz="3200" dirty="0"/>
          </a:p>
        </p:txBody>
      </p:sp>
    </p:spTree>
    <p:extLst>
      <p:ext uri="{BB962C8B-B14F-4D97-AF65-F5344CB8AC3E}">
        <p14:creationId xmlns:p14="http://schemas.microsoft.com/office/powerpoint/2010/main" val="1627376278"/>
      </p:ext>
    </p:extLst>
  </p:cSld>
  <p:clrMapOvr>
    <a:masterClrMapping/>
  </p:clrMapOvr>
  <mc:AlternateContent xmlns:mc="http://schemas.openxmlformats.org/markup-compatibility/2006" xmlns:p14="http://schemas.microsoft.com/office/powerpoint/2010/main">
    <mc:Choice Requires="p14">
      <p:transition spd="slow" p14:dur="2000" advTm="30010"/>
    </mc:Choice>
    <mc:Fallback xmlns="">
      <p:transition spd="slow" advTm="30010"/>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2C39319-C3EB-463D-A73C-2DEA9D750625}"/>
              </a:ext>
            </a:extLst>
          </p:cNvPr>
          <p:cNvSpPr>
            <a:spLocks noGrp="1"/>
          </p:cNvSpPr>
          <p:nvPr>
            <p:ph type="title"/>
          </p:nvPr>
        </p:nvSpPr>
        <p:spPr/>
        <p:txBody>
          <a:bodyPr>
            <a:normAutofit/>
          </a:bodyPr>
          <a:lstStyle/>
          <a:p>
            <a:r>
              <a:rPr lang="en-US" altLang="zh-MO" sz="2800" dirty="0"/>
              <a:t> Introduction to Data Visualization Plots</a:t>
            </a:r>
            <a:endParaRPr lang="zh-MO" altLang="en-US" sz="2800" dirty="0"/>
          </a:p>
        </p:txBody>
      </p:sp>
      <p:sp>
        <p:nvSpPr>
          <p:cNvPr id="3" name="內容版面配置區 2">
            <a:extLst>
              <a:ext uri="{FF2B5EF4-FFF2-40B4-BE49-F238E27FC236}">
                <a16:creationId xmlns:a16="http://schemas.microsoft.com/office/drawing/2014/main" id="{72697A5A-2B81-4055-BE38-FBF0028B433F}"/>
              </a:ext>
            </a:extLst>
          </p:cNvPr>
          <p:cNvSpPr>
            <a:spLocks noGrp="1"/>
          </p:cNvSpPr>
          <p:nvPr>
            <p:ph idx="1"/>
          </p:nvPr>
        </p:nvSpPr>
        <p:spPr>
          <a:xfrm>
            <a:off x="838200" y="1788807"/>
            <a:ext cx="10781714" cy="4392364"/>
          </a:xfrm>
        </p:spPr>
        <p:txBody>
          <a:bodyPr anchor="ctr">
            <a:normAutofit fontScale="92500"/>
          </a:bodyPr>
          <a:lstStyle/>
          <a:p>
            <a:pPr marL="0" indent="0">
              <a:buNone/>
            </a:pPr>
            <a:r>
              <a:rPr lang="en-US" altLang="zh-MO" sz="3500" b="1" dirty="0">
                <a:solidFill>
                  <a:schemeClr val="accent4">
                    <a:lumMod val="75000"/>
                  </a:schemeClr>
                </a:solidFill>
              </a:rPr>
              <a:t>Part 4: Composition Plots</a:t>
            </a:r>
          </a:p>
          <a:p>
            <a:pPr marL="0" indent="0">
              <a:buNone/>
            </a:pPr>
            <a:r>
              <a:rPr lang="en-US" sz="2600" b="1" dirty="0"/>
              <a:t>Composition plots are ideal if you think about something as a part of a whole. For static data, you can use pie charts, stacked bar charts, or Venn diagrams. </a:t>
            </a:r>
          </a:p>
          <a:p>
            <a:r>
              <a:rPr lang="en-US" sz="2600" b="1" dirty="0"/>
              <a:t>Pie charts or donut charts help show proportions and percentages for groups. </a:t>
            </a:r>
          </a:p>
          <a:p>
            <a:r>
              <a:rPr lang="en-US" sz="2600" b="1" dirty="0"/>
              <a:t>If you need an additional dimension, stacked bar charts are great. Venn diagrams are the best way to visualize overlapping groups, where each group is represented by a circle. </a:t>
            </a:r>
          </a:p>
          <a:p>
            <a:r>
              <a:rPr lang="en-US" sz="2600" b="1" dirty="0"/>
              <a:t>For data that changes over time, you can use either stacked bar charts or stacked area charts.</a:t>
            </a:r>
            <a:endParaRPr lang="en-US" sz="2200" b="1" dirty="0"/>
          </a:p>
        </p:txBody>
      </p:sp>
      <p:sp>
        <p:nvSpPr>
          <p:cNvPr id="4" name="頁尾版面配置區 3">
            <a:extLst>
              <a:ext uri="{FF2B5EF4-FFF2-40B4-BE49-F238E27FC236}">
                <a16:creationId xmlns:a16="http://schemas.microsoft.com/office/drawing/2014/main" id="{4321BB31-863C-434D-9921-ADDB9CBD49A3}"/>
              </a:ext>
            </a:extLst>
          </p:cNvPr>
          <p:cNvSpPr>
            <a:spLocks noGrp="1"/>
          </p:cNvSpPr>
          <p:nvPr>
            <p:ph type="ftr" sz="quarter" idx="11"/>
          </p:nvPr>
        </p:nvSpPr>
        <p:spPr/>
        <p:txBody>
          <a:bodyPr/>
          <a:lstStyle/>
          <a:p>
            <a:pPr algn="r"/>
            <a:fld id="{215E7548-F18C-4C4B-B96B-B6533EE29CBB}" type="slidenum">
              <a:rPr lang="en-US" altLang="zh-MO" smtClean="0"/>
              <a:pPr algn="r"/>
              <a:t>42</a:t>
            </a:fld>
            <a:endParaRPr lang="en-US" dirty="0"/>
          </a:p>
        </p:txBody>
      </p:sp>
      <p:sp>
        <p:nvSpPr>
          <p:cNvPr id="5" name="文字版面配置區 4">
            <a:extLst>
              <a:ext uri="{FF2B5EF4-FFF2-40B4-BE49-F238E27FC236}">
                <a16:creationId xmlns:a16="http://schemas.microsoft.com/office/drawing/2014/main" id="{96D96DA7-63BE-4A6D-918C-73A25183ECFD}"/>
              </a:ext>
            </a:extLst>
          </p:cNvPr>
          <p:cNvSpPr>
            <a:spLocks noGrp="1"/>
          </p:cNvSpPr>
          <p:nvPr>
            <p:ph type="body" sz="quarter" idx="13"/>
          </p:nvPr>
        </p:nvSpPr>
        <p:spPr>
          <a:xfrm>
            <a:off x="838200" y="676829"/>
            <a:ext cx="8667143" cy="639324"/>
          </a:xfrm>
        </p:spPr>
        <p:txBody>
          <a:bodyPr>
            <a:noAutofit/>
          </a:bodyPr>
          <a:lstStyle/>
          <a:p>
            <a:r>
              <a:rPr lang="en-US" altLang="zh-MO" sz="3200" dirty="0">
                <a:solidFill>
                  <a:srgbClr val="C00000"/>
                </a:solidFill>
              </a:rPr>
              <a:t>CISC7204 Data Science and Data Visualization</a:t>
            </a:r>
            <a:endParaRPr lang="zh-MO" altLang="en-US" sz="3200" dirty="0"/>
          </a:p>
        </p:txBody>
      </p:sp>
    </p:spTree>
    <p:extLst>
      <p:ext uri="{BB962C8B-B14F-4D97-AF65-F5344CB8AC3E}">
        <p14:creationId xmlns:p14="http://schemas.microsoft.com/office/powerpoint/2010/main" val="501637297"/>
      </p:ext>
    </p:extLst>
  </p:cSld>
  <p:clrMapOvr>
    <a:masterClrMapping/>
  </p:clrMapOvr>
  <mc:AlternateContent xmlns:mc="http://schemas.openxmlformats.org/markup-compatibility/2006" xmlns:p14="http://schemas.microsoft.com/office/powerpoint/2010/main">
    <mc:Choice Requires="p14">
      <p:transition spd="slow" p14:dur="2000" advTm="30010"/>
    </mc:Choice>
    <mc:Fallback xmlns="">
      <p:transition spd="slow" advTm="30010"/>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2C39319-C3EB-463D-A73C-2DEA9D750625}"/>
              </a:ext>
            </a:extLst>
          </p:cNvPr>
          <p:cNvSpPr>
            <a:spLocks noGrp="1"/>
          </p:cNvSpPr>
          <p:nvPr>
            <p:ph type="title"/>
          </p:nvPr>
        </p:nvSpPr>
        <p:spPr/>
        <p:txBody>
          <a:bodyPr>
            <a:normAutofit/>
          </a:bodyPr>
          <a:lstStyle/>
          <a:p>
            <a:r>
              <a:rPr lang="en-US" altLang="zh-MO" sz="2800" dirty="0"/>
              <a:t> Introduction to Data Visualization Plots</a:t>
            </a:r>
            <a:endParaRPr lang="zh-MO" altLang="en-US" sz="2800" dirty="0"/>
          </a:p>
        </p:txBody>
      </p:sp>
      <p:sp>
        <p:nvSpPr>
          <p:cNvPr id="3" name="內容版面配置區 2">
            <a:extLst>
              <a:ext uri="{FF2B5EF4-FFF2-40B4-BE49-F238E27FC236}">
                <a16:creationId xmlns:a16="http://schemas.microsoft.com/office/drawing/2014/main" id="{72697A5A-2B81-4055-BE38-FBF0028B433F}"/>
              </a:ext>
            </a:extLst>
          </p:cNvPr>
          <p:cNvSpPr>
            <a:spLocks noGrp="1"/>
          </p:cNvSpPr>
          <p:nvPr>
            <p:ph idx="1"/>
          </p:nvPr>
        </p:nvSpPr>
        <p:spPr>
          <a:xfrm>
            <a:off x="838200" y="1788807"/>
            <a:ext cx="10781714" cy="4392364"/>
          </a:xfrm>
        </p:spPr>
        <p:txBody>
          <a:bodyPr anchor="ctr">
            <a:normAutofit/>
          </a:bodyPr>
          <a:lstStyle/>
          <a:p>
            <a:pPr marL="0" indent="0">
              <a:buNone/>
            </a:pPr>
            <a:r>
              <a:rPr lang="en-US" altLang="zh-MO" sz="3500" b="1" dirty="0">
                <a:solidFill>
                  <a:schemeClr val="accent4">
                    <a:lumMod val="75000"/>
                  </a:schemeClr>
                </a:solidFill>
              </a:rPr>
              <a:t>Part 4: Composition Plots</a:t>
            </a:r>
          </a:p>
          <a:p>
            <a:pPr marL="0" indent="0">
              <a:buNone/>
            </a:pPr>
            <a:r>
              <a:rPr lang="en-US" sz="2600" b="1" dirty="0">
                <a:solidFill>
                  <a:srgbClr val="FF0000"/>
                </a:solidFill>
              </a:rPr>
              <a:t>Pie Chart </a:t>
            </a:r>
          </a:p>
          <a:p>
            <a:r>
              <a:rPr lang="en-US" sz="2600" b="1" dirty="0"/>
              <a:t>Pie charts illustrate numerical proportions by dividing a circle into slices. Each arc length represents a proportion of a category. The full circle equates to 100%. For humans, it is easier to compare bars than arc lengths; therefore, it is recommended to use bar charts or stacked bar charts the majority of the time.</a:t>
            </a:r>
          </a:p>
          <a:p>
            <a:pPr marL="0" indent="0">
              <a:buNone/>
            </a:pPr>
            <a:r>
              <a:rPr lang="en-US" sz="2600" b="1" dirty="0">
                <a:solidFill>
                  <a:schemeClr val="accent1"/>
                </a:solidFill>
              </a:rPr>
              <a:t>Use</a:t>
            </a:r>
            <a:r>
              <a:rPr lang="en-US" sz="2600" b="1" dirty="0"/>
              <a:t> </a:t>
            </a:r>
          </a:p>
          <a:p>
            <a:r>
              <a:rPr lang="en-US" sz="2600" b="1" dirty="0"/>
              <a:t>To compare items that are part of a whole.</a:t>
            </a:r>
            <a:endParaRPr lang="en-US" sz="2200" b="1" dirty="0"/>
          </a:p>
        </p:txBody>
      </p:sp>
      <p:sp>
        <p:nvSpPr>
          <p:cNvPr id="4" name="頁尾版面配置區 3">
            <a:extLst>
              <a:ext uri="{FF2B5EF4-FFF2-40B4-BE49-F238E27FC236}">
                <a16:creationId xmlns:a16="http://schemas.microsoft.com/office/drawing/2014/main" id="{4321BB31-863C-434D-9921-ADDB9CBD49A3}"/>
              </a:ext>
            </a:extLst>
          </p:cNvPr>
          <p:cNvSpPr>
            <a:spLocks noGrp="1"/>
          </p:cNvSpPr>
          <p:nvPr>
            <p:ph type="ftr" sz="quarter" idx="11"/>
          </p:nvPr>
        </p:nvSpPr>
        <p:spPr/>
        <p:txBody>
          <a:bodyPr/>
          <a:lstStyle/>
          <a:p>
            <a:pPr algn="r"/>
            <a:fld id="{215E7548-F18C-4C4B-B96B-B6533EE29CBB}" type="slidenum">
              <a:rPr lang="en-US" altLang="zh-MO" smtClean="0"/>
              <a:pPr algn="r"/>
              <a:t>43</a:t>
            </a:fld>
            <a:endParaRPr lang="en-US" dirty="0"/>
          </a:p>
        </p:txBody>
      </p:sp>
      <p:sp>
        <p:nvSpPr>
          <p:cNvPr id="5" name="文字版面配置區 4">
            <a:extLst>
              <a:ext uri="{FF2B5EF4-FFF2-40B4-BE49-F238E27FC236}">
                <a16:creationId xmlns:a16="http://schemas.microsoft.com/office/drawing/2014/main" id="{96D96DA7-63BE-4A6D-918C-73A25183ECFD}"/>
              </a:ext>
            </a:extLst>
          </p:cNvPr>
          <p:cNvSpPr>
            <a:spLocks noGrp="1"/>
          </p:cNvSpPr>
          <p:nvPr>
            <p:ph type="body" sz="quarter" idx="13"/>
          </p:nvPr>
        </p:nvSpPr>
        <p:spPr>
          <a:xfrm>
            <a:off x="838200" y="676829"/>
            <a:ext cx="8667143" cy="639324"/>
          </a:xfrm>
        </p:spPr>
        <p:txBody>
          <a:bodyPr>
            <a:noAutofit/>
          </a:bodyPr>
          <a:lstStyle/>
          <a:p>
            <a:r>
              <a:rPr lang="en-US" altLang="zh-MO" sz="3200" dirty="0">
                <a:solidFill>
                  <a:srgbClr val="C00000"/>
                </a:solidFill>
              </a:rPr>
              <a:t>CISC7204 Data Science and Data Visualization</a:t>
            </a:r>
            <a:endParaRPr lang="zh-MO" altLang="en-US" sz="3200" dirty="0"/>
          </a:p>
        </p:txBody>
      </p:sp>
    </p:spTree>
    <p:extLst>
      <p:ext uri="{BB962C8B-B14F-4D97-AF65-F5344CB8AC3E}">
        <p14:creationId xmlns:p14="http://schemas.microsoft.com/office/powerpoint/2010/main" val="2641545838"/>
      </p:ext>
    </p:extLst>
  </p:cSld>
  <p:clrMapOvr>
    <a:masterClrMapping/>
  </p:clrMapOvr>
  <mc:AlternateContent xmlns:mc="http://schemas.openxmlformats.org/markup-compatibility/2006" xmlns:p14="http://schemas.microsoft.com/office/powerpoint/2010/main">
    <mc:Choice Requires="p14">
      <p:transition spd="slow" p14:dur="2000" advTm="30010"/>
    </mc:Choice>
    <mc:Fallback xmlns="">
      <p:transition spd="slow" advTm="30010"/>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2C39319-C3EB-463D-A73C-2DEA9D750625}"/>
              </a:ext>
            </a:extLst>
          </p:cNvPr>
          <p:cNvSpPr>
            <a:spLocks noGrp="1"/>
          </p:cNvSpPr>
          <p:nvPr>
            <p:ph type="title"/>
          </p:nvPr>
        </p:nvSpPr>
        <p:spPr/>
        <p:txBody>
          <a:bodyPr>
            <a:normAutofit/>
          </a:bodyPr>
          <a:lstStyle/>
          <a:p>
            <a:r>
              <a:rPr lang="en-US" altLang="zh-MO" sz="2800" dirty="0"/>
              <a:t> Introduction to Data Visualization Plots</a:t>
            </a:r>
            <a:endParaRPr lang="zh-MO" altLang="en-US" sz="2800" dirty="0"/>
          </a:p>
        </p:txBody>
      </p:sp>
      <p:sp>
        <p:nvSpPr>
          <p:cNvPr id="3" name="內容版面配置區 2">
            <a:extLst>
              <a:ext uri="{FF2B5EF4-FFF2-40B4-BE49-F238E27FC236}">
                <a16:creationId xmlns:a16="http://schemas.microsoft.com/office/drawing/2014/main" id="{72697A5A-2B81-4055-BE38-FBF0028B433F}"/>
              </a:ext>
            </a:extLst>
          </p:cNvPr>
          <p:cNvSpPr>
            <a:spLocks noGrp="1"/>
          </p:cNvSpPr>
          <p:nvPr>
            <p:ph idx="1"/>
          </p:nvPr>
        </p:nvSpPr>
        <p:spPr>
          <a:xfrm>
            <a:off x="838201" y="1788807"/>
            <a:ext cx="1747838" cy="4392364"/>
          </a:xfrm>
        </p:spPr>
        <p:txBody>
          <a:bodyPr anchor="ctr">
            <a:normAutofit/>
          </a:bodyPr>
          <a:lstStyle/>
          <a:p>
            <a:pPr marL="0" indent="0">
              <a:buNone/>
            </a:pPr>
            <a:r>
              <a:rPr lang="en-US" altLang="zh-MO" sz="2000" b="1" dirty="0">
                <a:solidFill>
                  <a:schemeClr val="accent4">
                    <a:lumMod val="75000"/>
                  </a:schemeClr>
                </a:solidFill>
              </a:rPr>
              <a:t>Part 4: Composition Plots</a:t>
            </a:r>
          </a:p>
          <a:p>
            <a:pPr marL="0" indent="0">
              <a:buNone/>
            </a:pPr>
            <a:r>
              <a:rPr lang="en-US" sz="1900" b="1" dirty="0">
                <a:solidFill>
                  <a:srgbClr val="FF0000"/>
                </a:solidFill>
              </a:rPr>
              <a:t>Pie Chart </a:t>
            </a:r>
          </a:p>
          <a:p>
            <a:pPr marL="0" indent="0">
              <a:buNone/>
            </a:pPr>
            <a:r>
              <a:rPr lang="en-US" sz="1900" b="1" dirty="0"/>
              <a:t>Example</a:t>
            </a:r>
          </a:p>
          <a:p>
            <a:pPr marL="0" indent="0">
              <a:buNone/>
            </a:pPr>
            <a:r>
              <a:rPr lang="en-US" sz="1900" dirty="0"/>
              <a:t>The following diagram shows household water usage around the world:</a:t>
            </a:r>
          </a:p>
        </p:txBody>
      </p:sp>
      <p:sp>
        <p:nvSpPr>
          <p:cNvPr id="4" name="頁尾版面配置區 3">
            <a:extLst>
              <a:ext uri="{FF2B5EF4-FFF2-40B4-BE49-F238E27FC236}">
                <a16:creationId xmlns:a16="http://schemas.microsoft.com/office/drawing/2014/main" id="{4321BB31-863C-434D-9921-ADDB9CBD49A3}"/>
              </a:ext>
            </a:extLst>
          </p:cNvPr>
          <p:cNvSpPr>
            <a:spLocks noGrp="1"/>
          </p:cNvSpPr>
          <p:nvPr>
            <p:ph type="ftr" sz="quarter" idx="11"/>
          </p:nvPr>
        </p:nvSpPr>
        <p:spPr/>
        <p:txBody>
          <a:bodyPr/>
          <a:lstStyle/>
          <a:p>
            <a:pPr algn="r"/>
            <a:fld id="{215E7548-F18C-4C4B-B96B-B6533EE29CBB}" type="slidenum">
              <a:rPr lang="en-US" altLang="zh-MO" smtClean="0"/>
              <a:pPr algn="r"/>
              <a:t>44</a:t>
            </a:fld>
            <a:endParaRPr lang="en-US" dirty="0"/>
          </a:p>
        </p:txBody>
      </p:sp>
      <p:sp>
        <p:nvSpPr>
          <p:cNvPr id="5" name="文字版面配置區 4">
            <a:extLst>
              <a:ext uri="{FF2B5EF4-FFF2-40B4-BE49-F238E27FC236}">
                <a16:creationId xmlns:a16="http://schemas.microsoft.com/office/drawing/2014/main" id="{96D96DA7-63BE-4A6D-918C-73A25183ECFD}"/>
              </a:ext>
            </a:extLst>
          </p:cNvPr>
          <p:cNvSpPr>
            <a:spLocks noGrp="1"/>
          </p:cNvSpPr>
          <p:nvPr>
            <p:ph type="body" sz="quarter" idx="13"/>
          </p:nvPr>
        </p:nvSpPr>
        <p:spPr>
          <a:xfrm>
            <a:off x="838200" y="676829"/>
            <a:ext cx="8667143" cy="639324"/>
          </a:xfrm>
        </p:spPr>
        <p:txBody>
          <a:bodyPr>
            <a:noAutofit/>
          </a:bodyPr>
          <a:lstStyle/>
          <a:p>
            <a:r>
              <a:rPr lang="en-US" altLang="zh-MO" sz="3200" dirty="0">
                <a:solidFill>
                  <a:srgbClr val="C00000"/>
                </a:solidFill>
              </a:rPr>
              <a:t>CISC7204 Data Science and Data Visualization</a:t>
            </a:r>
            <a:endParaRPr lang="zh-MO" altLang="en-US" sz="3200" dirty="0"/>
          </a:p>
        </p:txBody>
      </p:sp>
      <p:pic>
        <p:nvPicPr>
          <p:cNvPr id="6" name="圖片 5"/>
          <p:cNvPicPr>
            <a:picLocks noChangeAspect="1"/>
          </p:cNvPicPr>
          <p:nvPr/>
        </p:nvPicPr>
        <p:blipFill>
          <a:blip r:embed="rId2"/>
          <a:stretch>
            <a:fillRect/>
          </a:stretch>
        </p:blipFill>
        <p:spPr>
          <a:xfrm>
            <a:off x="3343275" y="1734526"/>
            <a:ext cx="5214937" cy="4593426"/>
          </a:xfrm>
          <a:prstGeom prst="rect">
            <a:avLst/>
          </a:prstGeom>
        </p:spPr>
      </p:pic>
      <p:sp>
        <p:nvSpPr>
          <p:cNvPr id="7" name="矩形 6"/>
          <p:cNvSpPr/>
          <p:nvPr/>
        </p:nvSpPr>
        <p:spPr>
          <a:xfrm>
            <a:off x="9120570" y="2276930"/>
            <a:ext cx="1855782" cy="923330"/>
          </a:xfrm>
          <a:prstGeom prst="rect">
            <a:avLst/>
          </a:prstGeom>
        </p:spPr>
        <p:txBody>
          <a:bodyPr wrap="square">
            <a:spAutoFit/>
          </a:bodyPr>
          <a:lstStyle/>
          <a:p>
            <a:r>
              <a:rPr lang="en-US" altLang="zh-HK" dirty="0"/>
              <a:t>Pie chart for global household water usage</a:t>
            </a:r>
            <a:endParaRPr lang="zh-HK" altLang="en-US" dirty="0"/>
          </a:p>
        </p:txBody>
      </p:sp>
    </p:spTree>
    <p:extLst>
      <p:ext uri="{BB962C8B-B14F-4D97-AF65-F5344CB8AC3E}">
        <p14:creationId xmlns:p14="http://schemas.microsoft.com/office/powerpoint/2010/main" val="3977766189"/>
      </p:ext>
    </p:extLst>
  </p:cSld>
  <p:clrMapOvr>
    <a:masterClrMapping/>
  </p:clrMapOvr>
  <mc:AlternateContent xmlns:mc="http://schemas.openxmlformats.org/markup-compatibility/2006" xmlns:p14="http://schemas.microsoft.com/office/powerpoint/2010/main">
    <mc:Choice Requires="p14">
      <p:transition spd="slow" p14:dur="2000" advTm="30010"/>
    </mc:Choice>
    <mc:Fallback xmlns="">
      <p:transition spd="slow" advTm="30010"/>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2C39319-C3EB-463D-A73C-2DEA9D750625}"/>
              </a:ext>
            </a:extLst>
          </p:cNvPr>
          <p:cNvSpPr>
            <a:spLocks noGrp="1"/>
          </p:cNvSpPr>
          <p:nvPr>
            <p:ph type="title"/>
          </p:nvPr>
        </p:nvSpPr>
        <p:spPr/>
        <p:txBody>
          <a:bodyPr>
            <a:normAutofit/>
          </a:bodyPr>
          <a:lstStyle/>
          <a:p>
            <a:r>
              <a:rPr lang="en-US" altLang="zh-MO" sz="2800" dirty="0"/>
              <a:t> Introduction to Data Visualization Plots</a:t>
            </a:r>
            <a:endParaRPr lang="zh-MO" altLang="en-US" sz="2800" dirty="0"/>
          </a:p>
        </p:txBody>
      </p:sp>
      <p:sp>
        <p:nvSpPr>
          <p:cNvPr id="3" name="內容版面配置區 2">
            <a:extLst>
              <a:ext uri="{FF2B5EF4-FFF2-40B4-BE49-F238E27FC236}">
                <a16:creationId xmlns:a16="http://schemas.microsoft.com/office/drawing/2014/main" id="{72697A5A-2B81-4055-BE38-FBF0028B433F}"/>
              </a:ext>
            </a:extLst>
          </p:cNvPr>
          <p:cNvSpPr>
            <a:spLocks noGrp="1"/>
          </p:cNvSpPr>
          <p:nvPr>
            <p:ph idx="1"/>
          </p:nvPr>
        </p:nvSpPr>
        <p:spPr>
          <a:xfrm>
            <a:off x="838200" y="1788807"/>
            <a:ext cx="11042374" cy="4392364"/>
          </a:xfrm>
        </p:spPr>
        <p:txBody>
          <a:bodyPr anchor="ctr">
            <a:normAutofit/>
          </a:bodyPr>
          <a:lstStyle/>
          <a:p>
            <a:pPr marL="0" indent="0">
              <a:buNone/>
            </a:pPr>
            <a:r>
              <a:rPr lang="en-US" altLang="zh-MO" sz="3500" b="1" dirty="0">
                <a:solidFill>
                  <a:schemeClr val="accent4">
                    <a:lumMod val="75000"/>
                  </a:schemeClr>
                </a:solidFill>
              </a:rPr>
              <a:t>Part 4: Composition Plots</a:t>
            </a:r>
          </a:p>
          <a:p>
            <a:pPr marL="0" indent="0">
              <a:buNone/>
            </a:pPr>
            <a:r>
              <a:rPr lang="en-US" sz="2600" b="1" dirty="0">
                <a:solidFill>
                  <a:srgbClr val="FF0000"/>
                </a:solidFill>
              </a:rPr>
              <a:t>Pie Chart – </a:t>
            </a:r>
            <a:r>
              <a:rPr lang="en-US" sz="2600" b="1" dirty="0">
                <a:solidFill>
                  <a:schemeClr val="accent1"/>
                </a:solidFill>
              </a:rPr>
              <a:t>Design Practices</a:t>
            </a:r>
          </a:p>
          <a:p>
            <a:r>
              <a:rPr lang="en-US" sz="2600" b="1" dirty="0"/>
              <a:t>Arrange the slices according to their size in increasing/decreasing order, either in a clockwise or counterclockwise manner.</a:t>
            </a:r>
          </a:p>
          <a:p>
            <a:r>
              <a:rPr lang="en-US" sz="2600" b="1" dirty="0"/>
              <a:t>Make sure that every slice has a different color.</a:t>
            </a:r>
            <a:endParaRPr lang="en-US" sz="2200" b="1" dirty="0"/>
          </a:p>
        </p:txBody>
      </p:sp>
      <p:sp>
        <p:nvSpPr>
          <p:cNvPr id="4" name="頁尾版面配置區 3">
            <a:extLst>
              <a:ext uri="{FF2B5EF4-FFF2-40B4-BE49-F238E27FC236}">
                <a16:creationId xmlns:a16="http://schemas.microsoft.com/office/drawing/2014/main" id="{4321BB31-863C-434D-9921-ADDB9CBD49A3}"/>
              </a:ext>
            </a:extLst>
          </p:cNvPr>
          <p:cNvSpPr>
            <a:spLocks noGrp="1"/>
          </p:cNvSpPr>
          <p:nvPr>
            <p:ph type="ftr" sz="quarter" idx="11"/>
          </p:nvPr>
        </p:nvSpPr>
        <p:spPr/>
        <p:txBody>
          <a:bodyPr/>
          <a:lstStyle/>
          <a:p>
            <a:pPr algn="r"/>
            <a:fld id="{215E7548-F18C-4C4B-B96B-B6533EE29CBB}" type="slidenum">
              <a:rPr lang="en-US" altLang="zh-MO" smtClean="0"/>
              <a:pPr algn="r"/>
              <a:t>45</a:t>
            </a:fld>
            <a:endParaRPr lang="en-US" dirty="0"/>
          </a:p>
        </p:txBody>
      </p:sp>
      <p:sp>
        <p:nvSpPr>
          <p:cNvPr id="5" name="文字版面配置區 4">
            <a:extLst>
              <a:ext uri="{FF2B5EF4-FFF2-40B4-BE49-F238E27FC236}">
                <a16:creationId xmlns:a16="http://schemas.microsoft.com/office/drawing/2014/main" id="{96D96DA7-63BE-4A6D-918C-73A25183ECFD}"/>
              </a:ext>
            </a:extLst>
          </p:cNvPr>
          <p:cNvSpPr>
            <a:spLocks noGrp="1"/>
          </p:cNvSpPr>
          <p:nvPr>
            <p:ph type="body" sz="quarter" idx="13"/>
          </p:nvPr>
        </p:nvSpPr>
        <p:spPr>
          <a:xfrm>
            <a:off x="838200" y="676829"/>
            <a:ext cx="8667143" cy="639324"/>
          </a:xfrm>
        </p:spPr>
        <p:txBody>
          <a:bodyPr>
            <a:noAutofit/>
          </a:bodyPr>
          <a:lstStyle/>
          <a:p>
            <a:r>
              <a:rPr lang="en-US" altLang="zh-MO" sz="3200" dirty="0">
                <a:solidFill>
                  <a:srgbClr val="C00000"/>
                </a:solidFill>
              </a:rPr>
              <a:t>CISC7204 Data Science and Data Visualization</a:t>
            </a:r>
            <a:endParaRPr lang="zh-MO" altLang="en-US" sz="3200" dirty="0"/>
          </a:p>
        </p:txBody>
      </p:sp>
    </p:spTree>
    <p:extLst>
      <p:ext uri="{BB962C8B-B14F-4D97-AF65-F5344CB8AC3E}">
        <p14:creationId xmlns:p14="http://schemas.microsoft.com/office/powerpoint/2010/main" val="3080858049"/>
      </p:ext>
    </p:extLst>
  </p:cSld>
  <p:clrMapOvr>
    <a:masterClrMapping/>
  </p:clrMapOvr>
  <mc:AlternateContent xmlns:mc="http://schemas.openxmlformats.org/markup-compatibility/2006" xmlns:p14="http://schemas.microsoft.com/office/powerpoint/2010/main">
    <mc:Choice Requires="p14">
      <p:transition spd="slow" p14:dur="2000" advTm="30010"/>
    </mc:Choice>
    <mc:Fallback xmlns="">
      <p:transition spd="slow" advTm="30010"/>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2C39319-C3EB-463D-A73C-2DEA9D750625}"/>
              </a:ext>
            </a:extLst>
          </p:cNvPr>
          <p:cNvSpPr>
            <a:spLocks noGrp="1"/>
          </p:cNvSpPr>
          <p:nvPr>
            <p:ph type="title"/>
          </p:nvPr>
        </p:nvSpPr>
        <p:spPr/>
        <p:txBody>
          <a:bodyPr>
            <a:normAutofit/>
          </a:bodyPr>
          <a:lstStyle/>
          <a:p>
            <a:r>
              <a:rPr lang="en-US" altLang="zh-MO" sz="2800" dirty="0"/>
              <a:t> Introduction to Data Visualization Plots</a:t>
            </a:r>
            <a:endParaRPr lang="zh-MO" altLang="en-US" sz="2800" dirty="0"/>
          </a:p>
        </p:txBody>
      </p:sp>
      <p:sp>
        <p:nvSpPr>
          <p:cNvPr id="3" name="內容版面配置區 2">
            <a:extLst>
              <a:ext uri="{FF2B5EF4-FFF2-40B4-BE49-F238E27FC236}">
                <a16:creationId xmlns:a16="http://schemas.microsoft.com/office/drawing/2014/main" id="{72697A5A-2B81-4055-BE38-FBF0028B433F}"/>
              </a:ext>
            </a:extLst>
          </p:cNvPr>
          <p:cNvSpPr>
            <a:spLocks noGrp="1"/>
          </p:cNvSpPr>
          <p:nvPr>
            <p:ph idx="1"/>
          </p:nvPr>
        </p:nvSpPr>
        <p:spPr>
          <a:xfrm>
            <a:off x="838200" y="1788807"/>
            <a:ext cx="11042374" cy="4392364"/>
          </a:xfrm>
        </p:spPr>
        <p:txBody>
          <a:bodyPr anchor="ctr">
            <a:normAutofit/>
          </a:bodyPr>
          <a:lstStyle/>
          <a:p>
            <a:pPr marL="0" indent="0">
              <a:buNone/>
            </a:pPr>
            <a:r>
              <a:rPr lang="en-US" altLang="zh-MO" sz="3500" b="1" dirty="0">
                <a:solidFill>
                  <a:schemeClr val="accent4">
                    <a:lumMod val="75000"/>
                  </a:schemeClr>
                </a:solidFill>
              </a:rPr>
              <a:t>Part 4: Composition Plots</a:t>
            </a:r>
          </a:p>
          <a:p>
            <a:pPr marL="0" indent="0">
              <a:buNone/>
            </a:pPr>
            <a:r>
              <a:rPr lang="en-US" sz="2600" b="1" dirty="0">
                <a:solidFill>
                  <a:srgbClr val="FF0000"/>
                </a:solidFill>
              </a:rPr>
              <a:t>Variants: Donut Chart </a:t>
            </a:r>
          </a:p>
          <a:p>
            <a:r>
              <a:rPr lang="en-US" sz="2600" b="1" dirty="0"/>
              <a:t>An alternative to a pie chart is a donut chart. In contrast to pie charts, it is easier to compare the size of slices, since the reader focuses more on reading the length of the arcs instead of the area. </a:t>
            </a:r>
          </a:p>
          <a:p>
            <a:r>
              <a:rPr lang="en-US" sz="2600" b="1" dirty="0"/>
              <a:t>Donut charts are also more space-efficient because the center is cut out, so it can be used to display information or further divide groups into subgroups.</a:t>
            </a:r>
            <a:endParaRPr lang="en-US" sz="2200" b="1" dirty="0"/>
          </a:p>
        </p:txBody>
      </p:sp>
      <p:sp>
        <p:nvSpPr>
          <p:cNvPr id="4" name="頁尾版面配置區 3">
            <a:extLst>
              <a:ext uri="{FF2B5EF4-FFF2-40B4-BE49-F238E27FC236}">
                <a16:creationId xmlns:a16="http://schemas.microsoft.com/office/drawing/2014/main" id="{4321BB31-863C-434D-9921-ADDB9CBD49A3}"/>
              </a:ext>
            </a:extLst>
          </p:cNvPr>
          <p:cNvSpPr>
            <a:spLocks noGrp="1"/>
          </p:cNvSpPr>
          <p:nvPr>
            <p:ph type="ftr" sz="quarter" idx="11"/>
          </p:nvPr>
        </p:nvSpPr>
        <p:spPr/>
        <p:txBody>
          <a:bodyPr/>
          <a:lstStyle/>
          <a:p>
            <a:pPr algn="r"/>
            <a:fld id="{215E7548-F18C-4C4B-B96B-B6533EE29CBB}" type="slidenum">
              <a:rPr lang="en-US" altLang="zh-MO" smtClean="0"/>
              <a:pPr algn="r"/>
              <a:t>46</a:t>
            </a:fld>
            <a:endParaRPr lang="en-US" dirty="0"/>
          </a:p>
        </p:txBody>
      </p:sp>
      <p:sp>
        <p:nvSpPr>
          <p:cNvPr id="5" name="文字版面配置區 4">
            <a:extLst>
              <a:ext uri="{FF2B5EF4-FFF2-40B4-BE49-F238E27FC236}">
                <a16:creationId xmlns:a16="http://schemas.microsoft.com/office/drawing/2014/main" id="{96D96DA7-63BE-4A6D-918C-73A25183ECFD}"/>
              </a:ext>
            </a:extLst>
          </p:cNvPr>
          <p:cNvSpPr>
            <a:spLocks noGrp="1"/>
          </p:cNvSpPr>
          <p:nvPr>
            <p:ph type="body" sz="quarter" idx="13"/>
          </p:nvPr>
        </p:nvSpPr>
        <p:spPr>
          <a:xfrm>
            <a:off x="838200" y="676829"/>
            <a:ext cx="8667143" cy="639324"/>
          </a:xfrm>
        </p:spPr>
        <p:txBody>
          <a:bodyPr>
            <a:noAutofit/>
          </a:bodyPr>
          <a:lstStyle/>
          <a:p>
            <a:r>
              <a:rPr lang="en-US" altLang="zh-MO" sz="3200" dirty="0">
                <a:solidFill>
                  <a:srgbClr val="C00000"/>
                </a:solidFill>
              </a:rPr>
              <a:t>CISC7204 Data Science and Data Visualization</a:t>
            </a:r>
            <a:endParaRPr lang="zh-MO" altLang="en-US" sz="3200" dirty="0"/>
          </a:p>
        </p:txBody>
      </p:sp>
    </p:spTree>
    <p:extLst>
      <p:ext uri="{BB962C8B-B14F-4D97-AF65-F5344CB8AC3E}">
        <p14:creationId xmlns:p14="http://schemas.microsoft.com/office/powerpoint/2010/main" val="1769114195"/>
      </p:ext>
    </p:extLst>
  </p:cSld>
  <p:clrMapOvr>
    <a:masterClrMapping/>
  </p:clrMapOvr>
  <mc:AlternateContent xmlns:mc="http://schemas.openxmlformats.org/markup-compatibility/2006" xmlns:p14="http://schemas.microsoft.com/office/powerpoint/2010/main">
    <mc:Choice Requires="p14">
      <p:transition spd="slow" p14:dur="2000" advTm="30010"/>
    </mc:Choice>
    <mc:Fallback xmlns="">
      <p:transition spd="slow" advTm="30010"/>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2C39319-C3EB-463D-A73C-2DEA9D750625}"/>
              </a:ext>
            </a:extLst>
          </p:cNvPr>
          <p:cNvSpPr>
            <a:spLocks noGrp="1"/>
          </p:cNvSpPr>
          <p:nvPr>
            <p:ph type="title"/>
          </p:nvPr>
        </p:nvSpPr>
        <p:spPr/>
        <p:txBody>
          <a:bodyPr>
            <a:normAutofit/>
          </a:bodyPr>
          <a:lstStyle/>
          <a:p>
            <a:r>
              <a:rPr lang="en-US" altLang="zh-MO" sz="2800" dirty="0"/>
              <a:t> Introduction to Data Visualization Plots</a:t>
            </a:r>
            <a:endParaRPr lang="zh-MO" altLang="en-US" sz="2800" dirty="0"/>
          </a:p>
        </p:txBody>
      </p:sp>
      <p:sp>
        <p:nvSpPr>
          <p:cNvPr id="3" name="內容版面配置區 2">
            <a:extLst>
              <a:ext uri="{FF2B5EF4-FFF2-40B4-BE49-F238E27FC236}">
                <a16:creationId xmlns:a16="http://schemas.microsoft.com/office/drawing/2014/main" id="{72697A5A-2B81-4055-BE38-FBF0028B433F}"/>
              </a:ext>
            </a:extLst>
          </p:cNvPr>
          <p:cNvSpPr>
            <a:spLocks noGrp="1"/>
          </p:cNvSpPr>
          <p:nvPr>
            <p:ph idx="1"/>
          </p:nvPr>
        </p:nvSpPr>
        <p:spPr>
          <a:xfrm>
            <a:off x="838201" y="1788807"/>
            <a:ext cx="1747838" cy="4392364"/>
          </a:xfrm>
        </p:spPr>
        <p:txBody>
          <a:bodyPr anchor="ctr">
            <a:normAutofit/>
          </a:bodyPr>
          <a:lstStyle/>
          <a:p>
            <a:pPr marL="0" indent="0">
              <a:buNone/>
            </a:pPr>
            <a:r>
              <a:rPr lang="en-US" altLang="zh-MO" sz="2000" b="1" dirty="0">
                <a:solidFill>
                  <a:schemeClr val="accent4">
                    <a:lumMod val="75000"/>
                  </a:schemeClr>
                </a:solidFill>
              </a:rPr>
              <a:t>Part 4: Composition Plots</a:t>
            </a:r>
          </a:p>
          <a:p>
            <a:pPr marL="0" indent="0">
              <a:buNone/>
            </a:pPr>
            <a:r>
              <a:rPr lang="en-US" sz="1900" b="1" dirty="0">
                <a:solidFill>
                  <a:srgbClr val="FF0000"/>
                </a:solidFill>
              </a:rPr>
              <a:t>Donut Chart </a:t>
            </a:r>
          </a:p>
          <a:p>
            <a:pPr marL="0" indent="0">
              <a:buNone/>
            </a:pPr>
            <a:r>
              <a:rPr lang="en-US" sz="1900" b="1" dirty="0"/>
              <a:t>Example</a:t>
            </a:r>
          </a:p>
          <a:p>
            <a:pPr marL="0" indent="0">
              <a:buNone/>
            </a:pPr>
            <a:r>
              <a:rPr lang="en-US" altLang="zh-HK" sz="1800" dirty="0"/>
              <a:t>The diagram shows a basic donut chart:</a:t>
            </a:r>
            <a:endParaRPr lang="en-US" sz="1800" dirty="0"/>
          </a:p>
        </p:txBody>
      </p:sp>
      <p:sp>
        <p:nvSpPr>
          <p:cNvPr id="4" name="頁尾版面配置區 3">
            <a:extLst>
              <a:ext uri="{FF2B5EF4-FFF2-40B4-BE49-F238E27FC236}">
                <a16:creationId xmlns:a16="http://schemas.microsoft.com/office/drawing/2014/main" id="{4321BB31-863C-434D-9921-ADDB9CBD49A3}"/>
              </a:ext>
            </a:extLst>
          </p:cNvPr>
          <p:cNvSpPr>
            <a:spLocks noGrp="1"/>
          </p:cNvSpPr>
          <p:nvPr>
            <p:ph type="ftr" sz="quarter" idx="11"/>
          </p:nvPr>
        </p:nvSpPr>
        <p:spPr/>
        <p:txBody>
          <a:bodyPr/>
          <a:lstStyle/>
          <a:p>
            <a:pPr algn="r"/>
            <a:fld id="{215E7548-F18C-4C4B-B96B-B6533EE29CBB}" type="slidenum">
              <a:rPr lang="en-US" altLang="zh-MO" smtClean="0"/>
              <a:pPr algn="r"/>
              <a:t>47</a:t>
            </a:fld>
            <a:endParaRPr lang="en-US" dirty="0"/>
          </a:p>
        </p:txBody>
      </p:sp>
      <p:sp>
        <p:nvSpPr>
          <p:cNvPr id="5" name="文字版面配置區 4">
            <a:extLst>
              <a:ext uri="{FF2B5EF4-FFF2-40B4-BE49-F238E27FC236}">
                <a16:creationId xmlns:a16="http://schemas.microsoft.com/office/drawing/2014/main" id="{96D96DA7-63BE-4A6D-918C-73A25183ECFD}"/>
              </a:ext>
            </a:extLst>
          </p:cNvPr>
          <p:cNvSpPr>
            <a:spLocks noGrp="1"/>
          </p:cNvSpPr>
          <p:nvPr>
            <p:ph type="body" sz="quarter" idx="13"/>
          </p:nvPr>
        </p:nvSpPr>
        <p:spPr>
          <a:xfrm>
            <a:off x="838200" y="676829"/>
            <a:ext cx="8667143" cy="639324"/>
          </a:xfrm>
        </p:spPr>
        <p:txBody>
          <a:bodyPr>
            <a:noAutofit/>
          </a:bodyPr>
          <a:lstStyle/>
          <a:p>
            <a:r>
              <a:rPr lang="en-US" altLang="zh-MO" sz="3200" dirty="0">
                <a:solidFill>
                  <a:srgbClr val="C00000"/>
                </a:solidFill>
              </a:rPr>
              <a:t>CISC7204 Data Science and Data Visualization</a:t>
            </a:r>
            <a:endParaRPr lang="zh-MO" altLang="en-US" sz="3200" dirty="0"/>
          </a:p>
        </p:txBody>
      </p:sp>
      <p:pic>
        <p:nvPicPr>
          <p:cNvPr id="8" name="圖片 7"/>
          <p:cNvPicPr>
            <a:picLocks noChangeAspect="1"/>
          </p:cNvPicPr>
          <p:nvPr/>
        </p:nvPicPr>
        <p:blipFill>
          <a:blip r:embed="rId2"/>
          <a:stretch>
            <a:fillRect/>
          </a:stretch>
        </p:blipFill>
        <p:spPr>
          <a:xfrm>
            <a:off x="3543300" y="2019299"/>
            <a:ext cx="5257800" cy="4161871"/>
          </a:xfrm>
          <a:prstGeom prst="rect">
            <a:avLst/>
          </a:prstGeom>
        </p:spPr>
      </p:pic>
      <p:sp>
        <p:nvSpPr>
          <p:cNvPr id="9" name="矩形 8"/>
          <p:cNvSpPr/>
          <p:nvPr/>
        </p:nvSpPr>
        <p:spPr>
          <a:xfrm>
            <a:off x="9505343" y="3800323"/>
            <a:ext cx="1309974" cy="369332"/>
          </a:xfrm>
          <a:prstGeom prst="rect">
            <a:avLst/>
          </a:prstGeom>
        </p:spPr>
        <p:txBody>
          <a:bodyPr wrap="none">
            <a:spAutoFit/>
          </a:bodyPr>
          <a:lstStyle/>
          <a:p>
            <a:r>
              <a:rPr lang="en-US" altLang="zh-HK" dirty="0"/>
              <a:t>Donut chart</a:t>
            </a:r>
            <a:endParaRPr lang="zh-HK" altLang="en-US" dirty="0"/>
          </a:p>
        </p:txBody>
      </p:sp>
    </p:spTree>
    <p:extLst>
      <p:ext uri="{BB962C8B-B14F-4D97-AF65-F5344CB8AC3E}">
        <p14:creationId xmlns:p14="http://schemas.microsoft.com/office/powerpoint/2010/main" val="5802068"/>
      </p:ext>
    </p:extLst>
  </p:cSld>
  <p:clrMapOvr>
    <a:masterClrMapping/>
  </p:clrMapOvr>
  <mc:AlternateContent xmlns:mc="http://schemas.openxmlformats.org/markup-compatibility/2006" xmlns:p14="http://schemas.microsoft.com/office/powerpoint/2010/main">
    <mc:Choice Requires="p14">
      <p:transition spd="slow" p14:dur="2000" advTm="30010"/>
    </mc:Choice>
    <mc:Fallback xmlns="">
      <p:transition spd="slow" advTm="30010"/>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2C39319-C3EB-463D-A73C-2DEA9D750625}"/>
              </a:ext>
            </a:extLst>
          </p:cNvPr>
          <p:cNvSpPr>
            <a:spLocks noGrp="1"/>
          </p:cNvSpPr>
          <p:nvPr>
            <p:ph type="title"/>
          </p:nvPr>
        </p:nvSpPr>
        <p:spPr/>
        <p:txBody>
          <a:bodyPr>
            <a:normAutofit/>
          </a:bodyPr>
          <a:lstStyle/>
          <a:p>
            <a:r>
              <a:rPr lang="en-US" altLang="zh-MO" sz="2800" dirty="0"/>
              <a:t> Introduction to Data Visualization Plots</a:t>
            </a:r>
            <a:endParaRPr lang="zh-MO" altLang="en-US" sz="2800" dirty="0"/>
          </a:p>
        </p:txBody>
      </p:sp>
      <p:sp>
        <p:nvSpPr>
          <p:cNvPr id="3" name="內容版面配置區 2">
            <a:extLst>
              <a:ext uri="{FF2B5EF4-FFF2-40B4-BE49-F238E27FC236}">
                <a16:creationId xmlns:a16="http://schemas.microsoft.com/office/drawing/2014/main" id="{72697A5A-2B81-4055-BE38-FBF0028B433F}"/>
              </a:ext>
            </a:extLst>
          </p:cNvPr>
          <p:cNvSpPr>
            <a:spLocks noGrp="1"/>
          </p:cNvSpPr>
          <p:nvPr>
            <p:ph idx="1"/>
          </p:nvPr>
        </p:nvSpPr>
        <p:spPr>
          <a:xfrm>
            <a:off x="838201" y="1788807"/>
            <a:ext cx="1747838" cy="4392364"/>
          </a:xfrm>
        </p:spPr>
        <p:txBody>
          <a:bodyPr anchor="ctr">
            <a:normAutofit/>
          </a:bodyPr>
          <a:lstStyle/>
          <a:p>
            <a:pPr marL="0" indent="0">
              <a:buNone/>
            </a:pPr>
            <a:r>
              <a:rPr lang="en-US" altLang="zh-MO" sz="2000" b="1" dirty="0">
                <a:solidFill>
                  <a:schemeClr val="accent4">
                    <a:lumMod val="75000"/>
                  </a:schemeClr>
                </a:solidFill>
              </a:rPr>
              <a:t>Part 4: Composition Plots</a:t>
            </a:r>
          </a:p>
          <a:p>
            <a:pPr marL="0" indent="0">
              <a:buNone/>
            </a:pPr>
            <a:r>
              <a:rPr lang="en-US" sz="1900" b="1" dirty="0">
                <a:solidFill>
                  <a:srgbClr val="FF0000"/>
                </a:solidFill>
              </a:rPr>
              <a:t>Donut Chart </a:t>
            </a:r>
          </a:p>
          <a:p>
            <a:pPr marL="0" indent="0">
              <a:buNone/>
            </a:pPr>
            <a:r>
              <a:rPr lang="en-US" sz="1900" b="1" dirty="0"/>
              <a:t>Example</a:t>
            </a:r>
          </a:p>
          <a:p>
            <a:pPr marL="0" indent="0">
              <a:buNone/>
            </a:pPr>
            <a:r>
              <a:rPr lang="en-US" altLang="zh-HK" sz="1800" dirty="0"/>
              <a:t>The diagram shows a donut chart with subgroups:</a:t>
            </a:r>
            <a:endParaRPr lang="en-US" sz="1800" dirty="0"/>
          </a:p>
        </p:txBody>
      </p:sp>
      <p:sp>
        <p:nvSpPr>
          <p:cNvPr id="4" name="頁尾版面配置區 3">
            <a:extLst>
              <a:ext uri="{FF2B5EF4-FFF2-40B4-BE49-F238E27FC236}">
                <a16:creationId xmlns:a16="http://schemas.microsoft.com/office/drawing/2014/main" id="{4321BB31-863C-434D-9921-ADDB9CBD49A3}"/>
              </a:ext>
            </a:extLst>
          </p:cNvPr>
          <p:cNvSpPr>
            <a:spLocks noGrp="1"/>
          </p:cNvSpPr>
          <p:nvPr>
            <p:ph type="ftr" sz="quarter" idx="11"/>
          </p:nvPr>
        </p:nvSpPr>
        <p:spPr/>
        <p:txBody>
          <a:bodyPr/>
          <a:lstStyle/>
          <a:p>
            <a:pPr algn="r"/>
            <a:fld id="{215E7548-F18C-4C4B-B96B-B6533EE29CBB}" type="slidenum">
              <a:rPr lang="en-US" altLang="zh-MO" smtClean="0"/>
              <a:pPr algn="r"/>
              <a:t>48</a:t>
            </a:fld>
            <a:endParaRPr lang="en-US" dirty="0"/>
          </a:p>
        </p:txBody>
      </p:sp>
      <p:sp>
        <p:nvSpPr>
          <p:cNvPr id="5" name="文字版面配置區 4">
            <a:extLst>
              <a:ext uri="{FF2B5EF4-FFF2-40B4-BE49-F238E27FC236}">
                <a16:creationId xmlns:a16="http://schemas.microsoft.com/office/drawing/2014/main" id="{96D96DA7-63BE-4A6D-918C-73A25183ECFD}"/>
              </a:ext>
            </a:extLst>
          </p:cNvPr>
          <p:cNvSpPr>
            <a:spLocks noGrp="1"/>
          </p:cNvSpPr>
          <p:nvPr>
            <p:ph type="body" sz="quarter" idx="13"/>
          </p:nvPr>
        </p:nvSpPr>
        <p:spPr>
          <a:xfrm>
            <a:off x="838200" y="676829"/>
            <a:ext cx="8667143" cy="639324"/>
          </a:xfrm>
        </p:spPr>
        <p:txBody>
          <a:bodyPr>
            <a:noAutofit/>
          </a:bodyPr>
          <a:lstStyle/>
          <a:p>
            <a:r>
              <a:rPr lang="en-US" altLang="zh-MO" sz="3200" dirty="0">
                <a:solidFill>
                  <a:srgbClr val="C00000"/>
                </a:solidFill>
              </a:rPr>
              <a:t>CISC7204 Data Science and Data Visualization</a:t>
            </a:r>
            <a:endParaRPr lang="zh-MO" altLang="en-US" sz="3200" dirty="0"/>
          </a:p>
        </p:txBody>
      </p:sp>
      <p:pic>
        <p:nvPicPr>
          <p:cNvPr id="6" name="圖片 5"/>
          <p:cNvPicPr>
            <a:picLocks noChangeAspect="1"/>
          </p:cNvPicPr>
          <p:nvPr/>
        </p:nvPicPr>
        <p:blipFill>
          <a:blip r:embed="rId2"/>
          <a:stretch>
            <a:fillRect/>
          </a:stretch>
        </p:blipFill>
        <p:spPr>
          <a:xfrm>
            <a:off x="3471654" y="2090737"/>
            <a:ext cx="4872245" cy="3895726"/>
          </a:xfrm>
          <a:prstGeom prst="rect">
            <a:avLst/>
          </a:prstGeom>
        </p:spPr>
      </p:pic>
      <p:sp>
        <p:nvSpPr>
          <p:cNvPr id="7" name="矩形 6"/>
          <p:cNvSpPr/>
          <p:nvPr/>
        </p:nvSpPr>
        <p:spPr>
          <a:xfrm>
            <a:off x="8808044" y="2544247"/>
            <a:ext cx="2805512" cy="369332"/>
          </a:xfrm>
          <a:prstGeom prst="rect">
            <a:avLst/>
          </a:prstGeom>
        </p:spPr>
        <p:txBody>
          <a:bodyPr wrap="none">
            <a:spAutoFit/>
          </a:bodyPr>
          <a:lstStyle/>
          <a:p>
            <a:r>
              <a:rPr lang="en-US" altLang="zh-HK" dirty="0"/>
              <a:t>Donut chart with subgroups</a:t>
            </a:r>
            <a:endParaRPr lang="zh-HK" altLang="en-US" dirty="0"/>
          </a:p>
        </p:txBody>
      </p:sp>
    </p:spTree>
    <p:extLst>
      <p:ext uri="{BB962C8B-B14F-4D97-AF65-F5344CB8AC3E}">
        <p14:creationId xmlns:p14="http://schemas.microsoft.com/office/powerpoint/2010/main" val="3268170528"/>
      </p:ext>
    </p:extLst>
  </p:cSld>
  <p:clrMapOvr>
    <a:masterClrMapping/>
  </p:clrMapOvr>
  <mc:AlternateContent xmlns:mc="http://schemas.openxmlformats.org/markup-compatibility/2006" xmlns:p14="http://schemas.microsoft.com/office/powerpoint/2010/main">
    <mc:Choice Requires="p14">
      <p:transition spd="slow" p14:dur="2000" advTm="30010"/>
    </mc:Choice>
    <mc:Fallback xmlns="">
      <p:transition spd="slow" advTm="30010"/>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2C39319-C3EB-463D-A73C-2DEA9D750625}"/>
              </a:ext>
            </a:extLst>
          </p:cNvPr>
          <p:cNvSpPr>
            <a:spLocks noGrp="1"/>
          </p:cNvSpPr>
          <p:nvPr>
            <p:ph type="title"/>
          </p:nvPr>
        </p:nvSpPr>
        <p:spPr/>
        <p:txBody>
          <a:bodyPr>
            <a:normAutofit/>
          </a:bodyPr>
          <a:lstStyle/>
          <a:p>
            <a:r>
              <a:rPr lang="en-US" altLang="zh-MO" sz="2800" dirty="0"/>
              <a:t> Introduction to Data Visualization Plots</a:t>
            </a:r>
            <a:endParaRPr lang="zh-MO" altLang="en-US" sz="2800" dirty="0"/>
          </a:p>
        </p:txBody>
      </p:sp>
      <p:sp>
        <p:nvSpPr>
          <p:cNvPr id="3" name="內容版面配置區 2">
            <a:extLst>
              <a:ext uri="{FF2B5EF4-FFF2-40B4-BE49-F238E27FC236}">
                <a16:creationId xmlns:a16="http://schemas.microsoft.com/office/drawing/2014/main" id="{72697A5A-2B81-4055-BE38-FBF0028B433F}"/>
              </a:ext>
            </a:extLst>
          </p:cNvPr>
          <p:cNvSpPr>
            <a:spLocks noGrp="1"/>
          </p:cNvSpPr>
          <p:nvPr>
            <p:ph idx="1"/>
          </p:nvPr>
        </p:nvSpPr>
        <p:spPr>
          <a:xfrm>
            <a:off x="838200" y="1788807"/>
            <a:ext cx="11042374" cy="4392364"/>
          </a:xfrm>
        </p:spPr>
        <p:txBody>
          <a:bodyPr anchor="ctr">
            <a:normAutofit/>
          </a:bodyPr>
          <a:lstStyle/>
          <a:p>
            <a:pPr marL="0" indent="0">
              <a:buNone/>
            </a:pPr>
            <a:r>
              <a:rPr lang="en-US" altLang="zh-MO" sz="3500" b="1" dirty="0">
                <a:solidFill>
                  <a:schemeClr val="accent4">
                    <a:lumMod val="75000"/>
                  </a:schemeClr>
                </a:solidFill>
              </a:rPr>
              <a:t>Part 4: Composition Plots</a:t>
            </a:r>
          </a:p>
          <a:p>
            <a:pPr marL="0" indent="0">
              <a:buNone/>
            </a:pPr>
            <a:r>
              <a:rPr lang="en-US" sz="2600" b="1" dirty="0">
                <a:solidFill>
                  <a:srgbClr val="FF0000"/>
                </a:solidFill>
              </a:rPr>
              <a:t>Variants: Donut Chart – </a:t>
            </a:r>
            <a:r>
              <a:rPr lang="en-US" sz="2600" b="1" dirty="0">
                <a:solidFill>
                  <a:schemeClr val="accent1"/>
                </a:solidFill>
              </a:rPr>
              <a:t>Design Practices</a:t>
            </a:r>
          </a:p>
          <a:p>
            <a:r>
              <a:rPr lang="en-US" sz="2600" b="1" dirty="0"/>
              <a:t>Use the same color that’s used for the category for the subcategories. Use varying brightness levels for the different subcategories.</a:t>
            </a:r>
            <a:endParaRPr lang="en-US" sz="2200" b="1" dirty="0"/>
          </a:p>
        </p:txBody>
      </p:sp>
      <p:sp>
        <p:nvSpPr>
          <p:cNvPr id="4" name="頁尾版面配置區 3">
            <a:extLst>
              <a:ext uri="{FF2B5EF4-FFF2-40B4-BE49-F238E27FC236}">
                <a16:creationId xmlns:a16="http://schemas.microsoft.com/office/drawing/2014/main" id="{4321BB31-863C-434D-9921-ADDB9CBD49A3}"/>
              </a:ext>
            </a:extLst>
          </p:cNvPr>
          <p:cNvSpPr>
            <a:spLocks noGrp="1"/>
          </p:cNvSpPr>
          <p:nvPr>
            <p:ph type="ftr" sz="quarter" idx="11"/>
          </p:nvPr>
        </p:nvSpPr>
        <p:spPr/>
        <p:txBody>
          <a:bodyPr/>
          <a:lstStyle/>
          <a:p>
            <a:pPr algn="r"/>
            <a:fld id="{215E7548-F18C-4C4B-B96B-B6533EE29CBB}" type="slidenum">
              <a:rPr lang="en-US" altLang="zh-MO" smtClean="0"/>
              <a:pPr algn="r"/>
              <a:t>49</a:t>
            </a:fld>
            <a:endParaRPr lang="en-US" dirty="0"/>
          </a:p>
        </p:txBody>
      </p:sp>
      <p:sp>
        <p:nvSpPr>
          <p:cNvPr id="5" name="文字版面配置區 4">
            <a:extLst>
              <a:ext uri="{FF2B5EF4-FFF2-40B4-BE49-F238E27FC236}">
                <a16:creationId xmlns:a16="http://schemas.microsoft.com/office/drawing/2014/main" id="{96D96DA7-63BE-4A6D-918C-73A25183ECFD}"/>
              </a:ext>
            </a:extLst>
          </p:cNvPr>
          <p:cNvSpPr>
            <a:spLocks noGrp="1"/>
          </p:cNvSpPr>
          <p:nvPr>
            <p:ph type="body" sz="quarter" idx="13"/>
          </p:nvPr>
        </p:nvSpPr>
        <p:spPr>
          <a:xfrm>
            <a:off x="838200" y="676829"/>
            <a:ext cx="8667143" cy="639324"/>
          </a:xfrm>
        </p:spPr>
        <p:txBody>
          <a:bodyPr>
            <a:noAutofit/>
          </a:bodyPr>
          <a:lstStyle/>
          <a:p>
            <a:r>
              <a:rPr lang="en-US" altLang="zh-MO" sz="3200" dirty="0">
                <a:solidFill>
                  <a:srgbClr val="C00000"/>
                </a:solidFill>
              </a:rPr>
              <a:t>CISC7204 Data Science and Data Visualization</a:t>
            </a:r>
            <a:endParaRPr lang="zh-MO" altLang="en-US" sz="3200" dirty="0"/>
          </a:p>
        </p:txBody>
      </p:sp>
    </p:spTree>
    <p:extLst>
      <p:ext uri="{BB962C8B-B14F-4D97-AF65-F5344CB8AC3E}">
        <p14:creationId xmlns:p14="http://schemas.microsoft.com/office/powerpoint/2010/main" val="1905759074"/>
      </p:ext>
    </p:extLst>
  </p:cSld>
  <p:clrMapOvr>
    <a:masterClrMapping/>
  </p:clrMapOvr>
  <mc:AlternateContent xmlns:mc="http://schemas.openxmlformats.org/markup-compatibility/2006" xmlns:p14="http://schemas.microsoft.com/office/powerpoint/2010/main">
    <mc:Choice Requires="p14">
      <p:transition spd="slow" p14:dur="2000" advTm="30010"/>
    </mc:Choice>
    <mc:Fallback xmlns="">
      <p:transition spd="slow" advTm="30010"/>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2C39319-C3EB-463D-A73C-2DEA9D750625}"/>
              </a:ext>
            </a:extLst>
          </p:cNvPr>
          <p:cNvSpPr>
            <a:spLocks noGrp="1"/>
          </p:cNvSpPr>
          <p:nvPr>
            <p:ph type="title"/>
          </p:nvPr>
        </p:nvSpPr>
        <p:spPr/>
        <p:txBody>
          <a:bodyPr>
            <a:normAutofit/>
          </a:bodyPr>
          <a:lstStyle/>
          <a:p>
            <a:r>
              <a:rPr lang="en-US" altLang="zh-MO" sz="2800" dirty="0"/>
              <a:t> Introduction to Data Visualization Plots</a:t>
            </a:r>
            <a:endParaRPr lang="zh-MO" altLang="en-US" sz="2800" dirty="0"/>
          </a:p>
        </p:txBody>
      </p:sp>
      <p:sp>
        <p:nvSpPr>
          <p:cNvPr id="3" name="內容版面配置區 2">
            <a:extLst>
              <a:ext uri="{FF2B5EF4-FFF2-40B4-BE49-F238E27FC236}">
                <a16:creationId xmlns:a16="http://schemas.microsoft.com/office/drawing/2014/main" id="{72697A5A-2B81-4055-BE38-FBF0028B433F}"/>
              </a:ext>
            </a:extLst>
          </p:cNvPr>
          <p:cNvSpPr>
            <a:spLocks noGrp="1"/>
          </p:cNvSpPr>
          <p:nvPr>
            <p:ph idx="1"/>
          </p:nvPr>
        </p:nvSpPr>
        <p:spPr>
          <a:xfrm>
            <a:off x="838200" y="1788807"/>
            <a:ext cx="11042374" cy="4392364"/>
          </a:xfrm>
        </p:spPr>
        <p:txBody>
          <a:bodyPr anchor="ctr">
            <a:normAutofit lnSpcReduction="10000"/>
          </a:bodyPr>
          <a:lstStyle/>
          <a:p>
            <a:pPr marL="0" indent="0">
              <a:buNone/>
            </a:pPr>
            <a:r>
              <a:rPr lang="en-US" altLang="zh-MO" sz="2800" b="1" dirty="0">
                <a:solidFill>
                  <a:schemeClr val="accent4">
                    <a:lumMod val="75000"/>
                  </a:schemeClr>
                </a:solidFill>
              </a:rPr>
              <a:t>Part 4: Composition Plots</a:t>
            </a:r>
          </a:p>
          <a:p>
            <a:pPr marL="0" indent="0">
              <a:buNone/>
            </a:pPr>
            <a:r>
              <a:rPr lang="en-US" sz="2600" b="1" dirty="0">
                <a:solidFill>
                  <a:srgbClr val="FF0000"/>
                </a:solidFill>
              </a:rPr>
              <a:t>Stacked Bar Chart</a:t>
            </a:r>
            <a:endParaRPr lang="en-US" sz="2600" b="1" dirty="0">
              <a:solidFill>
                <a:schemeClr val="accent1"/>
              </a:solidFill>
            </a:endParaRPr>
          </a:p>
          <a:p>
            <a:r>
              <a:rPr lang="en-US" sz="2600" b="1" dirty="0"/>
              <a:t>Stacked bar charts are used to show how a category is divided into subcategories and the proportion of the subcategory in comparison to the overall category. You can either compare total amounts across each bar or show a percentage of each group. The latter is also referred to as a 100% stacked bar chart and makes it easier to see relative differences between quantities in each group.</a:t>
            </a:r>
          </a:p>
          <a:p>
            <a:pPr marL="0" indent="0">
              <a:buNone/>
            </a:pPr>
            <a:r>
              <a:rPr lang="en-US" sz="2600" b="1" dirty="0">
                <a:solidFill>
                  <a:schemeClr val="accent1"/>
                </a:solidFill>
              </a:rPr>
              <a:t>Use</a:t>
            </a:r>
          </a:p>
          <a:p>
            <a:r>
              <a:rPr lang="en-US" sz="2200" b="1" dirty="0"/>
              <a:t>To compare variables that can be divided into sub-variables</a:t>
            </a:r>
          </a:p>
        </p:txBody>
      </p:sp>
      <p:sp>
        <p:nvSpPr>
          <p:cNvPr id="4" name="頁尾版面配置區 3">
            <a:extLst>
              <a:ext uri="{FF2B5EF4-FFF2-40B4-BE49-F238E27FC236}">
                <a16:creationId xmlns:a16="http://schemas.microsoft.com/office/drawing/2014/main" id="{4321BB31-863C-434D-9921-ADDB9CBD49A3}"/>
              </a:ext>
            </a:extLst>
          </p:cNvPr>
          <p:cNvSpPr>
            <a:spLocks noGrp="1"/>
          </p:cNvSpPr>
          <p:nvPr>
            <p:ph type="ftr" sz="quarter" idx="11"/>
          </p:nvPr>
        </p:nvSpPr>
        <p:spPr/>
        <p:txBody>
          <a:bodyPr/>
          <a:lstStyle/>
          <a:p>
            <a:pPr algn="r"/>
            <a:fld id="{215E7548-F18C-4C4B-B96B-B6533EE29CBB}" type="slidenum">
              <a:rPr lang="en-US" altLang="zh-MO" smtClean="0"/>
              <a:pPr algn="r"/>
              <a:t>50</a:t>
            </a:fld>
            <a:endParaRPr lang="en-US" dirty="0"/>
          </a:p>
        </p:txBody>
      </p:sp>
      <p:sp>
        <p:nvSpPr>
          <p:cNvPr id="5" name="文字版面配置區 4">
            <a:extLst>
              <a:ext uri="{FF2B5EF4-FFF2-40B4-BE49-F238E27FC236}">
                <a16:creationId xmlns:a16="http://schemas.microsoft.com/office/drawing/2014/main" id="{96D96DA7-63BE-4A6D-918C-73A25183ECFD}"/>
              </a:ext>
            </a:extLst>
          </p:cNvPr>
          <p:cNvSpPr>
            <a:spLocks noGrp="1"/>
          </p:cNvSpPr>
          <p:nvPr>
            <p:ph type="body" sz="quarter" idx="13"/>
          </p:nvPr>
        </p:nvSpPr>
        <p:spPr>
          <a:xfrm>
            <a:off x="838200" y="676829"/>
            <a:ext cx="8667143" cy="639324"/>
          </a:xfrm>
        </p:spPr>
        <p:txBody>
          <a:bodyPr>
            <a:noAutofit/>
          </a:bodyPr>
          <a:lstStyle/>
          <a:p>
            <a:r>
              <a:rPr lang="en-US" altLang="zh-MO" sz="3200" dirty="0">
                <a:solidFill>
                  <a:srgbClr val="C00000"/>
                </a:solidFill>
              </a:rPr>
              <a:t>CISC7204 Data Science and Data Visualization</a:t>
            </a:r>
            <a:endParaRPr lang="zh-MO" altLang="en-US" sz="3200" dirty="0"/>
          </a:p>
        </p:txBody>
      </p:sp>
    </p:spTree>
    <p:extLst>
      <p:ext uri="{BB962C8B-B14F-4D97-AF65-F5344CB8AC3E}">
        <p14:creationId xmlns:p14="http://schemas.microsoft.com/office/powerpoint/2010/main" val="2736343735"/>
      </p:ext>
    </p:extLst>
  </p:cSld>
  <p:clrMapOvr>
    <a:masterClrMapping/>
  </p:clrMapOvr>
  <mc:AlternateContent xmlns:mc="http://schemas.openxmlformats.org/markup-compatibility/2006" xmlns:p14="http://schemas.microsoft.com/office/powerpoint/2010/main">
    <mc:Choice Requires="p14">
      <p:transition spd="slow" p14:dur="2000" advTm="30010"/>
    </mc:Choice>
    <mc:Fallback xmlns="">
      <p:transition spd="slow" advTm="30010"/>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2C39319-C3EB-463D-A73C-2DEA9D750625}"/>
              </a:ext>
            </a:extLst>
          </p:cNvPr>
          <p:cNvSpPr>
            <a:spLocks noGrp="1"/>
          </p:cNvSpPr>
          <p:nvPr>
            <p:ph type="title"/>
          </p:nvPr>
        </p:nvSpPr>
        <p:spPr/>
        <p:txBody>
          <a:bodyPr>
            <a:normAutofit/>
          </a:bodyPr>
          <a:lstStyle/>
          <a:p>
            <a:r>
              <a:rPr lang="en-US" altLang="zh-MO" sz="2800" dirty="0"/>
              <a:t> Introduction to Data Visualization Plots</a:t>
            </a:r>
            <a:endParaRPr lang="zh-MO" altLang="en-US" sz="2800" dirty="0"/>
          </a:p>
        </p:txBody>
      </p:sp>
      <p:sp>
        <p:nvSpPr>
          <p:cNvPr id="3" name="內容版面配置區 2">
            <a:extLst>
              <a:ext uri="{FF2B5EF4-FFF2-40B4-BE49-F238E27FC236}">
                <a16:creationId xmlns:a16="http://schemas.microsoft.com/office/drawing/2014/main" id="{72697A5A-2B81-4055-BE38-FBF0028B433F}"/>
              </a:ext>
            </a:extLst>
          </p:cNvPr>
          <p:cNvSpPr>
            <a:spLocks noGrp="1"/>
          </p:cNvSpPr>
          <p:nvPr>
            <p:ph idx="1"/>
          </p:nvPr>
        </p:nvSpPr>
        <p:spPr>
          <a:xfrm>
            <a:off x="838201" y="1788807"/>
            <a:ext cx="1747837" cy="4392364"/>
          </a:xfrm>
        </p:spPr>
        <p:txBody>
          <a:bodyPr anchor="ctr">
            <a:normAutofit/>
          </a:bodyPr>
          <a:lstStyle/>
          <a:p>
            <a:pPr marL="0" indent="0">
              <a:buNone/>
            </a:pPr>
            <a:r>
              <a:rPr lang="en-US" altLang="zh-MO" sz="2000" b="1" dirty="0">
                <a:solidFill>
                  <a:schemeClr val="accent4">
                    <a:lumMod val="75000"/>
                  </a:schemeClr>
                </a:solidFill>
              </a:rPr>
              <a:t>Part 4: Composition Plots</a:t>
            </a:r>
          </a:p>
          <a:p>
            <a:pPr marL="0" indent="0">
              <a:buNone/>
            </a:pPr>
            <a:r>
              <a:rPr lang="en-US" sz="1900" b="1" dirty="0">
                <a:solidFill>
                  <a:srgbClr val="FF0000"/>
                </a:solidFill>
              </a:rPr>
              <a:t>Stacked Bar Chart </a:t>
            </a:r>
          </a:p>
          <a:p>
            <a:pPr marL="0" indent="0">
              <a:buNone/>
            </a:pPr>
            <a:r>
              <a:rPr lang="en-US" sz="1900" b="1" dirty="0"/>
              <a:t>Example</a:t>
            </a:r>
          </a:p>
          <a:p>
            <a:pPr marL="0" indent="0">
              <a:buNone/>
            </a:pPr>
            <a:r>
              <a:rPr lang="en-US" altLang="zh-HK" sz="1600" dirty="0"/>
              <a:t>The diagram shows a generic stacked bar chart with five groups:</a:t>
            </a:r>
            <a:endParaRPr lang="en-US" sz="1600" dirty="0"/>
          </a:p>
        </p:txBody>
      </p:sp>
      <p:sp>
        <p:nvSpPr>
          <p:cNvPr id="4" name="頁尾版面配置區 3">
            <a:extLst>
              <a:ext uri="{FF2B5EF4-FFF2-40B4-BE49-F238E27FC236}">
                <a16:creationId xmlns:a16="http://schemas.microsoft.com/office/drawing/2014/main" id="{4321BB31-863C-434D-9921-ADDB9CBD49A3}"/>
              </a:ext>
            </a:extLst>
          </p:cNvPr>
          <p:cNvSpPr>
            <a:spLocks noGrp="1"/>
          </p:cNvSpPr>
          <p:nvPr>
            <p:ph type="ftr" sz="quarter" idx="11"/>
          </p:nvPr>
        </p:nvSpPr>
        <p:spPr/>
        <p:txBody>
          <a:bodyPr/>
          <a:lstStyle/>
          <a:p>
            <a:pPr algn="r"/>
            <a:fld id="{215E7548-F18C-4C4B-B96B-B6533EE29CBB}" type="slidenum">
              <a:rPr lang="en-US" altLang="zh-MO" smtClean="0"/>
              <a:pPr algn="r"/>
              <a:t>51</a:t>
            </a:fld>
            <a:endParaRPr lang="en-US" dirty="0"/>
          </a:p>
        </p:txBody>
      </p:sp>
      <p:sp>
        <p:nvSpPr>
          <p:cNvPr id="5" name="文字版面配置區 4">
            <a:extLst>
              <a:ext uri="{FF2B5EF4-FFF2-40B4-BE49-F238E27FC236}">
                <a16:creationId xmlns:a16="http://schemas.microsoft.com/office/drawing/2014/main" id="{96D96DA7-63BE-4A6D-918C-73A25183ECFD}"/>
              </a:ext>
            </a:extLst>
          </p:cNvPr>
          <p:cNvSpPr>
            <a:spLocks noGrp="1"/>
          </p:cNvSpPr>
          <p:nvPr>
            <p:ph type="body" sz="quarter" idx="13"/>
          </p:nvPr>
        </p:nvSpPr>
        <p:spPr>
          <a:xfrm>
            <a:off x="838200" y="676829"/>
            <a:ext cx="8667143" cy="639324"/>
          </a:xfrm>
        </p:spPr>
        <p:txBody>
          <a:bodyPr>
            <a:noAutofit/>
          </a:bodyPr>
          <a:lstStyle/>
          <a:p>
            <a:r>
              <a:rPr lang="en-US" altLang="zh-MO" sz="3200" dirty="0">
                <a:solidFill>
                  <a:srgbClr val="C00000"/>
                </a:solidFill>
              </a:rPr>
              <a:t>CISC7204 Data Science and Data Visualization</a:t>
            </a:r>
            <a:endParaRPr lang="zh-MO" altLang="en-US" sz="3200" dirty="0"/>
          </a:p>
        </p:txBody>
      </p:sp>
      <p:pic>
        <p:nvPicPr>
          <p:cNvPr id="8" name="圖片 7"/>
          <p:cNvPicPr>
            <a:picLocks noChangeAspect="1"/>
          </p:cNvPicPr>
          <p:nvPr/>
        </p:nvPicPr>
        <p:blipFill>
          <a:blip r:embed="rId2"/>
          <a:stretch>
            <a:fillRect/>
          </a:stretch>
        </p:blipFill>
        <p:spPr>
          <a:xfrm>
            <a:off x="3228975" y="1921473"/>
            <a:ext cx="5657849" cy="4259698"/>
          </a:xfrm>
          <a:prstGeom prst="rect">
            <a:avLst/>
          </a:prstGeom>
        </p:spPr>
      </p:pic>
      <p:sp>
        <p:nvSpPr>
          <p:cNvPr id="9" name="矩形 8"/>
          <p:cNvSpPr/>
          <p:nvPr/>
        </p:nvSpPr>
        <p:spPr>
          <a:xfrm>
            <a:off x="9238209" y="2278001"/>
            <a:ext cx="2024690" cy="1200329"/>
          </a:xfrm>
          <a:prstGeom prst="rect">
            <a:avLst/>
          </a:prstGeom>
        </p:spPr>
        <p:txBody>
          <a:bodyPr wrap="square">
            <a:spAutoFit/>
          </a:bodyPr>
          <a:lstStyle/>
          <a:p>
            <a:r>
              <a:rPr lang="en-US" altLang="zh-HK" dirty="0"/>
              <a:t>Stacked bar chart to show sales of laptops and mobiles</a:t>
            </a:r>
            <a:endParaRPr lang="zh-HK" altLang="en-US" dirty="0"/>
          </a:p>
        </p:txBody>
      </p:sp>
    </p:spTree>
    <p:extLst>
      <p:ext uri="{BB962C8B-B14F-4D97-AF65-F5344CB8AC3E}">
        <p14:creationId xmlns:p14="http://schemas.microsoft.com/office/powerpoint/2010/main" val="2312734131"/>
      </p:ext>
    </p:extLst>
  </p:cSld>
  <p:clrMapOvr>
    <a:masterClrMapping/>
  </p:clrMapOvr>
  <mc:AlternateContent xmlns:mc="http://schemas.openxmlformats.org/markup-compatibility/2006" xmlns:p14="http://schemas.microsoft.com/office/powerpoint/2010/main">
    <mc:Choice Requires="p14">
      <p:transition spd="slow" p14:dur="2000" advTm="30010"/>
    </mc:Choice>
    <mc:Fallback xmlns="">
      <p:transition spd="slow" advTm="30010"/>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2C39319-C3EB-463D-A73C-2DEA9D750625}"/>
              </a:ext>
            </a:extLst>
          </p:cNvPr>
          <p:cNvSpPr>
            <a:spLocks noGrp="1"/>
          </p:cNvSpPr>
          <p:nvPr>
            <p:ph type="title"/>
          </p:nvPr>
        </p:nvSpPr>
        <p:spPr/>
        <p:txBody>
          <a:bodyPr>
            <a:normAutofit/>
          </a:bodyPr>
          <a:lstStyle/>
          <a:p>
            <a:r>
              <a:rPr lang="en-US" altLang="zh-MO" sz="2800" dirty="0"/>
              <a:t> Introduction to Data Visualization Plots</a:t>
            </a:r>
            <a:endParaRPr lang="zh-MO" altLang="en-US" sz="2800" dirty="0"/>
          </a:p>
        </p:txBody>
      </p:sp>
      <p:sp>
        <p:nvSpPr>
          <p:cNvPr id="3" name="內容版面配置區 2">
            <a:extLst>
              <a:ext uri="{FF2B5EF4-FFF2-40B4-BE49-F238E27FC236}">
                <a16:creationId xmlns:a16="http://schemas.microsoft.com/office/drawing/2014/main" id="{72697A5A-2B81-4055-BE38-FBF0028B433F}"/>
              </a:ext>
            </a:extLst>
          </p:cNvPr>
          <p:cNvSpPr>
            <a:spLocks noGrp="1"/>
          </p:cNvSpPr>
          <p:nvPr>
            <p:ph idx="1"/>
          </p:nvPr>
        </p:nvSpPr>
        <p:spPr>
          <a:xfrm>
            <a:off x="838201" y="1788807"/>
            <a:ext cx="1747837" cy="4392364"/>
          </a:xfrm>
        </p:spPr>
        <p:txBody>
          <a:bodyPr anchor="ctr">
            <a:normAutofit/>
          </a:bodyPr>
          <a:lstStyle/>
          <a:p>
            <a:pPr marL="0" indent="0">
              <a:buNone/>
            </a:pPr>
            <a:r>
              <a:rPr lang="en-US" altLang="zh-MO" sz="2000" b="1" dirty="0">
                <a:solidFill>
                  <a:schemeClr val="accent4">
                    <a:lumMod val="75000"/>
                  </a:schemeClr>
                </a:solidFill>
              </a:rPr>
              <a:t>Part 4: Composition Plots</a:t>
            </a:r>
          </a:p>
          <a:p>
            <a:pPr marL="0" indent="0">
              <a:buNone/>
            </a:pPr>
            <a:r>
              <a:rPr lang="en-US" sz="1900" b="1" dirty="0">
                <a:solidFill>
                  <a:srgbClr val="FF0000"/>
                </a:solidFill>
              </a:rPr>
              <a:t>Stacked Bar Chart </a:t>
            </a:r>
          </a:p>
          <a:p>
            <a:pPr marL="0" indent="0">
              <a:buNone/>
            </a:pPr>
            <a:r>
              <a:rPr lang="en-US" sz="1900" b="1" dirty="0"/>
              <a:t>Example</a:t>
            </a:r>
          </a:p>
          <a:p>
            <a:pPr marL="0" indent="0">
              <a:buNone/>
            </a:pPr>
            <a:r>
              <a:rPr lang="en-US" altLang="zh-HK" sz="1600" dirty="0"/>
              <a:t>The diagram shows a 100% stacked bar chart with the same data that was used in the preceding diagram:</a:t>
            </a:r>
            <a:endParaRPr lang="en-US" sz="1600" dirty="0"/>
          </a:p>
        </p:txBody>
      </p:sp>
      <p:sp>
        <p:nvSpPr>
          <p:cNvPr id="4" name="頁尾版面配置區 3">
            <a:extLst>
              <a:ext uri="{FF2B5EF4-FFF2-40B4-BE49-F238E27FC236}">
                <a16:creationId xmlns:a16="http://schemas.microsoft.com/office/drawing/2014/main" id="{4321BB31-863C-434D-9921-ADDB9CBD49A3}"/>
              </a:ext>
            </a:extLst>
          </p:cNvPr>
          <p:cNvSpPr>
            <a:spLocks noGrp="1"/>
          </p:cNvSpPr>
          <p:nvPr>
            <p:ph type="ftr" sz="quarter" idx="11"/>
          </p:nvPr>
        </p:nvSpPr>
        <p:spPr/>
        <p:txBody>
          <a:bodyPr/>
          <a:lstStyle/>
          <a:p>
            <a:pPr algn="r"/>
            <a:fld id="{215E7548-F18C-4C4B-B96B-B6533EE29CBB}" type="slidenum">
              <a:rPr lang="en-US" altLang="zh-MO" smtClean="0"/>
              <a:pPr algn="r"/>
              <a:t>52</a:t>
            </a:fld>
            <a:endParaRPr lang="en-US" dirty="0"/>
          </a:p>
        </p:txBody>
      </p:sp>
      <p:sp>
        <p:nvSpPr>
          <p:cNvPr id="5" name="文字版面配置區 4">
            <a:extLst>
              <a:ext uri="{FF2B5EF4-FFF2-40B4-BE49-F238E27FC236}">
                <a16:creationId xmlns:a16="http://schemas.microsoft.com/office/drawing/2014/main" id="{96D96DA7-63BE-4A6D-918C-73A25183ECFD}"/>
              </a:ext>
            </a:extLst>
          </p:cNvPr>
          <p:cNvSpPr>
            <a:spLocks noGrp="1"/>
          </p:cNvSpPr>
          <p:nvPr>
            <p:ph type="body" sz="quarter" idx="13"/>
          </p:nvPr>
        </p:nvSpPr>
        <p:spPr>
          <a:xfrm>
            <a:off x="838200" y="676829"/>
            <a:ext cx="8667143" cy="639324"/>
          </a:xfrm>
        </p:spPr>
        <p:txBody>
          <a:bodyPr>
            <a:noAutofit/>
          </a:bodyPr>
          <a:lstStyle/>
          <a:p>
            <a:r>
              <a:rPr lang="en-US" altLang="zh-MO" sz="3200" dirty="0">
                <a:solidFill>
                  <a:srgbClr val="C00000"/>
                </a:solidFill>
              </a:rPr>
              <a:t>CISC7204 Data Science and Data Visualization</a:t>
            </a:r>
            <a:endParaRPr lang="zh-MO" altLang="en-US" sz="3200" dirty="0"/>
          </a:p>
        </p:txBody>
      </p:sp>
      <p:pic>
        <p:nvPicPr>
          <p:cNvPr id="6" name="圖片 5"/>
          <p:cNvPicPr>
            <a:picLocks noChangeAspect="1"/>
          </p:cNvPicPr>
          <p:nvPr/>
        </p:nvPicPr>
        <p:blipFill>
          <a:blip r:embed="rId2"/>
          <a:stretch>
            <a:fillRect/>
          </a:stretch>
        </p:blipFill>
        <p:spPr>
          <a:xfrm>
            <a:off x="3348038" y="1943100"/>
            <a:ext cx="5567362" cy="4238071"/>
          </a:xfrm>
          <a:prstGeom prst="rect">
            <a:avLst/>
          </a:prstGeom>
        </p:spPr>
      </p:pic>
      <p:sp>
        <p:nvSpPr>
          <p:cNvPr id="7" name="矩形 6"/>
          <p:cNvSpPr/>
          <p:nvPr/>
        </p:nvSpPr>
        <p:spPr>
          <a:xfrm>
            <a:off x="9348787" y="3105835"/>
            <a:ext cx="2238375" cy="1200329"/>
          </a:xfrm>
          <a:prstGeom prst="rect">
            <a:avLst/>
          </a:prstGeom>
        </p:spPr>
        <p:txBody>
          <a:bodyPr wrap="square">
            <a:spAutoFit/>
          </a:bodyPr>
          <a:lstStyle/>
          <a:p>
            <a:r>
              <a:rPr lang="en-US" altLang="zh-HK" dirty="0"/>
              <a:t>100% stacked bar chart to show sales of laptops, PCs, and mobiles</a:t>
            </a:r>
            <a:endParaRPr lang="zh-HK" altLang="en-US" dirty="0"/>
          </a:p>
        </p:txBody>
      </p:sp>
    </p:spTree>
    <p:extLst>
      <p:ext uri="{BB962C8B-B14F-4D97-AF65-F5344CB8AC3E}">
        <p14:creationId xmlns:p14="http://schemas.microsoft.com/office/powerpoint/2010/main" val="746749228"/>
      </p:ext>
    </p:extLst>
  </p:cSld>
  <p:clrMapOvr>
    <a:masterClrMapping/>
  </p:clrMapOvr>
  <mc:AlternateContent xmlns:mc="http://schemas.openxmlformats.org/markup-compatibility/2006" xmlns:p14="http://schemas.microsoft.com/office/powerpoint/2010/main">
    <mc:Choice Requires="p14">
      <p:transition spd="slow" p14:dur="2000" advTm="30010"/>
    </mc:Choice>
    <mc:Fallback xmlns="">
      <p:transition spd="slow" advTm="30010"/>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2C39319-C3EB-463D-A73C-2DEA9D750625}"/>
              </a:ext>
            </a:extLst>
          </p:cNvPr>
          <p:cNvSpPr>
            <a:spLocks noGrp="1"/>
          </p:cNvSpPr>
          <p:nvPr>
            <p:ph type="title"/>
          </p:nvPr>
        </p:nvSpPr>
        <p:spPr/>
        <p:txBody>
          <a:bodyPr>
            <a:normAutofit/>
          </a:bodyPr>
          <a:lstStyle/>
          <a:p>
            <a:r>
              <a:rPr lang="en-US" altLang="zh-MO" sz="2800" dirty="0"/>
              <a:t> Introduction to Data Visualization Plots</a:t>
            </a:r>
            <a:endParaRPr lang="zh-MO" altLang="en-US" sz="2800" dirty="0"/>
          </a:p>
        </p:txBody>
      </p:sp>
      <p:sp>
        <p:nvSpPr>
          <p:cNvPr id="3" name="內容版面配置區 2">
            <a:extLst>
              <a:ext uri="{FF2B5EF4-FFF2-40B4-BE49-F238E27FC236}">
                <a16:creationId xmlns:a16="http://schemas.microsoft.com/office/drawing/2014/main" id="{72697A5A-2B81-4055-BE38-FBF0028B433F}"/>
              </a:ext>
            </a:extLst>
          </p:cNvPr>
          <p:cNvSpPr>
            <a:spLocks noGrp="1"/>
          </p:cNvSpPr>
          <p:nvPr>
            <p:ph idx="1"/>
          </p:nvPr>
        </p:nvSpPr>
        <p:spPr>
          <a:xfrm>
            <a:off x="838201" y="1788807"/>
            <a:ext cx="1619249" cy="4392364"/>
          </a:xfrm>
        </p:spPr>
        <p:txBody>
          <a:bodyPr anchor="ctr">
            <a:normAutofit fontScale="92500" lnSpcReduction="10000"/>
          </a:bodyPr>
          <a:lstStyle/>
          <a:p>
            <a:pPr marL="0" indent="0">
              <a:buNone/>
            </a:pPr>
            <a:r>
              <a:rPr lang="en-US" altLang="zh-MO" sz="1900" b="1" dirty="0">
                <a:solidFill>
                  <a:schemeClr val="accent4">
                    <a:lumMod val="75000"/>
                  </a:schemeClr>
                </a:solidFill>
              </a:rPr>
              <a:t>Part 4: Composition Plots</a:t>
            </a:r>
          </a:p>
          <a:p>
            <a:pPr marL="0" indent="0">
              <a:buNone/>
            </a:pPr>
            <a:r>
              <a:rPr lang="en-US" sz="1900" b="1" dirty="0">
                <a:solidFill>
                  <a:srgbClr val="FF0000"/>
                </a:solidFill>
              </a:rPr>
              <a:t>Stacked Bar Chart </a:t>
            </a:r>
          </a:p>
          <a:p>
            <a:pPr marL="0" indent="0">
              <a:buNone/>
            </a:pPr>
            <a:r>
              <a:rPr lang="en-US" sz="1900" b="1" dirty="0"/>
              <a:t>Example</a:t>
            </a:r>
          </a:p>
          <a:p>
            <a:pPr marL="0" indent="0">
              <a:buNone/>
            </a:pPr>
            <a:r>
              <a:rPr lang="en-US" altLang="zh-HK" sz="1600" dirty="0"/>
              <a:t>The diagram illustrates the daily total sales of a restaurant over several days. </a:t>
            </a:r>
          </a:p>
          <a:p>
            <a:pPr marL="0" indent="0">
              <a:buNone/>
            </a:pPr>
            <a:r>
              <a:rPr lang="en-US" altLang="zh-HK" sz="1600" dirty="0"/>
              <a:t>The daily total sales of non-smokers are stacked on top of the daily total sales of smokers:</a:t>
            </a:r>
            <a:endParaRPr lang="en-US" sz="1600" dirty="0"/>
          </a:p>
        </p:txBody>
      </p:sp>
      <p:sp>
        <p:nvSpPr>
          <p:cNvPr id="4" name="頁尾版面配置區 3">
            <a:extLst>
              <a:ext uri="{FF2B5EF4-FFF2-40B4-BE49-F238E27FC236}">
                <a16:creationId xmlns:a16="http://schemas.microsoft.com/office/drawing/2014/main" id="{4321BB31-863C-434D-9921-ADDB9CBD49A3}"/>
              </a:ext>
            </a:extLst>
          </p:cNvPr>
          <p:cNvSpPr>
            <a:spLocks noGrp="1"/>
          </p:cNvSpPr>
          <p:nvPr>
            <p:ph type="ftr" sz="quarter" idx="11"/>
          </p:nvPr>
        </p:nvSpPr>
        <p:spPr/>
        <p:txBody>
          <a:bodyPr/>
          <a:lstStyle/>
          <a:p>
            <a:pPr algn="r"/>
            <a:fld id="{215E7548-F18C-4C4B-B96B-B6533EE29CBB}" type="slidenum">
              <a:rPr lang="en-US" altLang="zh-MO" smtClean="0"/>
              <a:pPr algn="r"/>
              <a:t>53</a:t>
            </a:fld>
            <a:endParaRPr lang="en-US" dirty="0"/>
          </a:p>
        </p:txBody>
      </p:sp>
      <p:sp>
        <p:nvSpPr>
          <p:cNvPr id="5" name="文字版面配置區 4">
            <a:extLst>
              <a:ext uri="{FF2B5EF4-FFF2-40B4-BE49-F238E27FC236}">
                <a16:creationId xmlns:a16="http://schemas.microsoft.com/office/drawing/2014/main" id="{96D96DA7-63BE-4A6D-918C-73A25183ECFD}"/>
              </a:ext>
            </a:extLst>
          </p:cNvPr>
          <p:cNvSpPr>
            <a:spLocks noGrp="1"/>
          </p:cNvSpPr>
          <p:nvPr>
            <p:ph type="body" sz="quarter" idx="13"/>
          </p:nvPr>
        </p:nvSpPr>
        <p:spPr>
          <a:xfrm>
            <a:off x="838200" y="676829"/>
            <a:ext cx="8667143" cy="639324"/>
          </a:xfrm>
        </p:spPr>
        <p:txBody>
          <a:bodyPr>
            <a:noAutofit/>
          </a:bodyPr>
          <a:lstStyle/>
          <a:p>
            <a:r>
              <a:rPr lang="en-US" altLang="zh-MO" sz="3200" dirty="0">
                <a:solidFill>
                  <a:srgbClr val="C00000"/>
                </a:solidFill>
              </a:rPr>
              <a:t>CISC7204 Data Science and Data Visualization</a:t>
            </a:r>
            <a:endParaRPr lang="zh-MO" altLang="en-US" sz="3200" dirty="0"/>
          </a:p>
        </p:txBody>
      </p:sp>
      <p:pic>
        <p:nvPicPr>
          <p:cNvPr id="8" name="圖片 7"/>
          <p:cNvPicPr>
            <a:picLocks noChangeAspect="1"/>
          </p:cNvPicPr>
          <p:nvPr/>
        </p:nvPicPr>
        <p:blipFill>
          <a:blip r:embed="rId2"/>
          <a:stretch>
            <a:fillRect/>
          </a:stretch>
        </p:blipFill>
        <p:spPr>
          <a:xfrm>
            <a:off x="3000375" y="1719750"/>
            <a:ext cx="6186488" cy="4582008"/>
          </a:xfrm>
          <a:prstGeom prst="rect">
            <a:avLst/>
          </a:prstGeom>
        </p:spPr>
      </p:pic>
      <p:sp>
        <p:nvSpPr>
          <p:cNvPr id="9" name="矩形 8"/>
          <p:cNvSpPr/>
          <p:nvPr/>
        </p:nvSpPr>
        <p:spPr>
          <a:xfrm>
            <a:off x="9505343" y="2125495"/>
            <a:ext cx="2224088" cy="1200329"/>
          </a:xfrm>
          <a:prstGeom prst="rect">
            <a:avLst/>
          </a:prstGeom>
        </p:spPr>
        <p:txBody>
          <a:bodyPr wrap="square">
            <a:spAutoFit/>
          </a:bodyPr>
          <a:lstStyle/>
          <a:p>
            <a:r>
              <a:rPr lang="en-US" altLang="zh-HK" dirty="0"/>
              <a:t>Daily total restaurant sales categorized by smokers and non-smokers</a:t>
            </a:r>
            <a:endParaRPr lang="zh-HK" altLang="en-US" dirty="0"/>
          </a:p>
        </p:txBody>
      </p:sp>
    </p:spTree>
    <p:extLst>
      <p:ext uri="{BB962C8B-B14F-4D97-AF65-F5344CB8AC3E}">
        <p14:creationId xmlns:p14="http://schemas.microsoft.com/office/powerpoint/2010/main" val="3478539535"/>
      </p:ext>
    </p:extLst>
  </p:cSld>
  <p:clrMapOvr>
    <a:masterClrMapping/>
  </p:clrMapOvr>
  <mc:AlternateContent xmlns:mc="http://schemas.openxmlformats.org/markup-compatibility/2006" xmlns:p14="http://schemas.microsoft.com/office/powerpoint/2010/main">
    <mc:Choice Requires="p14">
      <p:transition spd="slow" p14:dur="2000" advTm="30010"/>
    </mc:Choice>
    <mc:Fallback xmlns="">
      <p:transition spd="slow" advTm="30010"/>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2C39319-C3EB-463D-A73C-2DEA9D750625}"/>
              </a:ext>
            </a:extLst>
          </p:cNvPr>
          <p:cNvSpPr>
            <a:spLocks noGrp="1"/>
          </p:cNvSpPr>
          <p:nvPr>
            <p:ph type="title"/>
          </p:nvPr>
        </p:nvSpPr>
        <p:spPr/>
        <p:txBody>
          <a:bodyPr>
            <a:normAutofit/>
          </a:bodyPr>
          <a:lstStyle/>
          <a:p>
            <a:r>
              <a:rPr lang="en-US" altLang="zh-MO" sz="2800" dirty="0"/>
              <a:t> Introduction to Data Visualization Plots</a:t>
            </a:r>
            <a:endParaRPr lang="zh-MO" altLang="en-US" sz="2800" dirty="0"/>
          </a:p>
        </p:txBody>
      </p:sp>
      <p:sp>
        <p:nvSpPr>
          <p:cNvPr id="3" name="內容版面配置區 2">
            <a:extLst>
              <a:ext uri="{FF2B5EF4-FFF2-40B4-BE49-F238E27FC236}">
                <a16:creationId xmlns:a16="http://schemas.microsoft.com/office/drawing/2014/main" id="{72697A5A-2B81-4055-BE38-FBF0028B433F}"/>
              </a:ext>
            </a:extLst>
          </p:cNvPr>
          <p:cNvSpPr>
            <a:spLocks noGrp="1"/>
          </p:cNvSpPr>
          <p:nvPr>
            <p:ph idx="1"/>
          </p:nvPr>
        </p:nvSpPr>
        <p:spPr>
          <a:xfrm>
            <a:off x="838200" y="1788807"/>
            <a:ext cx="11042374" cy="4392364"/>
          </a:xfrm>
        </p:spPr>
        <p:txBody>
          <a:bodyPr anchor="ctr">
            <a:normAutofit/>
          </a:bodyPr>
          <a:lstStyle/>
          <a:p>
            <a:pPr marL="0" indent="0">
              <a:buNone/>
            </a:pPr>
            <a:r>
              <a:rPr lang="en-US" altLang="zh-MO" sz="2800" b="1" dirty="0">
                <a:solidFill>
                  <a:schemeClr val="accent4">
                    <a:lumMod val="75000"/>
                  </a:schemeClr>
                </a:solidFill>
              </a:rPr>
              <a:t>Part 4: Composition Plots</a:t>
            </a:r>
          </a:p>
          <a:p>
            <a:pPr marL="0" indent="0">
              <a:buNone/>
            </a:pPr>
            <a:r>
              <a:rPr lang="en-US" sz="2600" b="1" dirty="0">
                <a:solidFill>
                  <a:srgbClr val="FF0000"/>
                </a:solidFill>
              </a:rPr>
              <a:t>Stacked Bar Chart – </a:t>
            </a:r>
            <a:r>
              <a:rPr lang="en-US" sz="2600" b="1" dirty="0">
                <a:solidFill>
                  <a:schemeClr val="accent1"/>
                </a:solidFill>
              </a:rPr>
              <a:t>Design Practices</a:t>
            </a:r>
          </a:p>
          <a:p>
            <a:r>
              <a:rPr lang="en-US" altLang="zh-HK" sz="2800" dirty="0"/>
              <a:t>Use contrasting colors for stacked bars.</a:t>
            </a:r>
          </a:p>
          <a:p>
            <a:r>
              <a:rPr lang="en-US" altLang="zh-HK" sz="2800" dirty="0"/>
              <a:t>Ensure that the bars are adequately spaced to eliminate visual clutter. The ideal space guideline between each bar is half the width of a bar.</a:t>
            </a:r>
          </a:p>
          <a:p>
            <a:r>
              <a:rPr lang="en-US" altLang="zh-HK" sz="2800" dirty="0"/>
              <a:t>Categorize data alphabetically, sequentially, or by value, to uniformly order it and make things easier for your audience.</a:t>
            </a:r>
          </a:p>
        </p:txBody>
      </p:sp>
      <p:sp>
        <p:nvSpPr>
          <p:cNvPr id="4" name="頁尾版面配置區 3">
            <a:extLst>
              <a:ext uri="{FF2B5EF4-FFF2-40B4-BE49-F238E27FC236}">
                <a16:creationId xmlns:a16="http://schemas.microsoft.com/office/drawing/2014/main" id="{4321BB31-863C-434D-9921-ADDB9CBD49A3}"/>
              </a:ext>
            </a:extLst>
          </p:cNvPr>
          <p:cNvSpPr>
            <a:spLocks noGrp="1"/>
          </p:cNvSpPr>
          <p:nvPr>
            <p:ph type="ftr" sz="quarter" idx="11"/>
          </p:nvPr>
        </p:nvSpPr>
        <p:spPr/>
        <p:txBody>
          <a:bodyPr/>
          <a:lstStyle/>
          <a:p>
            <a:pPr algn="r"/>
            <a:fld id="{215E7548-F18C-4C4B-B96B-B6533EE29CBB}" type="slidenum">
              <a:rPr lang="en-US" altLang="zh-MO" smtClean="0"/>
              <a:pPr algn="r"/>
              <a:t>54</a:t>
            </a:fld>
            <a:endParaRPr lang="en-US" dirty="0"/>
          </a:p>
        </p:txBody>
      </p:sp>
      <p:sp>
        <p:nvSpPr>
          <p:cNvPr id="5" name="文字版面配置區 4">
            <a:extLst>
              <a:ext uri="{FF2B5EF4-FFF2-40B4-BE49-F238E27FC236}">
                <a16:creationId xmlns:a16="http://schemas.microsoft.com/office/drawing/2014/main" id="{96D96DA7-63BE-4A6D-918C-73A25183ECFD}"/>
              </a:ext>
            </a:extLst>
          </p:cNvPr>
          <p:cNvSpPr>
            <a:spLocks noGrp="1"/>
          </p:cNvSpPr>
          <p:nvPr>
            <p:ph type="body" sz="quarter" idx="13"/>
          </p:nvPr>
        </p:nvSpPr>
        <p:spPr>
          <a:xfrm>
            <a:off x="838200" y="676829"/>
            <a:ext cx="8667143" cy="639324"/>
          </a:xfrm>
        </p:spPr>
        <p:txBody>
          <a:bodyPr>
            <a:noAutofit/>
          </a:bodyPr>
          <a:lstStyle/>
          <a:p>
            <a:r>
              <a:rPr lang="en-US" altLang="zh-MO" sz="3200" dirty="0">
                <a:solidFill>
                  <a:srgbClr val="C00000"/>
                </a:solidFill>
              </a:rPr>
              <a:t>CISC7204 Data Science and Data Visualization</a:t>
            </a:r>
            <a:endParaRPr lang="zh-MO" altLang="en-US" sz="3200" dirty="0"/>
          </a:p>
        </p:txBody>
      </p:sp>
    </p:spTree>
    <p:extLst>
      <p:ext uri="{BB962C8B-B14F-4D97-AF65-F5344CB8AC3E}">
        <p14:creationId xmlns:p14="http://schemas.microsoft.com/office/powerpoint/2010/main" val="658880613"/>
      </p:ext>
    </p:extLst>
  </p:cSld>
  <p:clrMapOvr>
    <a:masterClrMapping/>
  </p:clrMapOvr>
  <mc:AlternateContent xmlns:mc="http://schemas.openxmlformats.org/markup-compatibility/2006" xmlns:p14="http://schemas.microsoft.com/office/powerpoint/2010/main">
    <mc:Choice Requires="p14">
      <p:transition spd="slow" p14:dur="2000" advTm="30010"/>
    </mc:Choice>
    <mc:Fallback xmlns="">
      <p:transition spd="slow" advTm="30010"/>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2C39319-C3EB-463D-A73C-2DEA9D750625}"/>
              </a:ext>
            </a:extLst>
          </p:cNvPr>
          <p:cNvSpPr>
            <a:spLocks noGrp="1"/>
          </p:cNvSpPr>
          <p:nvPr>
            <p:ph type="title"/>
          </p:nvPr>
        </p:nvSpPr>
        <p:spPr/>
        <p:txBody>
          <a:bodyPr>
            <a:normAutofit/>
          </a:bodyPr>
          <a:lstStyle/>
          <a:p>
            <a:r>
              <a:rPr lang="en-US" altLang="zh-MO" sz="2800" dirty="0"/>
              <a:t> Introduction to Data Visualization Plots</a:t>
            </a:r>
            <a:endParaRPr lang="zh-MO" altLang="en-US" sz="2800" dirty="0"/>
          </a:p>
        </p:txBody>
      </p:sp>
      <p:sp>
        <p:nvSpPr>
          <p:cNvPr id="3" name="內容版面配置區 2">
            <a:extLst>
              <a:ext uri="{FF2B5EF4-FFF2-40B4-BE49-F238E27FC236}">
                <a16:creationId xmlns:a16="http://schemas.microsoft.com/office/drawing/2014/main" id="{72697A5A-2B81-4055-BE38-FBF0028B433F}"/>
              </a:ext>
            </a:extLst>
          </p:cNvPr>
          <p:cNvSpPr>
            <a:spLocks noGrp="1"/>
          </p:cNvSpPr>
          <p:nvPr>
            <p:ph idx="1"/>
          </p:nvPr>
        </p:nvSpPr>
        <p:spPr>
          <a:xfrm>
            <a:off x="838200" y="1788807"/>
            <a:ext cx="11042374" cy="4392364"/>
          </a:xfrm>
        </p:spPr>
        <p:txBody>
          <a:bodyPr anchor="ctr">
            <a:normAutofit/>
          </a:bodyPr>
          <a:lstStyle/>
          <a:p>
            <a:pPr marL="0" indent="0">
              <a:buNone/>
            </a:pPr>
            <a:r>
              <a:rPr lang="en-US" altLang="zh-MO" sz="2800" b="1" dirty="0">
                <a:solidFill>
                  <a:schemeClr val="accent4">
                    <a:lumMod val="75000"/>
                  </a:schemeClr>
                </a:solidFill>
              </a:rPr>
              <a:t>Part 4: Composition Plots</a:t>
            </a:r>
          </a:p>
          <a:p>
            <a:pPr marL="0" indent="0">
              <a:buNone/>
            </a:pPr>
            <a:r>
              <a:rPr lang="en-US" sz="2600" b="1" dirty="0">
                <a:solidFill>
                  <a:srgbClr val="FF0000"/>
                </a:solidFill>
              </a:rPr>
              <a:t>Stacked Area Chart</a:t>
            </a:r>
            <a:endParaRPr lang="en-US" sz="2600" b="1" dirty="0">
              <a:solidFill>
                <a:schemeClr val="accent1"/>
              </a:solidFill>
            </a:endParaRPr>
          </a:p>
          <a:p>
            <a:r>
              <a:rPr lang="en-US" altLang="zh-HK" sz="2800" dirty="0"/>
              <a:t>Stacked area charts show trends for part-of-a-whole relations. The values of several groups are illustrated by stacking individual area charts on top of one another. It helps to analyze both individual and overall trend information.</a:t>
            </a:r>
          </a:p>
          <a:p>
            <a:pPr marL="0" indent="0">
              <a:buNone/>
            </a:pPr>
            <a:r>
              <a:rPr lang="en-US" altLang="zh-HK" sz="2800" b="1" dirty="0">
                <a:solidFill>
                  <a:schemeClr val="accent1"/>
                </a:solidFill>
              </a:rPr>
              <a:t>Use</a:t>
            </a:r>
          </a:p>
          <a:p>
            <a:r>
              <a:rPr lang="en-US" altLang="zh-HK" sz="2800" dirty="0"/>
              <a:t>To show trends for time series that are part of a whole.</a:t>
            </a:r>
          </a:p>
        </p:txBody>
      </p:sp>
      <p:sp>
        <p:nvSpPr>
          <p:cNvPr id="4" name="頁尾版面配置區 3">
            <a:extLst>
              <a:ext uri="{FF2B5EF4-FFF2-40B4-BE49-F238E27FC236}">
                <a16:creationId xmlns:a16="http://schemas.microsoft.com/office/drawing/2014/main" id="{4321BB31-863C-434D-9921-ADDB9CBD49A3}"/>
              </a:ext>
            </a:extLst>
          </p:cNvPr>
          <p:cNvSpPr>
            <a:spLocks noGrp="1"/>
          </p:cNvSpPr>
          <p:nvPr>
            <p:ph type="ftr" sz="quarter" idx="11"/>
          </p:nvPr>
        </p:nvSpPr>
        <p:spPr/>
        <p:txBody>
          <a:bodyPr/>
          <a:lstStyle/>
          <a:p>
            <a:pPr algn="r"/>
            <a:fld id="{215E7548-F18C-4C4B-B96B-B6533EE29CBB}" type="slidenum">
              <a:rPr lang="en-US" altLang="zh-MO" smtClean="0"/>
              <a:pPr algn="r"/>
              <a:t>55</a:t>
            </a:fld>
            <a:endParaRPr lang="en-US" dirty="0"/>
          </a:p>
        </p:txBody>
      </p:sp>
      <p:sp>
        <p:nvSpPr>
          <p:cNvPr id="5" name="文字版面配置區 4">
            <a:extLst>
              <a:ext uri="{FF2B5EF4-FFF2-40B4-BE49-F238E27FC236}">
                <a16:creationId xmlns:a16="http://schemas.microsoft.com/office/drawing/2014/main" id="{96D96DA7-63BE-4A6D-918C-73A25183ECFD}"/>
              </a:ext>
            </a:extLst>
          </p:cNvPr>
          <p:cNvSpPr>
            <a:spLocks noGrp="1"/>
          </p:cNvSpPr>
          <p:nvPr>
            <p:ph type="body" sz="quarter" idx="13"/>
          </p:nvPr>
        </p:nvSpPr>
        <p:spPr>
          <a:xfrm>
            <a:off x="838200" y="676829"/>
            <a:ext cx="8667143" cy="639324"/>
          </a:xfrm>
        </p:spPr>
        <p:txBody>
          <a:bodyPr>
            <a:noAutofit/>
          </a:bodyPr>
          <a:lstStyle/>
          <a:p>
            <a:r>
              <a:rPr lang="en-US" altLang="zh-MO" sz="3200" dirty="0">
                <a:solidFill>
                  <a:srgbClr val="C00000"/>
                </a:solidFill>
              </a:rPr>
              <a:t>CISC7204 Data Science and Data Visualization</a:t>
            </a:r>
            <a:endParaRPr lang="zh-MO" altLang="en-US" sz="3200" dirty="0"/>
          </a:p>
        </p:txBody>
      </p:sp>
    </p:spTree>
    <p:extLst>
      <p:ext uri="{BB962C8B-B14F-4D97-AF65-F5344CB8AC3E}">
        <p14:creationId xmlns:p14="http://schemas.microsoft.com/office/powerpoint/2010/main" val="3642352719"/>
      </p:ext>
    </p:extLst>
  </p:cSld>
  <p:clrMapOvr>
    <a:masterClrMapping/>
  </p:clrMapOvr>
  <mc:AlternateContent xmlns:mc="http://schemas.openxmlformats.org/markup-compatibility/2006" xmlns:p14="http://schemas.microsoft.com/office/powerpoint/2010/main">
    <mc:Choice Requires="p14">
      <p:transition spd="slow" p14:dur="2000" advTm="30010"/>
    </mc:Choice>
    <mc:Fallback xmlns="">
      <p:transition spd="slow" advTm="30010"/>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2C39319-C3EB-463D-A73C-2DEA9D750625}"/>
              </a:ext>
            </a:extLst>
          </p:cNvPr>
          <p:cNvSpPr>
            <a:spLocks noGrp="1"/>
          </p:cNvSpPr>
          <p:nvPr>
            <p:ph type="title"/>
          </p:nvPr>
        </p:nvSpPr>
        <p:spPr/>
        <p:txBody>
          <a:bodyPr>
            <a:normAutofit/>
          </a:bodyPr>
          <a:lstStyle/>
          <a:p>
            <a:r>
              <a:rPr lang="en-US" altLang="zh-MO" sz="2800" dirty="0"/>
              <a:t> Introduction to Data Visualization Plots</a:t>
            </a:r>
            <a:endParaRPr lang="zh-MO" altLang="en-US" sz="2800" dirty="0"/>
          </a:p>
        </p:txBody>
      </p:sp>
      <p:sp>
        <p:nvSpPr>
          <p:cNvPr id="3" name="內容版面配置區 2">
            <a:extLst>
              <a:ext uri="{FF2B5EF4-FFF2-40B4-BE49-F238E27FC236}">
                <a16:creationId xmlns:a16="http://schemas.microsoft.com/office/drawing/2014/main" id="{72697A5A-2B81-4055-BE38-FBF0028B433F}"/>
              </a:ext>
            </a:extLst>
          </p:cNvPr>
          <p:cNvSpPr>
            <a:spLocks noGrp="1"/>
          </p:cNvSpPr>
          <p:nvPr>
            <p:ph idx="1"/>
          </p:nvPr>
        </p:nvSpPr>
        <p:spPr>
          <a:xfrm>
            <a:off x="838199" y="1788807"/>
            <a:ext cx="1762125" cy="4392364"/>
          </a:xfrm>
        </p:spPr>
        <p:txBody>
          <a:bodyPr anchor="ctr">
            <a:normAutofit/>
          </a:bodyPr>
          <a:lstStyle/>
          <a:p>
            <a:pPr marL="0" indent="0">
              <a:buNone/>
            </a:pPr>
            <a:r>
              <a:rPr lang="en-US" altLang="zh-MO" sz="2000" b="1" dirty="0">
                <a:solidFill>
                  <a:schemeClr val="accent4">
                    <a:lumMod val="75000"/>
                  </a:schemeClr>
                </a:solidFill>
              </a:rPr>
              <a:t>Part 4: Composition Plots</a:t>
            </a:r>
          </a:p>
          <a:p>
            <a:pPr marL="0" indent="0">
              <a:buNone/>
            </a:pPr>
            <a:r>
              <a:rPr lang="en-US" sz="1800" b="1" dirty="0">
                <a:solidFill>
                  <a:srgbClr val="FF0000"/>
                </a:solidFill>
              </a:rPr>
              <a:t>Stacked Area Chart</a:t>
            </a:r>
            <a:endParaRPr lang="en-US" sz="1800" b="1" dirty="0">
              <a:solidFill>
                <a:schemeClr val="accent1"/>
              </a:solidFill>
            </a:endParaRPr>
          </a:p>
          <a:p>
            <a:pPr marL="0" indent="0">
              <a:buNone/>
            </a:pPr>
            <a:r>
              <a:rPr lang="en-US" altLang="zh-HK" sz="1800" dirty="0"/>
              <a:t>Example</a:t>
            </a:r>
          </a:p>
          <a:p>
            <a:pPr marL="0" indent="0">
              <a:buNone/>
            </a:pPr>
            <a:r>
              <a:rPr lang="en-US" altLang="zh-HK" sz="1400" dirty="0"/>
              <a:t>The following diagram shows a stacked area chart with the net profits of Google, Facebook, Twitter, and Snapchat over a decade:</a:t>
            </a:r>
          </a:p>
        </p:txBody>
      </p:sp>
      <p:sp>
        <p:nvSpPr>
          <p:cNvPr id="4" name="頁尾版面配置區 3">
            <a:extLst>
              <a:ext uri="{FF2B5EF4-FFF2-40B4-BE49-F238E27FC236}">
                <a16:creationId xmlns:a16="http://schemas.microsoft.com/office/drawing/2014/main" id="{4321BB31-863C-434D-9921-ADDB9CBD49A3}"/>
              </a:ext>
            </a:extLst>
          </p:cNvPr>
          <p:cNvSpPr>
            <a:spLocks noGrp="1"/>
          </p:cNvSpPr>
          <p:nvPr>
            <p:ph type="ftr" sz="quarter" idx="11"/>
          </p:nvPr>
        </p:nvSpPr>
        <p:spPr/>
        <p:txBody>
          <a:bodyPr/>
          <a:lstStyle/>
          <a:p>
            <a:pPr algn="r"/>
            <a:fld id="{215E7548-F18C-4C4B-B96B-B6533EE29CBB}" type="slidenum">
              <a:rPr lang="en-US" altLang="zh-MO" smtClean="0"/>
              <a:pPr algn="r"/>
              <a:t>56</a:t>
            </a:fld>
            <a:endParaRPr lang="en-US" dirty="0"/>
          </a:p>
        </p:txBody>
      </p:sp>
      <p:sp>
        <p:nvSpPr>
          <p:cNvPr id="5" name="文字版面配置區 4">
            <a:extLst>
              <a:ext uri="{FF2B5EF4-FFF2-40B4-BE49-F238E27FC236}">
                <a16:creationId xmlns:a16="http://schemas.microsoft.com/office/drawing/2014/main" id="{96D96DA7-63BE-4A6D-918C-73A25183ECFD}"/>
              </a:ext>
            </a:extLst>
          </p:cNvPr>
          <p:cNvSpPr>
            <a:spLocks noGrp="1"/>
          </p:cNvSpPr>
          <p:nvPr>
            <p:ph type="body" sz="quarter" idx="13"/>
          </p:nvPr>
        </p:nvSpPr>
        <p:spPr>
          <a:xfrm>
            <a:off x="838200" y="676829"/>
            <a:ext cx="8667143" cy="639324"/>
          </a:xfrm>
        </p:spPr>
        <p:txBody>
          <a:bodyPr>
            <a:noAutofit/>
          </a:bodyPr>
          <a:lstStyle/>
          <a:p>
            <a:r>
              <a:rPr lang="en-US" altLang="zh-MO" sz="3200" dirty="0">
                <a:solidFill>
                  <a:srgbClr val="C00000"/>
                </a:solidFill>
              </a:rPr>
              <a:t>CISC7204 Data Science and Data Visualization</a:t>
            </a:r>
            <a:endParaRPr lang="zh-MO" altLang="en-US" sz="3200" dirty="0"/>
          </a:p>
        </p:txBody>
      </p:sp>
      <p:pic>
        <p:nvPicPr>
          <p:cNvPr id="6" name="圖片 5"/>
          <p:cNvPicPr>
            <a:picLocks noChangeAspect="1"/>
          </p:cNvPicPr>
          <p:nvPr/>
        </p:nvPicPr>
        <p:blipFill>
          <a:blip r:embed="rId2"/>
          <a:stretch>
            <a:fillRect/>
          </a:stretch>
        </p:blipFill>
        <p:spPr>
          <a:xfrm>
            <a:off x="3243263" y="1970451"/>
            <a:ext cx="6262080" cy="4210720"/>
          </a:xfrm>
          <a:prstGeom prst="rect">
            <a:avLst/>
          </a:prstGeom>
        </p:spPr>
      </p:pic>
      <p:sp>
        <p:nvSpPr>
          <p:cNvPr id="7" name="矩形 6"/>
          <p:cNvSpPr/>
          <p:nvPr/>
        </p:nvSpPr>
        <p:spPr>
          <a:xfrm>
            <a:off x="9823174" y="2222751"/>
            <a:ext cx="1696350" cy="1200329"/>
          </a:xfrm>
          <a:prstGeom prst="rect">
            <a:avLst/>
          </a:prstGeom>
        </p:spPr>
        <p:txBody>
          <a:bodyPr wrap="square">
            <a:spAutoFit/>
          </a:bodyPr>
          <a:lstStyle/>
          <a:p>
            <a:r>
              <a:rPr lang="en-US" altLang="zh-HK" dirty="0"/>
              <a:t>Stacked area chart to show net profits of four companies</a:t>
            </a:r>
            <a:endParaRPr lang="zh-HK" altLang="en-US" dirty="0"/>
          </a:p>
        </p:txBody>
      </p:sp>
    </p:spTree>
    <p:extLst>
      <p:ext uri="{BB962C8B-B14F-4D97-AF65-F5344CB8AC3E}">
        <p14:creationId xmlns:p14="http://schemas.microsoft.com/office/powerpoint/2010/main" val="1893462497"/>
      </p:ext>
    </p:extLst>
  </p:cSld>
  <p:clrMapOvr>
    <a:masterClrMapping/>
  </p:clrMapOvr>
  <mc:AlternateContent xmlns:mc="http://schemas.openxmlformats.org/markup-compatibility/2006" xmlns:p14="http://schemas.microsoft.com/office/powerpoint/2010/main">
    <mc:Choice Requires="p14">
      <p:transition spd="slow" p14:dur="2000" advTm="30010"/>
    </mc:Choice>
    <mc:Fallback xmlns="">
      <p:transition spd="slow" advTm="30010"/>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2C39319-C3EB-463D-A73C-2DEA9D750625}"/>
              </a:ext>
            </a:extLst>
          </p:cNvPr>
          <p:cNvSpPr>
            <a:spLocks noGrp="1"/>
          </p:cNvSpPr>
          <p:nvPr>
            <p:ph type="title"/>
          </p:nvPr>
        </p:nvSpPr>
        <p:spPr/>
        <p:txBody>
          <a:bodyPr>
            <a:normAutofit/>
          </a:bodyPr>
          <a:lstStyle/>
          <a:p>
            <a:r>
              <a:rPr lang="en-US" altLang="zh-MO" sz="2800" dirty="0"/>
              <a:t> Introduction to Data Visualization Plots</a:t>
            </a:r>
            <a:endParaRPr lang="zh-MO" altLang="en-US" sz="2800" dirty="0"/>
          </a:p>
        </p:txBody>
      </p:sp>
      <p:sp>
        <p:nvSpPr>
          <p:cNvPr id="3" name="內容版面配置區 2">
            <a:extLst>
              <a:ext uri="{FF2B5EF4-FFF2-40B4-BE49-F238E27FC236}">
                <a16:creationId xmlns:a16="http://schemas.microsoft.com/office/drawing/2014/main" id="{72697A5A-2B81-4055-BE38-FBF0028B433F}"/>
              </a:ext>
            </a:extLst>
          </p:cNvPr>
          <p:cNvSpPr>
            <a:spLocks noGrp="1"/>
          </p:cNvSpPr>
          <p:nvPr>
            <p:ph idx="1"/>
          </p:nvPr>
        </p:nvSpPr>
        <p:spPr>
          <a:xfrm>
            <a:off x="838200" y="1788807"/>
            <a:ext cx="11042374" cy="4392364"/>
          </a:xfrm>
        </p:spPr>
        <p:txBody>
          <a:bodyPr anchor="ctr">
            <a:normAutofit/>
          </a:bodyPr>
          <a:lstStyle/>
          <a:p>
            <a:pPr marL="0" indent="0">
              <a:buNone/>
            </a:pPr>
            <a:r>
              <a:rPr lang="en-US" altLang="zh-MO" sz="2800" b="1" dirty="0">
                <a:solidFill>
                  <a:schemeClr val="accent4">
                    <a:lumMod val="75000"/>
                  </a:schemeClr>
                </a:solidFill>
              </a:rPr>
              <a:t>Part 4: Composition Plots</a:t>
            </a:r>
          </a:p>
          <a:p>
            <a:pPr marL="0" indent="0">
              <a:buNone/>
            </a:pPr>
            <a:r>
              <a:rPr lang="en-US" sz="2600" b="1" dirty="0">
                <a:solidFill>
                  <a:srgbClr val="FF0000"/>
                </a:solidFill>
              </a:rPr>
              <a:t>Stacked Area Chart – </a:t>
            </a:r>
            <a:r>
              <a:rPr lang="en-US" sz="2600" b="1" dirty="0">
                <a:solidFill>
                  <a:schemeClr val="accent1"/>
                </a:solidFill>
              </a:rPr>
              <a:t>Design Practice</a:t>
            </a:r>
          </a:p>
          <a:p>
            <a:r>
              <a:rPr lang="en-US" altLang="zh-HK" sz="2800" dirty="0"/>
              <a:t>Use transparent colors to improve information visibility. This will help you to analyze the overlapping data and you will also be able to see the grid lines.</a:t>
            </a:r>
          </a:p>
        </p:txBody>
      </p:sp>
      <p:sp>
        <p:nvSpPr>
          <p:cNvPr id="4" name="頁尾版面配置區 3">
            <a:extLst>
              <a:ext uri="{FF2B5EF4-FFF2-40B4-BE49-F238E27FC236}">
                <a16:creationId xmlns:a16="http://schemas.microsoft.com/office/drawing/2014/main" id="{4321BB31-863C-434D-9921-ADDB9CBD49A3}"/>
              </a:ext>
            </a:extLst>
          </p:cNvPr>
          <p:cNvSpPr>
            <a:spLocks noGrp="1"/>
          </p:cNvSpPr>
          <p:nvPr>
            <p:ph type="ftr" sz="quarter" idx="11"/>
          </p:nvPr>
        </p:nvSpPr>
        <p:spPr/>
        <p:txBody>
          <a:bodyPr/>
          <a:lstStyle/>
          <a:p>
            <a:pPr algn="r"/>
            <a:fld id="{215E7548-F18C-4C4B-B96B-B6533EE29CBB}" type="slidenum">
              <a:rPr lang="en-US" altLang="zh-MO" smtClean="0"/>
              <a:pPr algn="r"/>
              <a:t>57</a:t>
            </a:fld>
            <a:endParaRPr lang="en-US" dirty="0"/>
          </a:p>
        </p:txBody>
      </p:sp>
      <p:sp>
        <p:nvSpPr>
          <p:cNvPr id="5" name="文字版面配置區 4">
            <a:extLst>
              <a:ext uri="{FF2B5EF4-FFF2-40B4-BE49-F238E27FC236}">
                <a16:creationId xmlns:a16="http://schemas.microsoft.com/office/drawing/2014/main" id="{96D96DA7-63BE-4A6D-918C-73A25183ECFD}"/>
              </a:ext>
            </a:extLst>
          </p:cNvPr>
          <p:cNvSpPr>
            <a:spLocks noGrp="1"/>
          </p:cNvSpPr>
          <p:nvPr>
            <p:ph type="body" sz="quarter" idx="13"/>
          </p:nvPr>
        </p:nvSpPr>
        <p:spPr>
          <a:xfrm>
            <a:off x="838200" y="676829"/>
            <a:ext cx="8667143" cy="639324"/>
          </a:xfrm>
        </p:spPr>
        <p:txBody>
          <a:bodyPr>
            <a:noAutofit/>
          </a:bodyPr>
          <a:lstStyle/>
          <a:p>
            <a:r>
              <a:rPr lang="en-US" altLang="zh-MO" sz="3200" dirty="0">
                <a:solidFill>
                  <a:srgbClr val="C00000"/>
                </a:solidFill>
              </a:rPr>
              <a:t>CISC7204 Data Science and Data Visualization</a:t>
            </a:r>
            <a:endParaRPr lang="zh-MO" altLang="en-US" sz="3200" dirty="0"/>
          </a:p>
        </p:txBody>
      </p:sp>
    </p:spTree>
    <p:extLst>
      <p:ext uri="{BB962C8B-B14F-4D97-AF65-F5344CB8AC3E}">
        <p14:creationId xmlns:p14="http://schemas.microsoft.com/office/powerpoint/2010/main" val="620538906"/>
      </p:ext>
    </p:extLst>
  </p:cSld>
  <p:clrMapOvr>
    <a:masterClrMapping/>
  </p:clrMapOvr>
  <mc:AlternateContent xmlns:mc="http://schemas.openxmlformats.org/markup-compatibility/2006" xmlns:p14="http://schemas.microsoft.com/office/powerpoint/2010/main">
    <mc:Choice Requires="p14">
      <p:transition spd="slow" p14:dur="2000" advTm="30010"/>
    </mc:Choice>
    <mc:Fallback xmlns="">
      <p:transition spd="slow" advTm="30010"/>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2C39319-C3EB-463D-A73C-2DEA9D750625}"/>
              </a:ext>
            </a:extLst>
          </p:cNvPr>
          <p:cNvSpPr>
            <a:spLocks noGrp="1"/>
          </p:cNvSpPr>
          <p:nvPr>
            <p:ph type="title"/>
          </p:nvPr>
        </p:nvSpPr>
        <p:spPr/>
        <p:txBody>
          <a:bodyPr>
            <a:normAutofit/>
          </a:bodyPr>
          <a:lstStyle/>
          <a:p>
            <a:r>
              <a:rPr lang="en-US" altLang="zh-MO" sz="2800" dirty="0"/>
              <a:t> Introduction to Data Visualization Plots</a:t>
            </a:r>
            <a:endParaRPr lang="zh-MO" altLang="en-US" sz="2800" dirty="0"/>
          </a:p>
        </p:txBody>
      </p:sp>
      <p:sp>
        <p:nvSpPr>
          <p:cNvPr id="3" name="內容版面配置區 2">
            <a:extLst>
              <a:ext uri="{FF2B5EF4-FFF2-40B4-BE49-F238E27FC236}">
                <a16:creationId xmlns:a16="http://schemas.microsoft.com/office/drawing/2014/main" id="{72697A5A-2B81-4055-BE38-FBF0028B433F}"/>
              </a:ext>
            </a:extLst>
          </p:cNvPr>
          <p:cNvSpPr>
            <a:spLocks noGrp="1"/>
          </p:cNvSpPr>
          <p:nvPr>
            <p:ph idx="1"/>
          </p:nvPr>
        </p:nvSpPr>
        <p:spPr>
          <a:xfrm>
            <a:off x="838200" y="1788807"/>
            <a:ext cx="11042374" cy="4392364"/>
          </a:xfrm>
        </p:spPr>
        <p:txBody>
          <a:bodyPr anchor="ctr">
            <a:normAutofit fontScale="92500" lnSpcReduction="10000"/>
          </a:bodyPr>
          <a:lstStyle/>
          <a:p>
            <a:pPr marL="0" indent="0">
              <a:buNone/>
            </a:pPr>
            <a:r>
              <a:rPr lang="en-US" altLang="zh-MO" sz="2800" b="1" dirty="0">
                <a:solidFill>
                  <a:schemeClr val="accent4">
                    <a:lumMod val="75000"/>
                  </a:schemeClr>
                </a:solidFill>
              </a:rPr>
              <a:t>Part 4: Composition Plots</a:t>
            </a:r>
          </a:p>
          <a:p>
            <a:pPr marL="0" indent="0">
              <a:buNone/>
            </a:pPr>
            <a:r>
              <a:rPr lang="en-US" sz="2600" b="1" dirty="0">
                <a:solidFill>
                  <a:srgbClr val="FF0000"/>
                </a:solidFill>
              </a:rPr>
              <a:t>Venn Diagram </a:t>
            </a:r>
          </a:p>
          <a:p>
            <a:pPr marL="0" indent="0">
              <a:buNone/>
            </a:pPr>
            <a:r>
              <a:rPr lang="en-US" altLang="zh-HK" sz="2800" dirty="0"/>
              <a:t>Venn diagrams, also known as </a:t>
            </a:r>
            <a:r>
              <a:rPr lang="en-US" altLang="zh-HK" sz="2800" dirty="0">
                <a:solidFill>
                  <a:schemeClr val="accent2"/>
                </a:solidFill>
              </a:rPr>
              <a:t>set diagrams</a:t>
            </a:r>
            <a:r>
              <a:rPr lang="en-US" altLang="zh-HK" sz="2800" dirty="0"/>
              <a:t>, show all possible logical relations between a finite collection of different sets. </a:t>
            </a:r>
          </a:p>
          <a:p>
            <a:r>
              <a:rPr lang="en-US" altLang="zh-HK" sz="2800" dirty="0"/>
              <a:t>Each set is represented by a circle. </a:t>
            </a:r>
          </a:p>
          <a:p>
            <a:r>
              <a:rPr lang="en-US" altLang="zh-HK" sz="2800" dirty="0"/>
              <a:t>The circle size illustrates the importance of a group. </a:t>
            </a:r>
          </a:p>
          <a:p>
            <a:r>
              <a:rPr lang="en-US" altLang="zh-HK" sz="2800" dirty="0"/>
              <a:t>The size of overlap represents the intersection between multiple groups.</a:t>
            </a:r>
          </a:p>
          <a:p>
            <a:pPr marL="0" indent="0">
              <a:buNone/>
            </a:pPr>
            <a:r>
              <a:rPr lang="en-US" altLang="zh-HK" sz="2800" b="1" dirty="0">
                <a:solidFill>
                  <a:schemeClr val="accent1"/>
                </a:solidFill>
              </a:rPr>
              <a:t>Use</a:t>
            </a:r>
          </a:p>
          <a:p>
            <a:pPr marL="0" indent="0">
              <a:buNone/>
            </a:pPr>
            <a:r>
              <a:rPr lang="en-US" altLang="zh-HK" sz="2800" dirty="0"/>
              <a:t>To show overlaps for different sets</a:t>
            </a:r>
          </a:p>
        </p:txBody>
      </p:sp>
      <p:sp>
        <p:nvSpPr>
          <p:cNvPr id="4" name="頁尾版面配置區 3">
            <a:extLst>
              <a:ext uri="{FF2B5EF4-FFF2-40B4-BE49-F238E27FC236}">
                <a16:creationId xmlns:a16="http://schemas.microsoft.com/office/drawing/2014/main" id="{4321BB31-863C-434D-9921-ADDB9CBD49A3}"/>
              </a:ext>
            </a:extLst>
          </p:cNvPr>
          <p:cNvSpPr>
            <a:spLocks noGrp="1"/>
          </p:cNvSpPr>
          <p:nvPr>
            <p:ph type="ftr" sz="quarter" idx="11"/>
          </p:nvPr>
        </p:nvSpPr>
        <p:spPr/>
        <p:txBody>
          <a:bodyPr/>
          <a:lstStyle/>
          <a:p>
            <a:pPr algn="r"/>
            <a:fld id="{215E7548-F18C-4C4B-B96B-B6533EE29CBB}" type="slidenum">
              <a:rPr lang="en-US" altLang="zh-MO" smtClean="0"/>
              <a:pPr algn="r"/>
              <a:t>58</a:t>
            </a:fld>
            <a:endParaRPr lang="en-US" dirty="0"/>
          </a:p>
        </p:txBody>
      </p:sp>
      <p:sp>
        <p:nvSpPr>
          <p:cNvPr id="5" name="文字版面配置區 4">
            <a:extLst>
              <a:ext uri="{FF2B5EF4-FFF2-40B4-BE49-F238E27FC236}">
                <a16:creationId xmlns:a16="http://schemas.microsoft.com/office/drawing/2014/main" id="{96D96DA7-63BE-4A6D-918C-73A25183ECFD}"/>
              </a:ext>
            </a:extLst>
          </p:cNvPr>
          <p:cNvSpPr>
            <a:spLocks noGrp="1"/>
          </p:cNvSpPr>
          <p:nvPr>
            <p:ph type="body" sz="quarter" idx="13"/>
          </p:nvPr>
        </p:nvSpPr>
        <p:spPr>
          <a:xfrm>
            <a:off x="838200" y="676829"/>
            <a:ext cx="8667143" cy="639324"/>
          </a:xfrm>
        </p:spPr>
        <p:txBody>
          <a:bodyPr>
            <a:noAutofit/>
          </a:bodyPr>
          <a:lstStyle/>
          <a:p>
            <a:r>
              <a:rPr lang="en-US" altLang="zh-MO" sz="3200" dirty="0">
                <a:solidFill>
                  <a:srgbClr val="C00000"/>
                </a:solidFill>
              </a:rPr>
              <a:t>CISC7204 Data Science and Data Visualization</a:t>
            </a:r>
            <a:endParaRPr lang="zh-MO" altLang="en-US" sz="3200" dirty="0"/>
          </a:p>
        </p:txBody>
      </p:sp>
    </p:spTree>
    <p:extLst>
      <p:ext uri="{BB962C8B-B14F-4D97-AF65-F5344CB8AC3E}">
        <p14:creationId xmlns:p14="http://schemas.microsoft.com/office/powerpoint/2010/main" val="1923044766"/>
      </p:ext>
    </p:extLst>
  </p:cSld>
  <p:clrMapOvr>
    <a:masterClrMapping/>
  </p:clrMapOvr>
  <mc:AlternateContent xmlns:mc="http://schemas.openxmlformats.org/markup-compatibility/2006" xmlns:p14="http://schemas.microsoft.com/office/powerpoint/2010/main">
    <mc:Choice Requires="p14">
      <p:transition spd="slow" p14:dur="2000" advTm="30010"/>
    </mc:Choice>
    <mc:Fallback xmlns="">
      <p:transition spd="slow" advTm="30010"/>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2C39319-C3EB-463D-A73C-2DEA9D750625}"/>
              </a:ext>
            </a:extLst>
          </p:cNvPr>
          <p:cNvSpPr>
            <a:spLocks noGrp="1"/>
          </p:cNvSpPr>
          <p:nvPr>
            <p:ph type="title"/>
          </p:nvPr>
        </p:nvSpPr>
        <p:spPr/>
        <p:txBody>
          <a:bodyPr>
            <a:normAutofit/>
          </a:bodyPr>
          <a:lstStyle/>
          <a:p>
            <a:r>
              <a:rPr lang="en-US" altLang="zh-MO" sz="2800" dirty="0"/>
              <a:t> Introduction to Data Visualization Plots</a:t>
            </a:r>
            <a:endParaRPr lang="zh-MO" altLang="en-US" sz="2800" dirty="0"/>
          </a:p>
        </p:txBody>
      </p:sp>
      <p:sp>
        <p:nvSpPr>
          <p:cNvPr id="3" name="內容版面配置區 2">
            <a:extLst>
              <a:ext uri="{FF2B5EF4-FFF2-40B4-BE49-F238E27FC236}">
                <a16:creationId xmlns:a16="http://schemas.microsoft.com/office/drawing/2014/main" id="{72697A5A-2B81-4055-BE38-FBF0028B433F}"/>
              </a:ext>
            </a:extLst>
          </p:cNvPr>
          <p:cNvSpPr>
            <a:spLocks noGrp="1"/>
          </p:cNvSpPr>
          <p:nvPr>
            <p:ph idx="1"/>
          </p:nvPr>
        </p:nvSpPr>
        <p:spPr>
          <a:xfrm>
            <a:off x="838199" y="1788807"/>
            <a:ext cx="1762125" cy="4392364"/>
          </a:xfrm>
        </p:spPr>
        <p:txBody>
          <a:bodyPr anchor="ctr">
            <a:normAutofit/>
          </a:bodyPr>
          <a:lstStyle/>
          <a:p>
            <a:pPr marL="0" indent="0">
              <a:buNone/>
            </a:pPr>
            <a:r>
              <a:rPr lang="en-US" altLang="zh-MO" sz="2000" b="1" dirty="0">
                <a:solidFill>
                  <a:schemeClr val="accent4">
                    <a:lumMod val="75000"/>
                  </a:schemeClr>
                </a:solidFill>
              </a:rPr>
              <a:t>Part 4: Composition Plots</a:t>
            </a:r>
          </a:p>
          <a:p>
            <a:pPr marL="0" indent="0">
              <a:buNone/>
            </a:pPr>
            <a:r>
              <a:rPr lang="en-US" sz="1800" b="1" dirty="0">
                <a:solidFill>
                  <a:srgbClr val="FF0000"/>
                </a:solidFill>
              </a:rPr>
              <a:t>Venn Diagram</a:t>
            </a:r>
            <a:endParaRPr lang="en-US" sz="1800" b="1" dirty="0">
              <a:solidFill>
                <a:schemeClr val="accent1"/>
              </a:solidFill>
            </a:endParaRPr>
          </a:p>
          <a:p>
            <a:pPr marL="0" indent="0">
              <a:buNone/>
            </a:pPr>
            <a:r>
              <a:rPr lang="en-US" altLang="zh-HK" sz="1800" b="1" dirty="0">
                <a:solidFill>
                  <a:schemeClr val="accent1"/>
                </a:solidFill>
              </a:rPr>
              <a:t>Example</a:t>
            </a:r>
          </a:p>
          <a:p>
            <a:pPr marL="0" indent="0">
              <a:buNone/>
            </a:pPr>
            <a:r>
              <a:rPr lang="en-US" altLang="zh-HK" sz="1400" dirty="0"/>
              <a:t>Visualizing the intersection of the following diagram shows a Venn diagram for students in two groups taking the same class in a semester:</a:t>
            </a:r>
          </a:p>
        </p:txBody>
      </p:sp>
      <p:sp>
        <p:nvSpPr>
          <p:cNvPr id="4" name="頁尾版面配置區 3">
            <a:extLst>
              <a:ext uri="{FF2B5EF4-FFF2-40B4-BE49-F238E27FC236}">
                <a16:creationId xmlns:a16="http://schemas.microsoft.com/office/drawing/2014/main" id="{4321BB31-863C-434D-9921-ADDB9CBD49A3}"/>
              </a:ext>
            </a:extLst>
          </p:cNvPr>
          <p:cNvSpPr>
            <a:spLocks noGrp="1"/>
          </p:cNvSpPr>
          <p:nvPr>
            <p:ph type="ftr" sz="quarter" idx="11"/>
          </p:nvPr>
        </p:nvSpPr>
        <p:spPr/>
        <p:txBody>
          <a:bodyPr/>
          <a:lstStyle/>
          <a:p>
            <a:pPr algn="r"/>
            <a:fld id="{215E7548-F18C-4C4B-B96B-B6533EE29CBB}" type="slidenum">
              <a:rPr lang="en-US" altLang="zh-MO" smtClean="0"/>
              <a:pPr algn="r"/>
              <a:t>59</a:t>
            </a:fld>
            <a:endParaRPr lang="en-US" dirty="0"/>
          </a:p>
        </p:txBody>
      </p:sp>
      <p:sp>
        <p:nvSpPr>
          <p:cNvPr id="5" name="文字版面配置區 4">
            <a:extLst>
              <a:ext uri="{FF2B5EF4-FFF2-40B4-BE49-F238E27FC236}">
                <a16:creationId xmlns:a16="http://schemas.microsoft.com/office/drawing/2014/main" id="{96D96DA7-63BE-4A6D-918C-73A25183ECFD}"/>
              </a:ext>
            </a:extLst>
          </p:cNvPr>
          <p:cNvSpPr>
            <a:spLocks noGrp="1"/>
          </p:cNvSpPr>
          <p:nvPr>
            <p:ph type="body" sz="quarter" idx="13"/>
          </p:nvPr>
        </p:nvSpPr>
        <p:spPr>
          <a:xfrm>
            <a:off x="838200" y="676829"/>
            <a:ext cx="8667143" cy="639324"/>
          </a:xfrm>
        </p:spPr>
        <p:txBody>
          <a:bodyPr>
            <a:noAutofit/>
          </a:bodyPr>
          <a:lstStyle/>
          <a:p>
            <a:r>
              <a:rPr lang="en-US" altLang="zh-MO" sz="3200" dirty="0">
                <a:solidFill>
                  <a:srgbClr val="C00000"/>
                </a:solidFill>
              </a:rPr>
              <a:t>CISC7204 Data Science and Data Visualization</a:t>
            </a:r>
            <a:endParaRPr lang="zh-MO" altLang="en-US" sz="3200" dirty="0"/>
          </a:p>
        </p:txBody>
      </p:sp>
      <p:pic>
        <p:nvPicPr>
          <p:cNvPr id="8" name="圖片 7"/>
          <p:cNvPicPr>
            <a:picLocks noChangeAspect="1"/>
          </p:cNvPicPr>
          <p:nvPr/>
        </p:nvPicPr>
        <p:blipFill>
          <a:blip r:embed="rId2"/>
          <a:stretch>
            <a:fillRect/>
          </a:stretch>
        </p:blipFill>
        <p:spPr>
          <a:xfrm>
            <a:off x="3471863" y="1788807"/>
            <a:ext cx="5329237" cy="3771901"/>
          </a:xfrm>
          <a:prstGeom prst="rect">
            <a:avLst/>
          </a:prstGeom>
        </p:spPr>
      </p:pic>
      <p:sp>
        <p:nvSpPr>
          <p:cNvPr id="9" name="矩形 8"/>
          <p:cNvSpPr/>
          <p:nvPr/>
        </p:nvSpPr>
        <p:spPr>
          <a:xfrm>
            <a:off x="9245102" y="2887147"/>
            <a:ext cx="2499223" cy="923330"/>
          </a:xfrm>
          <a:prstGeom prst="rect">
            <a:avLst/>
          </a:prstGeom>
        </p:spPr>
        <p:txBody>
          <a:bodyPr wrap="square">
            <a:spAutoFit/>
          </a:bodyPr>
          <a:lstStyle/>
          <a:p>
            <a:r>
              <a:rPr lang="en-US" altLang="zh-HK" dirty="0"/>
              <a:t>Venn diagram showing students taking the same class</a:t>
            </a:r>
            <a:endParaRPr lang="zh-HK" altLang="en-US" dirty="0"/>
          </a:p>
        </p:txBody>
      </p:sp>
      <p:sp>
        <p:nvSpPr>
          <p:cNvPr id="10" name="矩形 9"/>
          <p:cNvSpPr/>
          <p:nvPr/>
        </p:nvSpPr>
        <p:spPr>
          <a:xfrm>
            <a:off x="3614323" y="5616342"/>
            <a:ext cx="8017151" cy="646331"/>
          </a:xfrm>
          <a:prstGeom prst="rect">
            <a:avLst/>
          </a:prstGeom>
        </p:spPr>
        <p:txBody>
          <a:bodyPr wrap="square">
            <a:spAutoFit/>
          </a:bodyPr>
          <a:lstStyle/>
          <a:p>
            <a:r>
              <a:rPr lang="en-US" altLang="zh-HK" dirty="0"/>
              <a:t>From the preceding diagram, we can note that there are eight students in just group A, four students in just group B, and one student in both groups.</a:t>
            </a:r>
            <a:endParaRPr lang="zh-HK" altLang="en-US" dirty="0"/>
          </a:p>
        </p:txBody>
      </p:sp>
    </p:spTree>
    <p:extLst>
      <p:ext uri="{BB962C8B-B14F-4D97-AF65-F5344CB8AC3E}">
        <p14:creationId xmlns:p14="http://schemas.microsoft.com/office/powerpoint/2010/main" val="95390904"/>
      </p:ext>
    </p:extLst>
  </p:cSld>
  <p:clrMapOvr>
    <a:masterClrMapping/>
  </p:clrMapOvr>
  <mc:AlternateContent xmlns:mc="http://schemas.openxmlformats.org/markup-compatibility/2006" xmlns:p14="http://schemas.microsoft.com/office/powerpoint/2010/main">
    <mc:Choice Requires="p14">
      <p:transition spd="slow" p14:dur="2000" advTm="30010"/>
    </mc:Choice>
    <mc:Fallback xmlns="">
      <p:transition spd="slow" advTm="30010"/>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2C39319-C3EB-463D-A73C-2DEA9D750625}"/>
              </a:ext>
            </a:extLst>
          </p:cNvPr>
          <p:cNvSpPr>
            <a:spLocks noGrp="1"/>
          </p:cNvSpPr>
          <p:nvPr>
            <p:ph type="title"/>
          </p:nvPr>
        </p:nvSpPr>
        <p:spPr/>
        <p:txBody>
          <a:bodyPr>
            <a:normAutofit/>
          </a:bodyPr>
          <a:lstStyle/>
          <a:p>
            <a:r>
              <a:rPr lang="en-US" altLang="zh-MO" sz="2800" dirty="0"/>
              <a:t> Introduction to Data Visualization Plots</a:t>
            </a:r>
            <a:endParaRPr lang="zh-MO" altLang="en-US" sz="2800" dirty="0"/>
          </a:p>
        </p:txBody>
      </p:sp>
      <p:sp>
        <p:nvSpPr>
          <p:cNvPr id="3" name="內容版面配置區 2">
            <a:extLst>
              <a:ext uri="{FF2B5EF4-FFF2-40B4-BE49-F238E27FC236}">
                <a16:creationId xmlns:a16="http://schemas.microsoft.com/office/drawing/2014/main" id="{72697A5A-2B81-4055-BE38-FBF0028B433F}"/>
              </a:ext>
            </a:extLst>
          </p:cNvPr>
          <p:cNvSpPr>
            <a:spLocks noGrp="1"/>
          </p:cNvSpPr>
          <p:nvPr>
            <p:ph idx="1"/>
          </p:nvPr>
        </p:nvSpPr>
        <p:spPr>
          <a:xfrm>
            <a:off x="838200" y="1788807"/>
            <a:ext cx="11042374" cy="4392364"/>
          </a:xfrm>
        </p:spPr>
        <p:txBody>
          <a:bodyPr anchor="ctr">
            <a:normAutofit/>
          </a:bodyPr>
          <a:lstStyle/>
          <a:p>
            <a:pPr marL="0" indent="0">
              <a:buNone/>
            </a:pPr>
            <a:r>
              <a:rPr lang="en-US" altLang="zh-MO" sz="2800" b="1" dirty="0">
                <a:solidFill>
                  <a:schemeClr val="accent4">
                    <a:lumMod val="75000"/>
                  </a:schemeClr>
                </a:solidFill>
              </a:rPr>
              <a:t>Part 4: Composition Plots</a:t>
            </a:r>
          </a:p>
          <a:p>
            <a:pPr marL="0" indent="0">
              <a:buNone/>
            </a:pPr>
            <a:r>
              <a:rPr lang="en-US" sz="2600" b="1" dirty="0">
                <a:solidFill>
                  <a:srgbClr val="FF0000"/>
                </a:solidFill>
              </a:rPr>
              <a:t>Venn Diagram – </a:t>
            </a:r>
            <a:r>
              <a:rPr lang="en-US" sz="2600" b="1" dirty="0">
                <a:solidFill>
                  <a:schemeClr val="accent1"/>
                </a:solidFill>
              </a:rPr>
              <a:t>Design Practice</a:t>
            </a:r>
          </a:p>
          <a:p>
            <a:pPr marL="0" indent="0">
              <a:buNone/>
            </a:pPr>
            <a:r>
              <a:rPr lang="en-US" altLang="zh-HK" sz="2800" dirty="0"/>
              <a:t>It is not recommended to use Venn diagrams if you have more than three groups. It would become difficult to understand.</a:t>
            </a:r>
          </a:p>
          <a:p>
            <a:pPr marL="0" indent="0">
              <a:buNone/>
            </a:pPr>
            <a:endParaRPr lang="en-US" altLang="zh-HK" sz="2800" dirty="0"/>
          </a:p>
        </p:txBody>
      </p:sp>
      <p:sp>
        <p:nvSpPr>
          <p:cNvPr id="4" name="頁尾版面配置區 3">
            <a:extLst>
              <a:ext uri="{FF2B5EF4-FFF2-40B4-BE49-F238E27FC236}">
                <a16:creationId xmlns:a16="http://schemas.microsoft.com/office/drawing/2014/main" id="{4321BB31-863C-434D-9921-ADDB9CBD49A3}"/>
              </a:ext>
            </a:extLst>
          </p:cNvPr>
          <p:cNvSpPr>
            <a:spLocks noGrp="1"/>
          </p:cNvSpPr>
          <p:nvPr>
            <p:ph type="ftr" sz="quarter" idx="11"/>
          </p:nvPr>
        </p:nvSpPr>
        <p:spPr/>
        <p:txBody>
          <a:bodyPr/>
          <a:lstStyle/>
          <a:p>
            <a:pPr algn="r"/>
            <a:fld id="{215E7548-F18C-4C4B-B96B-B6533EE29CBB}" type="slidenum">
              <a:rPr lang="en-US" altLang="zh-MO" smtClean="0"/>
              <a:pPr algn="r"/>
              <a:t>60</a:t>
            </a:fld>
            <a:endParaRPr lang="en-US" dirty="0"/>
          </a:p>
        </p:txBody>
      </p:sp>
      <p:sp>
        <p:nvSpPr>
          <p:cNvPr id="5" name="文字版面配置區 4">
            <a:extLst>
              <a:ext uri="{FF2B5EF4-FFF2-40B4-BE49-F238E27FC236}">
                <a16:creationId xmlns:a16="http://schemas.microsoft.com/office/drawing/2014/main" id="{96D96DA7-63BE-4A6D-918C-73A25183ECFD}"/>
              </a:ext>
            </a:extLst>
          </p:cNvPr>
          <p:cNvSpPr>
            <a:spLocks noGrp="1"/>
          </p:cNvSpPr>
          <p:nvPr>
            <p:ph type="body" sz="quarter" idx="13"/>
          </p:nvPr>
        </p:nvSpPr>
        <p:spPr>
          <a:xfrm>
            <a:off x="838200" y="676829"/>
            <a:ext cx="8667143" cy="639324"/>
          </a:xfrm>
        </p:spPr>
        <p:txBody>
          <a:bodyPr>
            <a:noAutofit/>
          </a:bodyPr>
          <a:lstStyle/>
          <a:p>
            <a:r>
              <a:rPr lang="en-US" altLang="zh-MO" sz="3200" dirty="0">
                <a:solidFill>
                  <a:srgbClr val="C00000"/>
                </a:solidFill>
              </a:rPr>
              <a:t>CISC7204 Data Science and Data Visualization</a:t>
            </a:r>
            <a:endParaRPr lang="zh-MO" altLang="en-US" sz="3200" dirty="0"/>
          </a:p>
        </p:txBody>
      </p:sp>
    </p:spTree>
    <p:extLst>
      <p:ext uri="{BB962C8B-B14F-4D97-AF65-F5344CB8AC3E}">
        <p14:creationId xmlns:p14="http://schemas.microsoft.com/office/powerpoint/2010/main" val="1652592490"/>
      </p:ext>
    </p:extLst>
  </p:cSld>
  <p:clrMapOvr>
    <a:masterClrMapping/>
  </p:clrMapOvr>
  <mc:AlternateContent xmlns:mc="http://schemas.openxmlformats.org/markup-compatibility/2006" xmlns:p14="http://schemas.microsoft.com/office/powerpoint/2010/main">
    <mc:Choice Requires="p14">
      <p:transition spd="slow" p14:dur="2000" advTm="30010"/>
    </mc:Choice>
    <mc:Fallback xmlns="">
      <p:transition spd="slow" advTm="30010"/>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2C39319-C3EB-463D-A73C-2DEA9D750625}"/>
              </a:ext>
            </a:extLst>
          </p:cNvPr>
          <p:cNvSpPr>
            <a:spLocks noGrp="1"/>
          </p:cNvSpPr>
          <p:nvPr>
            <p:ph type="title"/>
          </p:nvPr>
        </p:nvSpPr>
        <p:spPr/>
        <p:txBody>
          <a:bodyPr>
            <a:normAutofit/>
          </a:bodyPr>
          <a:lstStyle/>
          <a:p>
            <a:r>
              <a:rPr lang="en-US" altLang="zh-MO" sz="2800" dirty="0"/>
              <a:t> Introduction to Data Visualization Plots</a:t>
            </a:r>
            <a:endParaRPr lang="zh-MO" altLang="en-US" sz="2800" dirty="0"/>
          </a:p>
        </p:txBody>
      </p:sp>
      <p:sp>
        <p:nvSpPr>
          <p:cNvPr id="3" name="內容版面配置區 2">
            <a:extLst>
              <a:ext uri="{FF2B5EF4-FFF2-40B4-BE49-F238E27FC236}">
                <a16:creationId xmlns:a16="http://schemas.microsoft.com/office/drawing/2014/main" id="{72697A5A-2B81-4055-BE38-FBF0028B433F}"/>
              </a:ext>
            </a:extLst>
          </p:cNvPr>
          <p:cNvSpPr>
            <a:spLocks noGrp="1"/>
          </p:cNvSpPr>
          <p:nvPr>
            <p:ph idx="1"/>
          </p:nvPr>
        </p:nvSpPr>
        <p:spPr>
          <a:xfrm>
            <a:off x="958466" y="1825625"/>
            <a:ext cx="10513098" cy="4355546"/>
          </a:xfrm>
        </p:spPr>
        <p:txBody>
          <a:bodyPr anchor="ctr">
            <a:normAutofit/>
          </a:bodyPr>
          <a:lstStyle/>
          <a:p>
            <a:pPr marL="0" indent="0">
              <a:buNone/>
            </a:pPr>
            <a:r>
              <a:rPr lang="en-US" altLang="zh-MO" sz="2800" b="1" dirty="0">
                <a:solidFill>
                  <a:schemeClr val="accent4">
                    <a:lumMod val="75000"/>
                  </a:schemeClr>
                </a:solidFill>
              </a:rPr>
              <a:t>Part 5: Distribution Plots</a:t>
            </a:r>
          </a:p>
          <a:p>
            <a:pPr marL="0" indent="0">
              <a:buNone/>
            </a:pPr>
            <a:r>
              <a:rPr lang="en-US" altLang="zh-HK" sz="2800" b="1" dirty="0">
                <a:solidFill>
                  <a:srgbClr val="FF0000"/>
                </a:solidFill>
              </a:rPr>
              <a:t>Distribution plots</a:t>
            </a:r>
            <a:r>
              <a:rPr lang="en-US" altLang="zh-HK" sz="2800" dirty="0"/>
              <a:t> give a deep insight into how your data is distributed. </a:t>
            </a:r>
          </a:p>
          <a:p>
            <a:r>
              <a:rPr lang="en-US" altLang="zh-HK" sz="2800" dirty="0"/>
              <a:t>For a single variable, a histogram is effective. </a:t>
            </a:r>
          </a:p>
          <a:p>
            <a:r>
              <a:rPr lang="en-US" altLang="zh-HK" sz="2800" dirty="0"/>
              <a:t>For multiple variables, you can either use a box plot or a violin plot. The violin plot visualizes the densities of your variables, whereas the box plot just visualizes the median, the interquartile range, and the range for each variable.</a:t>
            </a:r>
            <a:endParaRPr lang="en-US" sz="2600" b="1" dirty="0"/>
          </a:p>
        </p:txBody>
      </p:sp>
      <p:sp>
        <p:nvSpPr>
          <p:cNvPr id="4" name="頁尾版面配置區 3">
            <a:extLst>
              <a:ext uri="{FF2B5EF4-FFF2-40B4-BE49-F238E27FC236}">
                <a16:creationId xmlns:a16="http://schemas.microsoft.com/office/drawing/2014/main" id="{4321BB31-863C-434D-9921-ADDB9CBD49A3}"/>
              </a:ext>
            </a:extLst>
          </p:cNvPr>
          <p:cNvSpPr>
            <a:spLocks noGrp="1"/>
          </p:cNvSpPr>
          <p:nvPr>
            <p:ph type="ftr" sz="quarter" idx="11"/>
          </p:nvPr>
        </p:nvSpPr>
        <p:spPr/>
        <p:txBody>
          <a:bodyPr/>
          <a:lstStyle/>
          <a:p>
            <a:pPr algn="r"/>
            <a:fld id="{215E7548-F18C-4C4B-B96B-B6533EE29CBB}" type="slidenum">
              <a:rPr lang="en-US" altLang="zh-MO" smtClean="0"/>
              <a:pPr algn="r"/>
              <a:t>61</a:t>
            </a:fld>
            <a:endParaRPr lang="en-US" dirty="0"/>
          </a:p>
        </p:txBody>
      </p:sp>
      <p:sp>
        <p:nvSpPr>
          <p:cNvPr id="5" name="文字版面配置區 4">
            <a:extLst>
              <a:ext uri="{FF2B5EF4-FFF2-40B4-BE49-F238E27FC236}">
                <a16:creationId xmlns:a16="http://schemas.microsoft.com/office/drawing/2014/main" id="{96D96DA7-63BE-4A6D-918C-73A25183ECFD}"/>
              </a:ext>
            </a:extLst>
          </p:cNvPr>
          <p:cNvSpPr>
            <a:spLocks noGrp="1"/>
          </p:cNvSpPr>
          <p:nvPr>
            <p:ph type="body" sz="quarter" idx="13"/>
          </p:nvPr>
        </p:nvSpPr>
        <p:spPr>
          <a:xfrm>
            <a:off x="838200" y="676829"/>
            <a:ext cx="8667143" cy="639324"/>
          </a:xfrm>
        </p:spPr>
        <p:txBody>
          <a:bodyPr>
            <a:noAutofit/>
          </a:bodyPr>
          <a:lstStyle/>
          <a:p>
            <a:r>
              <a:rPr lang="en-US" altLang="zh-MO" sz="3200" dirty="0">
                <a:solidFill>
                  <a:srgbClr val="C00000"/>
                </a:solidFill>
              </a:rPr>
              <a:t>CISC7204 Data Science and Data Visualization</a:t>
            </a:r>
            <a:endParaRPr lang="zh-MO" altLang="en-US" sz="3200" dirty="0"/>
          </a:p>
        </p:txBody>
      </p:sp>
    </p:spTree>
    <p:extLst>
      <p:ext uri="{BB962C8B-B14F-4D97-AF65-F5344CB8AC3E}">
        <p14:creationId xmlns:p14="http://schemas.microsoft.com/office/powerpoint/2010/main" val="1970588082"/>
      </p:ext>
    </p:extLst>
  </p:cSld>
  <p:clrMapOvr>
    <a:masterClrMapping/>
  </p:clrMapOvr>
  <mc:AlternateContent xmlns:mc="http://schemas.openxmlformats.org/markup-compatibility/2006" xmlns:p14="http://schemas.microsoft.com/office/powerpoint/2010/main">
    <mc:Choice Requires="p14">
      <p:transition spd="slow" p14:dur="2000" advTm="30010"/>
    </mc:Choice>
    <mc:Fallback xmlns="">
      <p:transition spd="slow" advTm="30010"/>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2C39319-C3EB-463D-A73C-2DEA9D750625}"/>
              </a:ext>
            </a:extLst>
          </p:cNvPr>
          <p:cNvSpPr>
            <a:spLocks noGrp="1"/>
          </p:cNvSpPr>
          <p:nvPr>
            <p:ph type="title"/>
          </p:nvPr>
        </p:nvSpPr>
        <p:spPr/>
        <p:txBody>
          <a:bodyPr>
            <a:normAutofit/>
          </a:bodyPr>
          <a:lstStyle/>
          <a:p>
            <a:r>
              <a:rPr lang="en-US" altLang="zh-MO" sz="2800" dirty="0"/>
              <a:t> Introduction to Data Visualization Plots</a:t>
            </a:r>
            <a:endParaRPr lang="zh-MO" altLang="en-US" sz="2800" dirty="0"/>
          </a:p>
        </p:txBody>
      </p:sp>
      <p:sp>
        <p:nvSpPr>
          <p:cNvPr id="3" name="內容版面配置區 2">
            <a:extLst>
              <a:ext uri="{FF2B5EF4-FFF2-40B4-BE49-F238E27FC236}">
                <a16:creationId xmlns:a16="http://schemas.microsoft.com/office/drawing/2014/main" id="{72697A5A-2B81-4055-BE38-FBF0028B433F}"/>
              </a:ext>
            </a:extLst>
          </p:cNvPr>
          <p:cNvSpPr>
            <a:spLocks noGrp="1"/>
          </p:cNvSpPr>
          <p:nvPr>
            <p:ph idx="1"/>
          </p:nvPr>
        </p:nvSpPr>
        <p:spPr>
          <a:xfrm>
            <a:off x="958466" y="1825625"/>
            <a:ext cx="10513098" cy="4355546"/>
          </a:xfrm>
        </p:spPr>
        <p:txBody>
          <a:bodyPr anchor="ctr">
            <a:normAutofit fontScale="85000" lnSpcReduction="20000"/>
          </a:bodyPr>
          <a:lstStyle/>
          <a:p>
            <a:pPr marL="0" indent="0">
              <a:buNone/>
            </a:pPr>
            <a:r>
              <a:rPr lang="en-US" altLang="zh-MO" sz="2800" b="1" dirty="0">
                <a:solidFill>
                  <a:schemeClr val="accent4">
                    <a:lumMod val="75000"/>
                  </a:schemeClr>
                </a:solidFill>
              </a:rPr>
              <a:t>Part 5: Distribution Plots</a:t>
            </a:r>
          </a:p>
          <a:p>
            <a:pPr marL="0" indent="0">
              <a:buNone/>
            </a:pPr>
            <a:r>
              <a:rPr lang="en-US" altLang="zh-HK" sz="2800" b="1" dirty="0">
                <a:solidFill>
                  <a:srgbClr val="FF0000"/>
                </a:solidFill>
              </a:rPr>
              <a:t>Histogram</a:t>
            </a:r>
          </a:p>
          <a:p>
            <a:r>
              <a:rPr lang="en-US" altLang="zh-HK" sz="2800" dirty="0"/>
              <a:t>A histogram visualizes the distribution of a single numerical variable. Each bar represents the frequency for a certain interval. </a:t>
            </a:r>
          </a:p>
          <a:p>
            <a:r>
              <a:rPr lang="en-US" altLang="zh-HK" sz="2800" dirty="0"/>
              <a:t>Histograms help get an estimate of statistical measures. You see where values are concentrated, and you can easily detect outliers. </a:t>
            </a:r>
          </a:p>
          <a:p>
            <a:r>
              <a:rPr lang="en-US" altLang="zh-HK" sz="2800" dirty="0"/>
              <a:t>You can either plot a histogram with absolute frequency values or, alternatively, normalize your histogram. If you want to compare distributions of multiple variables, you can use different colors for the bars. </a:t>
            </a:r>
          </a:p>
          <a:p>
            <a:pPr marL="0" indent="0">
              <a:buNone/>
            </a:pPr>
            <a:r>
              <a:rPr lang="en-US" altLang="zh-HK" sz="2800" b="1" dirty="0">
                <a:solidFill>
                  <a:schemeClr val="accent1"/>
                </a:solidFill>
              </a:rPr>
              <a:t>Use</a:t>
            </a:r>
          </a:p>
          <a:p>
            <a:r>
              <a:rPr lang="en-US" altLang="zh-HK" sz="2800" dirty="0"/>
              <a:t>Get insights into the underlying distribution for a dataset.</a:t>
            </a:r>
            <a:endParaRPr lang="en-US" sz="2600" b="1" dirty="0"/>
          </a:p>
        </p:txBody>
      </p:sp>
      <p:sp>
        <p:nvSpPr>
          <p:cNvPr id="4" name="頁尾版面配置區 3">
            <a:extLst>
              <a:ext uri="{FF2B5EF4-FFF2-40B4-BE49-F238E27FC236}">
                <a16:creationId xmlns:a16="http://schemas.microsoft.com/office/drawing/2014/main" id="{4321BB31-863C-434D-9921-ADDB9CBD49A3}"/>
              </a:ext>
            </a:extLst>
          </p:cNvPr>
          <p:cNvSpPr>
            <a:spLocks noGrp="1"/>
          </p:cNvSpPr>
          <p:nvPr>
            <p:ph type="ftr" sz="quarter" idx="11"/>
          </p:nvPr>
        </p:nvSpPr>
        <p:spPr/>
        <p:txBody>
          <a:bodyPr/>
          <a:lstStyle/>
          <a:p>
            <a:pPr algn="r"/>
            <a:fld id="{215E7548-F18C-4C4B-B96B-B6533EE29CBB}" type="slidenum">
              <a:rPr lang="en-US" altLang="zh-MO" smtClean="0"/>
              <a:pPr algn="r"/>
              <a:t>62</a:t>
            </a:fld>
            <a:endParaRPr lang="en-US" dirty="0"/>
          </a:p>
        </p:txBody>
      </p:sp>
      <p:sp>
        <p:nvSpPr>
          <p:cNvPr id="5" name="文字版面配置區 4">
            <a:extLst>
              <a:ext uri="{FF2B5EF4-FFF2-40B4-BE49-F238E27FC236}">
                <a16:creationId xmlns:a16="http://schemas.microsoft.com/office/drawing/2014/main" id="{96D96DA7-63BE-4A6D-918C-73A25183ECFD}"/>
              </a:ext>
            </a:extLst>
          </p:cNvPr>
          <p:cNvSpPr>
            <a:spLocks noGrp="1"/>
          </p:cNvSpPr>
          <p:nvPr>
            <p:ph type="body" sz="quarter" idx="13"/>
          </p:nvPr>
        </p:nvSpPr>
        <p:spPr>
          <a:xfrm>
            <a:off x="838200" y="676829"/>
            <a:ext cx="8667143" cy="639324"/>
          </a:xfrm>
        </p:spPr>
        <p:txBody>
          <a:bodyPr>
            <a:noAutofit/>
          </a:bodyPr>
          <a:lstStyle/>
          <a:p>
            <a:r>
              <a:rPr lang="en-US" altLang="zh-MO" sz="3200" dirty="0">
                <a:solidFill>
                  <a:srgbClr val="C00000"/>
                </a:solidFill>
              </a:rPr>
              <a:t>CISC7204 Data Science and Data Visualization</a:t>
            </a:r>
            <a:endParaRPr lang="zh-MO" altLang="en-US" sz="3200" dirty="0"/>
          </a:p>
        </p:txBody>
      </p:sp>
    </p:spTree>
    <p:extLst>
      <p:ext uri="{BB962C8B-B14F-4D97-AF65-F5344CB8AC3E}">
        <p14:creationId xmlns:p14="http://schemas.microsoft.com/office/powerpoint/2010/main" val="3681677036"/>
      </p:ext>
    </p:extLst>
  </p:cSld>
  <p:clrMapOvr>
    <a:masterClrMapping/>
  </p:clrMapOvr>
  <mc:AlternateContent xmlns:mc="http://schemas.openxmlformats.org/markup-compatibility/2006" xmlns:p14="http://schemas.microsoft.com/office/powerpoint/2010/main">
    <mc:Choice Requires="p14">
      <p:transition spd="slow" p14:dur="2000" advTm="30010"/>
    </mc:Choice>
    <mc:Fallback xmlns="">
      <p:transition spd="slow" advTm="30010"/>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2C39319-C3EB-463D-A73C-2DEA9D750625}"/>
              </a:ext>
            </a:extLst>
          </p:cNvPr>
          <p:cNvSpPr>
            <a:spLocks noGrp="1"/>
          </p:cNvSpPr>
          <p:nvPr>
            <p:ph type="title"/>
          </p:nvPr>
        </p:nvSpPr>
        <p:spPr/>
        <p:txBody>
          <a:bodyPr>
            <a:normAutofit/>
          </a:bodyPr>
          <a:lstStyle/>
          <a:p>
            <a:r>
              <a:rPr lang="en-US" altLang="zh-MO" sz="2800" dirty="0"/>
              <a:t> Introduction to Data Visualization Plots</a:t>
            </a:r>
            <a:endParaRPr lang="zh-MO" altLang="en-US" sz="2800" dirty="0"/>
          </a:p>
        </p:txBody>
      </p:sp>
      <p:sp>
        <p:nvSpPr>
          <p:cNvPr id="3" name="內容版面配置區 2">
            <a:extLst>
              <a:ext uri="{FF2B5EF4-FFF2-40B4-BE49-F238E27FC236}">
                <a16:creationId xmlns:a16="http://schemas.microsoft.com/office/drawing/2014/main" id="{72697A5A-2B81-4055-BE38-FBF0028B433F}"/>
              </a:ext>
            </a:extLst>
          </p:cNvPr>
          <p:cNvSpPr>
            <a:spLocks noGrp="1"/>
          </p:cNvSpPr>
          <p:nvPr>
            <p:ph idx="1"/>
          </p:nvPr>
        </p:nvSpPr>
        <p:spPr>
          <a:xfrm>
            <a:off x="958466" y="1825625"/>
            <a:ext cx="1541847" cy="4355546"/>
          </a:xfrm>
        </p:spPr>
        <p:txBody>
          <a:bodyPr anchor="ctr">
            <a:normAutofit fontScale="62500" lnSpcReduction="20000"/>
          </a:bodyPr>
          <a:lstStyle/>
          <a:p>
            <a:pPr marL="0" indent="0">
              <a:buNone/>
            </a:pPr>
            <a:r>
              <a:rPr lang="en-US" altLang="zh-MO" sz="2800" b="1" dirty="0">
                <a:solidFill>
                  <a:schemeClr val="accent4">
                    <a:lumMod val="75000"/>
                  </a:schemeClr>
                </a:solidFill>
              </a:rPr>
              <a:t>Part 5: Distribution Plots</a:t>
            </a:r>
          </a:p>
          <a:p>
            <a:pPr marL="0" indent="0">
              <a:buNone/>
            </a:pPr>
            <a:r>
              <a:rPr lang="en-US" altLang="zh-HK" sz="2000" b="1" dirty="0">
                <a:solidFill>
                  <a:srgbClr val="FF0000"/>
                </a:solidFill>
              </a:rPr>
              <a:t>Histogram</a:t>
            </a:r>
          </a:p>
          <a:p>
            <a:pPr marL="0" indent="0">
              <a:buNone/>
            </a:pPr>
            <a:r>
              <a:rPr lang="en-US" altLang="zh-HK" sz="2000" dirty="0"/>
              <a:t>Example</a:t>
            </a:r>
          </a:p>
          <a:p>
            <a:pPr marL="0" indent="0">
              <a:buNone/>
            </a:pPr>
            <a:r>
              <a:rPr lang="en-US" altLang="zh-HK" sz="2600" dirty="0"/>
              <a:t>The diagram shows the distribution of the Intelligence Quotient (IQ) for a test group. </a:t>
            </a:r>
          </a:p>
          <a:p>
            <a:pPr marL="0" indent="0">
              <a:buNone/>
            </a:pPr>
            <a:r>
              <a:rPr lang="en-US" altLang="zh-HK" sz="2600" dirty="0"/>
              <a:t>The dashed lines represent the standard deviation each side of the mean (the solid line):</a:t>
            </a:r>
            <a:endParaRPr lang="en-US" sz="2600" b="1" dirty="0"/>
          </a:p>
        </p:txBody>
      </p:sp>
      <p:sp>
        <p:nvSpPr>
          <p:cNvPr id="4" name="頁尾版面配置區 3">
            <a:extLst>
              <a:ext uri="{FF2B5EF4-FFF2-40B4-BE49-F238E27FC236}">
                <a16:creationId xmlns:a16="http://schemas.microsoft.com/office/drawing/2014/main" id="{4321BB31-863C-434D-9921-ADDB9CBD49A3}"/>
              </a:ext>
            </a:extLst>
          </p:cNvPr>
          <p:cNvSpPr>
            <a:spLocks noGrp="1"/>
          </p:cNvSpPr>
          <p:nvPr>
            <p:ph type="ftr" sz="quarter" idx="11"/>
          </p:nvPr>
        </p:nvSpPr>
        <p:spPr/>
        <p:txBody>
          <a:bodyPr/>
          <a:lstStyle/>
          <a:p>
            <a:pPr algn="r"/>
            <a:fld id="{215E7548-F18C-4C4B-B96B-B6533EE29CBB}" type="slidenum">
              <a:rPr lang="en-US" altLang="zh-MO" smtClean="0"/>
              <a:pPr algn="r"/>
              <a:t>63</a:t>
            </a:fld>
            <a:endParaRPr lang="en-US" dirty="0"/>
          </a:p>
        </p:txBody>
      </p:sp>
      <p:sp>
        <p:nvSpPr>
          <p:cNvPr id="5" name="文字版面配置區 4">
            <a:extLst>
              <a:ext uri="{FF2B5EF4-FFF2-40B4-BE49-F238E27FC236}">
                <a16:creationId xmlns:a16="http://schemas.microsoft.com/office/drawing/2014/main" id="{96D96DA7-63BE-4A6D-918C-73A25183ECFD}"/>
              </a:ext>
            </a:extLst>
          </p:cNvPr>
          <p:cNvSpPr>
            <a:spLocks noGrp="1"/>
          </p:cNvSpPr>
          <p:nvPr>
            <p:ph type="body" sz="quarter" idx="13"/>
          </p:nvPr>
        </p:nvSpPr>
        <p:spPr>
          <a:xfrm>
            <a:off x="838200" y="676829"/>
            <a:ext cx="8667143" cy="639324"/>
          </a:xfrm>
        </p:spPr>
        <p:txBody>
          <a:bodyPr>
            <a:noAutofit/>
          </a:bodyPr>
          <a:lstStyle/>
          <a:p>
            <a:r>
              <a:rPr lang="en-US" altLang="zh-MO" sz="3200" dirty="0">
                <a:solidFill>
                  <a:srgbClr val="C00000"/>
                </a:solidFill>
              </a:rPr>
              <a:t>CISC7204 Data Science and Data Visualization</a:t>
            </a:r>
            <a:endParaRPr lang="zh-MO" altLang="en-US" sz="3200" dirty="0"/>
          </a:p>
        </p:txBody>
      </p:sp>
      <p:pic>
        <p:nvPicPr>
          <p:cNvPr id="6" name="圖片 5"/>
          <p:cNvPicPr>
            <a:picLocks noChangeAspect="1"/>
          </p:cNvPicPr>
          <p:nvPr/>
        </p:nvPicPr>
        <p:blipFill>
          <a:blip r:embed="rId2"/>
          <a:stretch>
            <a:fillRect/>
          </a:stretch>
        </p:blipFill>
        <p:spPr>
          <a:xfrm>
            <a:off x="3390899" y="1785937"/>
            <a:ext cx="5638801" cy="4395234"/>
          </a:xfrm>
          <a:prstGeom prst="rect">
            <a:avLst/>
          </a:prstGeom>
        </p:spPr>
      </p:pic>
      <p:sp>
        <p:nvSpPr>
          <p:cNvPr id="7" name="矩形 6"/>
          <p:cNvSpPr/>
          <p:nvPr/>
        </p:nvSpPr>
        <p:spPr>
          <a:xfrm>
            <a:off x="9287015" y="3618729"/>
            <a:ext cx="2228711" cy="923330"/>
          </a:xfrm>
          <a:prstGeom prst="rect">
            <a:avLst/>
          </a:prstGeom>
        </p:spPr>
        <p:txBody>
          <a:bodyPr wrap="square">
            <a:spAutoFit/>
          </a:bodyPr>
          <a:lstStyle/>
          <a:p>
            <a:r>
              <a:rPr lang="en-US" altLang="zh-HK" dirty="0"/>
              <a:t>Distribution of IQ for a test group of a hundred adults</a:t>
            </a:r>
            <a:endParaRPr lang="zh-HK" altLang="en-US" dirty="0"/>
          </a:p>
        </p:txBody>
      </p:sp>
    </p:spTree>
    <p:extLst>
      <p:ext uri="{BB962C8B-B14F-4D97-AF65-F5344CB8AC3E}">
        <p14:creationId xmlns:p14="http://schemas.microsoft.com/office/powerpoint/2010/main" val="3077897401"/>
      </p:ext>
    </p:extLst>
  </p:cSld>
  <p:clrMapOvr>
    <a:masterClrMapping/>
  </p:clrMapOvr>
  <mc:AlternateContent xmlns:mc="http://schemas.openxmlformats.org/markup-compatibility/2006" xmlns:p14="http://schemas.microsoft.com/office/powerpoint/2010/main">
    <mc:Choice Requires="p14">
      <p:transition spd="slow" p14:dur="2000" advTm="30010"/>
    </mc:Choice>
    <mc:Fallback xmlns="">
      <p:transition spd="slow" advTm="30010"/>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2C39319-C3EB-463D-A73C-2DEA9D750625}"/>
              </a:ext>
            </a:extLst>
          </p:cNvPr>
          <p:cNvSpPr>
            <a:spLocks noGrp="1"/>
          </p:cNvSpPr>
          <p:nvPr>
            <p:ph type="title"/>
          </p:nvPr>
        </p:nvSpPr>
        <p:spPr/>
        <p:txBody>
          <a:bodyPr>
            <a:normAutofit/>
          </a:bodyPr>
          <a:lstStyle/>
          <a:p>
            <a:r>
              <a:rPr lang="en-US" altLang="zh-MO" sz="2800" dirty="0"/>
              <a:t> Introduction to Data Visualization Plots</a:t>
            </a:r>
            <a:endParaRPr lang="zh-MO" altLang="en-US" sz="2800" dirty="0"/>
          </a:p>
        </p:txBody>
      </p:sp>
      <p:sp>
        <p:nvSpPr>
          <p:cNvPr id="3" name="內容版面配置區 2">
            <a:extLst>
              <a:ext uri="{FF2B5EF4-FFF2-40B4-BE49-F238E27FC236}">
                <a16:creationId xmlns:a16="http://schemas.microsoft.com/office/drawing/2014/main" id="{72697A5A-2B81-4055-BE38-FBF0028B433F}"/>
              </a:ext>
            </a:extLst>
          </p:cNvPr>
          <p:cNvSpPr>
            <a:spLocks noGrp="1"/>
          </p:cNvSpPr>
          <p:nvPr>
            <p:ph idx="1"/>
          </p:nvPr>
        </p:nvSpPr>
        <p:spPr>
          <a:xfrm>
            <a:off x="958466" y="1825625"/>
            <a:ext cx="10513098" cy="4355546"/>
          </a:xfrm>
        </p:spPr>
        <p:txBody>
          <a:bodyPr anchor="ctr">
            <a:normAutofit/>
          </a:bodyPr>
          <a:lstStyle/>
          <a:p>
            <a:pPr marL="0" indent="0">
              <a:buNone/>
            </a:pPr>
            <a:r>
              <a:rPr lang="en-US" altLang="zh-MO" sz="2800" b="1" dirty="0">
                <a:solidFill>
                  <a:schemeClr val="accent4">
                    <a:lumMod val="75000"/>
                  </a:schemeClr>
                </a:solidFill>
              </a:rPr>
              <a:t>Part 5: Distribution Plots</a:t>
            </a:r>
          </a:p>
          <a:p>
            <a:pPr marL="0" indent="0">
              <a:buNone/>
            </a:pPr>
            <a:r>
              <a:rPr lang="en-US" altLang="zh-HK" sz="2800" b="1" dirty="0">
                <a:solidFill>
                  <a:srgbClr val="FF0000"/>
                </a:solidFill>
              </a:rPr>
              <a:t>Histogram – </a:t>
            </a:r>
            <a:r>
              <a:rPr lang="en-US" altLang="zh-HK" sz="2800" b="1" dirty="0">
                <a:solidFill>
                  <a:schemeClr val="accent1"/>
                </a:solidFill>
              </a:rPr>
              <a:t>Design Practice</a:t>
            </a:r>
          </a:p>
          <a:p>
            <a:r>
              <a:rPr lang="en-US" altLang="zh-HK" sz="2800" dirty="0"/>
              <a:t>Try different numbers of bins (data intervals), since the shape of the histogram can vary significantly..</a:t>
            </a:r>
            <a:endParaRPr lang="en-US" sz="2600" b="1" dirty="0"/>
          </a:p>
        </p:txBody>
      </p:sp>
      <p:sp>
        <p:nvSpPr>
          <p:cNvPr id="4" name="頁尾版面配置區 3">
            <a:extLst>
              <a:ext uri="{FF2B5EF4-FFF2-40B4-BE49-F238E27FC236}">
                <a16:creationId xmlns:a16="http://schemas.microsoft.com/office/drawing/2014/main" id="{4321BB31-863C-434D-9921-ADDB9CBD49A3}"/>
              </a:ext>
            </a:extLst>
          </p:cNvPr>
          <p:cNvSpPr>
            <a:spLocks noGrp="1"/>
          </p:cNvSpPr>
          <p:nvPr>
            <p:ph type="ftr" sz="quarter" idx="11"/>
          </p:nvPr>
        </p:nvSpPr>
        <p:spPr/>
        <p:txBody>
          <a:bodyPr/>
          <a:lstStyle/>
          <a:p>
            <a:pPr algn="r"/>
            <a:fld id="{215E7548-F18C-4C4B-B96B-B6533EE29CBB}" type="slidenum">
              <a:rPr lang="en-US" altLang="zh-MO" smtClean="0"/>
              <a:pPr algn="r"/>
              <a:t>64</a:t>
            </a:fld>
            <a:endParaRPr lang="en-US" dirty="0"/>
          </a:p>
        </p:txBody>
      </p:sp>
      <p:sp>
        <p:nvSpPr>
          <p:cNvPr id="5" name="文字版面配置區 4">
            <a:extLst>
              <a:ext uri="{FF2B5EF4-FFF2-40B4-BE49-F238E27FC236}">
                <a16:creationId xmlns:a16="http://schemas.microsoft.com/office/drawing/2014/main" id="{96D96DA7-63BE-4A6D-918C-73A25183ECFD}"/>
              </a:ext>
            </a:extLst>
          </p:cNvPr>
          <p:cNvSpPr>
            <a:spLocks noGrp="1"/>
          </p:cNvSpPr>
          <p:nvPr>
            <p:ph type="body" sz="quarter" idx="13"/>
          </p:nvPr>
        </p:nvSpPr>
        <p:spPr>
          <a:xfrm>
            <a:off x="838200" y="676829"/>
            <a:ext cx="8667143" cy="639324"/>
          </a:xfrm>
        </p:spPr>
        <p:txBody>
          <a:bodyPr>
            <a:noAutofit/>
          </a:bodyPr>
          <a:lstStyle/>
          <a:p>
            <a:r>
              <a:rPr lang="en-US" altLang="zh-MO" sz="3200" dirty="0">
                <a:solidFill>
                  <a:srgbClr val="C00000"/>
                </a:solidFill>
              </a:rPr>
              <a:t>CISC7204 Data Science and Data Visualization</a:t>
            </a:r>
            <a:endParaRPr lang="zh-MO" altLang="en-US" sz="3200" dirty="0"/>
          </a:p>
        </p:txBody>
      </p:sp>
    </p:spTree>
    <p:extLst>
      <p:ext uri="{BB962C8B-B14F-4D97-AF65-F5344CB8AC3E}">
        <p14:creationId xmlns:p14="http://schemas.microsoft.com/office/powerpoint/2010/main" val="405525372"/>
      </p:ext>
    </p:extLst>
  </p:cSld>
  <p:clrMapOvr>
    <a:masterClrMapping/>
  </p:clrMapOvr>
  <mc:AlternateContent xmlns:mc="http://schemas.openxmlformats.org/markup-compatibility/2006" xmlns:p14="http://schemas.microsoft.com/office/powerpoint/2010/main">
    <mc:Choice Requires="p14">
      <p:transition spd="slow" p14:dur="2000" advTm="30010"/>
    </mc:Choice>
    <mc:Fallback xmlns="">
      <p:transition spd="slow" advTm="30010"/>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2C39319-C3EB-463D-A73C-2DEA9D750625}"/>
              </a:ext>
            </a:extLst>
          </p:cNvPr>
          <p:cNvSpPr>
            <a:spLocks noGrp="1"/>
          </p:cNvSpPr>
          <p:nvPr>
            <p:ph type="title"/>
          </p:nvPr>
        </p:nvSpPr>
        <p:spPr/>
        <p:txBody>
          <a:bodyPr>
            <a:normAutofit/>
          </a:bodyPr>
          <a:lstStyle/>
          <a:p>
            <a:r>
              <a:rPr lang="en-US" altLang="zh-MO" sz="2800" dirty="0"/>
              <a:t> Introduction to Data Visualization Plots</a:t>
            </a:r>
            <a:endParaRPr lang="zh-MO" altLang="en-US" sz="2800" dirty="0"/>
          </a:p>
        </p:txBody>
      </p:sp>
      <p:sp>
        <p:nvSpPr>
          <p:cNvPr id="3" name="內容版面配置區 2">
            <a:extLst>
              <a:ext uri="{FF2B5EF4-FFF2-40B4-BE49-F238E27FC236}">
                <a16:creationId xmlns:a16="http://schemas.microsoft.com/office/drawing/2014/main" id="{72697A5A-2B81-4055-BE38-FBF0028B433F}"/>
              </a:ext>
            </a:extLst>
          </p:cNvPr>
          <p:cNvSpPr>
            <a:spLocks noGrp="1"/>
          </p:cNvSpPr>
          <p:nvPr>
            <p:ph idx="1"/>
          </p:nvPr>
        </p:nvSpPr>
        <p:spPr>
          <a:xfrm>
            <a:off x="958466" y="1825625"/>
            <a:ext cx="10513098" cy="4355546"/>
          </a:xfrm>
        </p:spPr>
        <p:txBody>
          <a:bodyPr anchor="ctr">
            <a:normAutofit fontScale="92500" lnSpcReduction="10000"/>
          </a:bodyPr>
          <a:lstStyle/>
          <a:p>
            <a:pPr marL="0" indent="0">
              <a:buNone/>
            </a:pPr>
            <a:r>
              <a:rPr lang="en-US" altLang="zh-MO" sz="2800" b="1" dirty="0">
                <a:solidFill>
                  <a:schemeClr val="accent4">
                    <a:lumMod val="75000"/>
                  </a:schemeClr>
                </a:solidFill>
              </a:rPr>
              <a:t>Part 5: Distribution Plots</a:t>
            </a:r>
          </a:p>
          <a:p>
            <a:pPr marL="0" indent="0">
              <a:buNone/>
            </a:pPr>
            <a:r>
              <a:rPr lang="en-US" altLang="zh-HK" sz="2800" b="1" dirty="0">
                <a:solidFill>
                  <a:srgbClr val="FF0000"/>
                </a:solidFill>
              </a:rPr>
              <a:t>Density Plot</a:t>
            </a:r>
            <a:endParaRPr lang="en-US" altLang="zh-HK" sz="2800" b="1" dirty="0">
              <a:solidFill>
                <a:schemeClr val="accent1"/>
              </a:solidFill>
            </a:endParaRPr>
          </a:p>
          <a:p>
            <a:r>
              <a:rPr lang="en-US" altLang="zh-HK" sz="2800" dirty="0"/>
              <a:t>A density plot shows the distribution of a numerical variable. It is a variation of a histogram that uses kernel smoothing, allowing for smoother distributions. One advantage these have over histograms is that density plots are better at determining the distribution shape since the distribution shape for histograms heavily depends on the number of bins (data intervals).</a:t>
            </a:r>
          </a:p>
          <a:p>
            <a:pPr marL="0" indent="0">
              <a:buNone/>
            </a:pPr>
            <a:r>
              <a:rPr lang="en-US" sz="2800" b="1" dirty="0">
                <a:solidFill>
                  <a:schemeClr val="accent1"/>
                </a:solidFill>
              </a:rPr>
              <a:t>Use</a:t>
            </a:r>
          </a:p>
          <a:p>
            <a:r>
              <a:rPr lang="en-US" sz="2600" dirty="0"/>
              <a:t>To compare the distribution of several variables by plotting the density on the same axis and using different colors.</a:t>
            </a:r>
          </a:p>
        </p:txBody>
      </p:sp>
      <p:sp>
        <p:nvSpPr>
          <p:cNvPr id="4" name="頁尾版面配置區 3">
            <a:extLst>
              <a:ext uri="{FF2B5EF4-FFF2-40B4-BE49-F238E27FC236}">
                <a16:creationId xmlns:a16="http://schemas.microsoft.com/office/drawing/2014/main" id="{4321BB31-863C-434D-9921-ADDB9CBD49A3}"/>
              </a:ext>
            </a:extLst>
          </p:cNvPr>
          <p:cNvSpPr>
            <a:spLocks noGrp="1"/>
          </p:cNvSpPr>
          <p:nvPr>
            <p:ph type="ftr" sz="quarter" idx="11"/>
          </p:nvPr>
        </p:nvSpPr>
        <p:spPr/>
        <p:txBody>
          <a:bodyPr/>
          <a:lstStyle/>
          <a:p>
            <a:pPr algn="r"/>
            <a:fld id="{215E7548-F18C-4C4B-B96B-B6533EE29CBB}" type="slidenum">
              <a:rPr lang="en-US" altLang="zh-MO" smtClean="0"/>
              <a:pPr algn="r"/>
              <a:t>65</a:t>
            </a:fld>
            <a:endParaRPr lang="en-US" dirty="0"/>
          </a:p>
        </p:txBody>
      </p:sp>
      <p:sp>
        <p:nvSpPr>
          <p:cNvPr id="5" name="文字版面配置區 4">
            <a:extLst>
              <a:ext uri="{FF2B5EF4-FFF2-40B4-BE49-F238E27FC236}">
                <a16:creationId xmlns:a16="http://schemas.microsoft.com/office/drawing/2014/main" id="{96D96DA7-63BE-4A6D-918C-73A25183ECFD}"/>
              </a:ext>
            </a:extLst>
          </p:cNvPr>
          <p:cNvSpPr>
            <a:spLocks noGrp="1"/>
          </p:cNvSpPr>
          <p:nvPr>
            <p:ph type="body" sz="quarter" idx="13"/>
          </p:nvPr>
        </p:nvSpPr>
        <p:spPr>
          <a:xfrm>
            <a:off x="838200" y="676829"/>
            <a:ext cx="8667143" cy="639324"/>
          </a:xfrm>
        </p:spPr>
        <p:txBody>
          <a:bodyPr>
            <a:noAutofit/>
          </a:bodyPr>
          <a:lstStyle/>
          <a:p>
            <a:r>
              <a:rPr lang="en-US" altLang="zh-MO" sz="3200" dirty="0">
                <a:solidFill>
                  <a:srgbClr val="C00000"/>
                </a:solidFill>
              </a:rPr>
              <a:t>CISC7204 Data Science and Data Visualization</a:t>
            </a:r>
            <a:endParaRPr lang="zh-MO" altLang="en-US" sz="3200" dirty="0"/>
          </a:p>
        </p:txBody>
      </p:sp>
    </p:spTree>
    <p:extLst>
      <p:ext uri="{BB962C8B-B14F-4D97-AF65-F5344CB8AC3E}">
        <p14:creationId xmlns:p14="http://schemas.microsoft.com/office/powerpoint/2010/main" val="2439570095"/>
      </p:ext>
    </p:extLst>
  </p:cSld>
  <p:clrMapOvr>
    <a:masterClrMapping/>
  </p:clrMapOvr>
  <mc:AlternateContent xmlns:mc="http://schemas.openxmlformats.org/markup-compatibility/2006" xmlns:p14="http://schemas.microsoft.com/office/powerpoint/2010/main">
    <mc:Choice Requires="p14">
      <p:transition spd="slow" p14:dur="2000" advTm="30010"/>
    </mc:Choice>
    <mc:Fallback xmlns="">
      <p:transition spd="slow" advTm="30010"/>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2C39319-C3EB-463D-A73C-2DEA9D750625}"/>
              </a:ext>
            </a:extLst>
          </p:cNvPr>
          <p:cNvSpPr>
            <a:spLocks noGrp="1"/>
          </p:cNvSpPr>
          <p:nvPr>
            <p:ph type="title"/>
          </p:nvPr>
        </p:nvSpPr>
        <p:spPr/>
        <p:txBody>
          <a:bodyPr>
            <a:normAutofit/>
          </a:bodyPr>
          <a:lstStyle/>
          <a:p>
            <a:r>
              <a:rPr lang="en-US" altLang="zh-MO" sz="2800" dirty="0"/>
              <a:t> Introduction to Data Visualization Plots</a:t>
            </a:r>
            <a:endParaRPr lang="zh-MO" altLang="en-US" sz="2800" dirty="0"/>
          </a:p>
        </p:txBody>
      </p:sp>
      <p:sp>
        <p:nvSpPr>
          <p:cNvPr id="3" name="內容版面配置區 2">
            <a:extLst>
              <a:ext uri="{FF2B5EF4-FFF2-40B4-BE49-F238E27FC236}">
                <a16:creationId xmlns:a16="http://schemas.microsoft.com/office/drawing/2014/main" id="{72697A5A-2B81-4055-BE38-FBF0028B433F}"/>
              </a:ext>
            </a:extLst>
          </p:cNvPr>
          <p:cNvSpPr>
            <a:spLocks noGrp="1"/>
          </p:cNvSpPr>
          <p:nvPr>
            <p:ph idx="1"/>
          </p:nvPr>
        </p:nvSpPr>
        <p:spPr>
          <a:xfrm>
            <a:off x="958466" y="1825625"/>
            <a:ext cx="1498984" cy="4355546"/>
          </a:xfrm>
        </p:spPr>
        <p:txBody>
          <a:bodyPr anchor="ctr">
            <a:normAutofit/>
          </a:bodyPr>
          <a:lstStyle/>
          <a:p>
            <a:pPr marL="0" indent="0">
              <a:buNone/>
            </a:pPr>
            <a:r>
              <a:rPr lang="en-US" altLang="zh-MO" sz="1800" b="1" dirty="0">
                <a:solidFill>
                  <a:schemeClr val="accent4">
                    <a:lumMod val="75000"/>
                  </a:schemeClr>
                </a:solidFill>
              </a:rPr>
              <a:t>Part 5: Distribution Plots</a:t>
            </a:r>
          </a:p>
          <a:p>
            <a:pPr marL="0" indent="0">
              <a:buNone/>
            </a:pPr>
            <a:r>
              <a:rPr lang="en-US" altLang="zh-HK" sz="1800" b="1" dirty="0">
                <a:solidFill>
                  <a:srgbClr val="FF0000"/>
                </a:solidFill>
              </a:rPr>
              <a:t>Density Plot</a:t>
            </a:r>
            <a:endParaRPr lang="en-US" altLang="zh-HK" sz="1800" b="1" dirty="0">
              <a:solidFill>
                <a:schemeClr val="accent1"/>
              </a:solidFill>
            </a:endParaRPr>
          </a:p>
          <a:p>
            <a:pPr marL="0" indent="0">
              <a:buNone/>
            </a:pPr>
            <a:r>
              <a:rPr lang="en-US" altLang="zh-HK" sz="1800" b="1" dirty="0">
                <a:solidFill>
                  <a:schemeClr val="accent1"/>
                </a:solidFill>
              </a:rPr>
              <a:t>Example</a:t>
            </a:r>
          </a:p>
          <a:p>
            <a:pPr marL="0" indent="0">
              <a:buNone/>
            </a:pPr>
            <a:r>
              <a:rPr lang="en-US" sz="1800" dirty="0"/>
              <a:t>The diagram shows a basic density plot:</a:t>
            </a:r>
          </a:p>
        </p:txBody>
      </p:sp>
      <p:sp>
        <p:nvSpPr>
          <p:cNvPr id="4" name="頁尾版面配置區 3">
            <a:extLst>
              <a:ext uri="{FF2B5EF4-FFF2-40B4-BE49-F238E27FC236}">
                <a16:creationId xmlns:a16="http://schemas.microsoft.com/office/drawing/2014/main" id="{4321BB31-863C-434D-9921-ADDB9CBD49A3}"/>
              </a:ext>
            </a:extLst>
          </p:cNvPr>
          <p:cNvSpPr>
            <a:spLocks noGrp="1"/>
          </p:cNvSpPr>
          <p:nvPr>
            <p:ph type="ftr" sz="quarter" idx="11"/>
          </p:nvPr>
        </p:nvSpPr>
        <p:spPr/>
        <p:txBody>
          <a:bodyPr/>
          <a:lstStyle/>
          <a:p>
            <a:pPr algn="r"/>
            <a:fld id="{215E7548-F18C-4C4B-B96B-B6533EE29CBB}" type="slidenum">
              <a:rPr lang="en-US" altLang="zh-MO" smtClean="0"/>
              <a:pPr algn="r"/>
              <a:t>66</a:t>
            </a:fld>
            <a:endParaRPr lang="en-US" dirty="0"/>
          </a:p>
        </p:txBody>
      </p:sp>
      <p:sp>
        <p:nvSpPr>
          <p:cNvPr id="5" name="文字版面配置區 4">
            <a:extLst>
              <a:ext uri="{FF2B5EF4-FFF2-40B4-BE49-F238E27FC236}">
                <a16:creationId xmlns:a16="http://schemas.microsoft.com/office/drawing/2014/main" id="{96D96DA7-63BE-4A6D-918C-73A25183ECFD}"/>
              </a:ext>
            </a:extLst>
          </p:cNvPr>
          <p:cNvSpPr>
            <a:spLocks noGrp="1"/>
          </p:cNvSpPr>
          <p:nvPr>
            <p:ph type="body" sz="quarter" idx="13"/>
          </p:nvPr>
        </p:nvSpPr>
        <p:spPr>
          <a:xfrm>
            <a:off x="838200" y="676829"/>
            <a:ext cx="8667143" cy="639324"/>
          </a:xfrm>
        </p:spPr>
        <p:txBody>
          <a:bodyPr>
            <a:noAutofit/>
          </a:bodyPr>
          <a:lstStyle/>
          <a:p>
            <a:r>
              <a:rPr lang="en-US" altLang="zh-MO" sz="3200" dirty="0">
                <a:solidFill>
                  <a:srgbClr val="C00000"/>
                </a:solidFill>
              </a:rPr>
              <a:t>CISC7204 Data Science and Data Visualization</a:t>
            </a:r>
            <a:endParaRPr lang="zh-MO" altLang="en-US" sz="3200" dirty="0"/>
          </a:p>
        </p:txBody>
      </p:sp>
      <p:pic>
        <p:nvPicPr>
          <p:cNvPr id="6" name="圖片 5"/>
          <p:cNvPicPr>
            <a:picLocks noChangeAspect="1"/>
          </p:cNvPicPr>
          <p:nvPr/>
        </p:nvPicPr>
        <p:blipFill>
          <a:blip r:embed="rId2"/>
          <a:stretch>
            <a:fillRect/>
          </a:stretch>
        </p:blipFill>
        <p:spPr>
          <a:xfrm>
            <a:off x="3000375" y="2060297"/>
            <a:ext cx="6643688" cy="4120873"/>
          </a:xfrm>
          <a:prstGeom prst="rect">
            <a:avLst/>
          </a:prstGeom>
        </p:spPr>
      </p:pic>
      <p:sp>
        <p:nvSpPr>
          <p:cNvPr id="7" name="矩形 6"/>
          <p:cNvSpPr/>
          <p:nvPr/>
        </p:nvSpPr>
        <p:spPr>
          <a:xfrm>
            <a:off x="10048461" y="2529959"/>
            <a:ext cx="1314784" cy="369332"/>
          </a:xfrm>
          <a:prstGeom prst="rect">
            <a:avLst/>
          </a:prstGeom>
        </p:spPr>
        <p:txBody>
          <a:bodyPr wrap="none">
            <a:spAutoFit/>
          </a:bodyPr>
          <a:lstStyle/>
          <a:p>
            <a:r>
              <a:rPr lang="en-US" altLang="zh-HK" dirty="0"/>
              <a:t>Density plot</a:t>
            </a:r>
            <a:endParaRPr lang="zh-HK" altLang="en-US" dirty="0"/>
          </a:p>
        </p:txBody>
      </p:sp>
    </p:spTree>
    <p:extLst>
      <p:ext uri="{BB962C8B-B14F-4D97-AF65-F5344CB8AC3E}">
        <p14:creationId xmlns:p14="http://schemas.microsoft.com/office/powerpoint/2010/main" val="2807500721"/>
      </p:ext>
    </p:extLst>
  </p:cSld>
  <p:clrMapOvr>
    <a:masterClrMapping/>
  </p:clrMapOvr>
  <mc:AlternateContent xmlns:mc="http://schemas.openxmlformats.org/markup-compatibility/2006" xmlns:p14="http://schemas.microsoft.com/office/powerpoint/2010/main">
    <mc:Choice Requires="p14">
      <p:transition spd="slow" p14:dur="2000" advTm="30010"/>
    </mc:Choice>
    <mc:Fallback xmlns="">
      <p:transition spd="slow" advTm="30010"/>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2C39319-C3EB-463D-A73C-2DEA9D750625}"/>
              </a:ext>
            </a:extLst>
          </p:cNvPr>
          <p:cNvSpPr>
            <a:spLocks noGrp="1"/>
          </p:cNvSpPr>
          <p:nvPr>
            <p:ph type="title"/>
          </p:nvPr>
        </p:nvSpPr>
        <p:spPr/>
        <p:txBody>
          <a:bodyPr>
            <a:normAutofit/>
          </a:bodyPr>
          <a:lstStyle/>
          <a:p>
            <a:r>
              <a:rPr lang="en-US" altLang="zh-MO" sz="2800" dirty="0"/>
              <a:t> Introduction to Data Visualization Plots</a:t>
            </a:r>
            <a:endParaRPr lang="zh-MO" altLang="en-US" sz="2800" dirty="0"/>
          </a:p>
        </p:txBody>
      </p:sp>
      <p:sp>
        <p:nvSpPr>
          <p:cNvPr id="3" name="內容版面配置區 2">
            <a:extLst>
              <a:ext uri="{FF2B5EF4-FFF2-40B4-BE49-F238E27FC236}">
                <a16:creationId xmlns:a16="http://schemas.microsoft.com/office/drawing/2014/main" id="{72697A5A-2B81-4055-BE38-FBF0028B433F}"/>
              </a:ext>
            </a:extLst>
          </p:cNvPr>
          <p:cNvSpPr>
            <a:spLocks noGrp="1"/>
          </p:cNvSpPr>
          <p:nvPr>
            <p:ph idx="1"/>
          </p:nvPr>
        </p:nvSpPr>
        <p:spPr>
          <a:xfrm>
            <a:off x="958466" y="1825625"/>
            <a:ext cx="1498984" cy="4355546"/>
          </a:xfrm>
        </p:spPr>
        <p:txBody>
          <a:bodyPr anchor="ctr">
            <a:normAutofit/>
          </a:bodyPr>
          <a:lstStyle/>
          <a:p>
            <a:pPr marL="0" indent="0">
              <a:buNone/>
            </a:pPr>
            <a:r>
              <a:rPr lang="en-US" altLang="zh-MO" sz="1800" b="1" dirty="0">
                <a:solidFill>
                  <a:schemeClr val="accent4">
                    <a:lumMod val="75000"/>
                  </a:schemeClr>
                </a:solidFill>
              </a:rPr>
              <a:t>Part 5: Distribution Plots</a:t>
            </a:r>
          </a:p>
          <a:p>
            <a:pPr marL="0" indent="0">
              <a:buNone/>
            </a:pPr>
            <a:r>
              <a:rPr lang="en-US" altLang="zh-HK" sz="1800" b="1" dirty="0">
                <a:solidFill>
                  <a:srgbClr val="FF0000"/>
                </a:solidFill>
              </a:rPr>
              <a:t>Density Plot</a:t>
            </a:r>
            <a:endParaRPr lang="en-US" altLang="zh-HK" sz="1800" b="1" dirty="0">
              <a:solidFill>
                <a:schemeClr val="accent1"/>
              </a:solidFill>
            </a:endParaRPr>
          </a:p>
          <a:p>
            <a:pPr marL="0" indent="0">
              <a:buNone/>
            </a:pPr>
            <a:r>
              <a:rPr lang="en-US" altLang="zh-HK" sz="1800" b="1" dirty="0">
                <a:solidFill>
                  <a:schemeClr val="accent1"/>
                </a:solidFill>
              </a:rPr>
              <a:t>Example</a:t>
            </a:r>
          </a:p>
          <a:p>
            <a:pPr marL="0" indent="0">
              <a:buNone/>
            </a:pPr>
            <a:r>
              <a:rPr lang="en-US" sz="1800" dirty="0"/>
              <a:t>The diagram shows a basic multi-density plot:</a:t>
            </a:r>
          </a:p>
        </p:txBody>
      </p:sp>
      <p:sp>
        <p:nvSpPr>
          <p:cNvPr id="4" name="頁尾版面配置區 3">
            <a:extLst>
              <a:ext uri="{FF2B5EF4-FFF2-40B4-BE49-F238E27FC236}">
                <a16:creationId xmlns:a16="http://schemas.microsoft.com/office/drawing/2014/main" id="{4321BB31-863C-434D-9921-ADDB9CBD49A3}"/>
              </a:ext>
            </a:extLst>
          </p:cNvPr>
          <p:cNvSpPr>
            <a:spLocks noGrp="1"/>
          </p:cNvSpPr>
          <p:nvPr>
            <p:ph type="ftr" sz="quarter" idx="11"/>
          </p:nvPr>
        </p:nvSpPr>
        <p:spPr/>
        <p:txBody>
          <a:bodyPr/>
          <a:lstStyle/>
          <a:p>
            <a:pPr algn="r"/>
            <a:fld id="{215E7548-F18C-4C4B-B96B-B6533EE29CBB}" type="slidenum">
              <a:rPr lang="en-US" altLang="zh-MO" smtClean="0"/>
              <a:pPr algn="r"/>
              <a:t>67</a:t>
            </a:fld>
            <a:endParaRPr lang="en-US" dirty="0"/>
          </a:p>
        </p:txBody>
      </p:sp>
      <p:sp>
        <p:nvSpPr>
          <p:cNvPr id="5" name="文字版面配置區 4">
            <a:extLst>
              <a:ext uri="{FF2B5EF4-FFF2-40B4-BE49-F238E27FC236}">
                <a16:creationId xmlns:a16="http://schemas.microsoft.com/office/drawing/2014/main" id="{96D96DA7-63BE-4A6D-918C-73A25183ECFD}"/>
              </a:ext>
            </a:extLst>
          </p:cNvPr>
          <p:cNvSpPr>
            <a:spLocks noGrp="1"/>
          </p:cNvSpPr>
          <p:nvPr>
            <p:ph type="body" sz="quarter" idx="13"/>
          </p:nvPr>
        </p:nvSpPr>
        <p:spPr>
          <a:xfrm>
            <a:off x="838200" y="676829"/>
            <a:ext cx="8667143" cy="639324"/>
          </a:xfrm>
        </p:spPr>
        <p:txBody>
          <a:bodyPr>
            <a:noAutofit/>
          </a:bodyPr>
          <a:lstStyle/>
          <a:p>
            <a:r>
              <a:rPr lang="en-US" altLang="zh-MO" sz="3200" dirty="0">
                <a:solidFill>
                  <a:srgbClr val="C00000"/>
                </a:solidFill>
              </a:rPr>
              <a:t>CISC7204 Data Science and Data Visualization</a:t>
            </a:r>
            <a:endParaRPr lang="zh-MO" altLang="en-US" sz="3200" dirty="0"/>
          </a:p>
        </p:txBody>
      </p:sp>
      <p:pic>
        <p:nvPicPr>
          <p:cNvPr id="8" name="圖片 7"/>
          <p:cNvPicPr>
            <a:picLocks noChangeAspect="1"/>
          </p:cNvPicPr>
          <p:nvPr/>
        </p:nvPicPr>
        <p:blipFill>
          <a:blip r:embed="rId2"/>
          <a:stretch>
            <a:fillRect/>
          </a:stretch>
        </p:blipFill>
        <p:spPr>
          <a:xfrm>
            <a:off x="3195638" y="1825625"/>
            <a:ext cx="6153490" cy="4355545"/>
          </a:xfrm>
          <a:prstGeom prst="rect">
            <a:avLst/>
          </a:prstGeom>
        </p:spPr>
      </p:pic>
      <p:sp>
        <p:nvSpPr>
          <p:cNvPr id="9" name="矩形 8"/>
          <p:cNvSpPr/>
          <p:nvPr/>
        </p:nvSpPr>
        <p:spPr>
          <a:xfrm>
            <a:off x="9677741" y="3613666"/>
            <a:ext cx="1866217" cy="369332"/>
          </a:xfrm>
          <a:prstGeom prst="rect">
            <a:avLst/>
          </a:prstGeom>
        </p:spPr>
        <p:txBody>
          <a:bodyPr wrap="none">
            <a:spAutoFit/>
          </a:bodyPr>
          <a:lstStyle/>
          <a:p>
            <a:r>
              <a:rPr lang="en-US" altLang="zh-HK" dirty="0"/>
              <a:t>Multi-density plot</a:t>
            </a:r>
            <a:endParaRPr lang="zh-HK" altLang="en-US" dirty="0"/>
          </a:p>
        </p:txBody>
      </p:sp>
    </p:spTree>
    <p:extLst>
      <p:ext uri="{BB962C8B-B14F-4D97-AF65-F5344CB8AC3E}">
        <p14:creationId xmlns:p14="http://schemas.microsoft.com/office/powerpoint/2010/main" val="3306156305"/>
      </p:ext>
    </p:extLst>
  </p:cSld>
  <p:clrMapOvr>
    <a:masterClrMapping/>
  </p:clrMapOvr>
  <mc:AlternateContent xmlns:mc="http://schemas.openxmlformats.org/markup-compatibility/2006" xmlns:p14="http://schemas.microsoft.com/office/powerpoint/2010/main">
    <mc:Choice Requires="p14">
      <p:transition spd="slow" p14:dur="2000" advTm="30010"/>
    </mc:Choice>
    <mc:Fallback xmlns="">
      <p:transition spd="slow" advTm="30010"/>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2C39319-C3EB-463D-A73C-2DEA9D750625}"/>
              </a:ext>
            </a:extLst>
          </p:cNvPr>
          <p:cNvSpPr>
            <a:spLocks noGrp="1"/>
          </p:cNvSpPr>
          <p:nvPr>
            <p:ph type="title"/>
          </p:nvPr>
        </p:nvSpPr>
        <p:spPr/>
        <p:txBody>
          <a:bodyPr>
            <a:normAutofit/>
          </a:bodyPr>
          <a:lstStyle/>
          <a:p>
            <a:r>
              <a:rPr lang="en-US" altLang="zh-MO" sz="2800" dirty="0"/>
              <a:t> Introduction to Data Visualization Plots</a:t>
            </a:r>
            <a:endParaRPr lang="zh-MO" altLang="en-US" sz="2800" dirty="0"/>
          </a:p>
        </p:txBody>
      </p:sp>
      <p:sp>
        <p:nvSpPr>
          <p:cNvPr id="3" name="內容版面配置區 2">
            <a:extLst>
              <a:ext uri="{FF2B5EF4-FFF2-40B4-BE49-F238E27FC236}">
                <a16:creationId xmlns:a16="http://schemas.microsoft.com/office/drawing/2014/main" id="{72697A5A-2B81-4055-BE38-FBF0028B433F}"/>
              </a:ext>
            </a:extLst>
          </p:cNvPr>
          <p:cNvSpPr>
            <a:spLocks noGrp="1"/>
          </p:cNvSpPr>
          <p:nvPr>
            <p:ph idx="1"/>
          </p:nvPr>
        </p:nvSpPr>
        <p:spPr>
          <a:xfrm>
            <a:off x="958466" y="1825625"/>
            <a:ext cx="10513098" cy="4355546"/>
          </a:xfrm>
        </p:spPr>
        <p:txBody>
          <a:bodyPr anchor="ctr">
            <a:normAutofit/>
          </a:bodyPr>
          <a:lstStyle/>
          <a:p>
            <a:pPr marL="0" indent="0">
              <a:buNone/>
            </a:pPr>
            <a:r>
              <a:rPr lang="en-US" altLang="zh-MO" sz="2800" b="1" dirty="0">
                <a:solidFill>
                  <a:schemeClr val="accent4">
                    <a:lumMod val="75000"/>
                  </a:schemeClr>
                </a:solidFill>
              </a:rPr>
              <a:t>Part 5: Distribution Plots</a:t>
            </a:r>
          </a:p>
          <a:p>
            <a:pPr marL="0" indent="0">
              <a:buNone/>
            </a:pPr>
            <a:r>
              <a:rPr lang="en-US" altLang="zh-HK" sz="2800" b="1" dirty="0">
                <a:solidFill>
                  <a:srgbClr val="FF0000"/>
                </a:solidFill>
              </a:rPr>
              <a:t>Density Plot – </a:t>
            </a:r>
            <a:r>
              <a:rPr lang="en-US" altLang="zh-HK" sz="2800" b="1" dirty="0">
                <a:solidFill>
                  <a:schemeClr val="accent1"/>
                </a:solidFill>
              </a:rPr>
              <a:t>Design Practice</a:t>
            </a:r>
          </a:p>
          <a:p>
            <a:r>
              <a:rPr lang="en-US" altLang="zh-HK" sz="2800" dirty="0"/>
              <a:t>Use contrasting colors to plot the density of multiple variables.</a:t>
            </a:r>
            <a:endParaRPr lang="en-US" sz="2600" dirty="0"/>
          </a:p>
        </p:txBody>
      </p:sp>
      <p:sp>
        <p:nvSpPr>
          <p:cNvPr id="4" name="頁尾版面配置區 3">
            <a:extLst>
              <a:ext uri="{FF2B5EF4-FFF2-40B4-BE49-F238E27FC236}">
                <a16:creationId xmlns:a16="http://schemas.microsoft.com/office/drawing/2014/main" id="{4321BB31-863C-434D-9921-ADDB9CBD49A3}"/>
              </a:ext>
            </a:extLst>
          </p:cNvPr>
          <p:cNvSpPr>
            <a:spLocks noGrp="1"/>
          </p:cNvSpPr>
          <p:nvPr>
            <p:ph type="ftr" sz="quarter" idx="11"/>
          </p:nvPr>
        </p:nvSpPr>
        <p:spPr/>
        <p:txBody>
          <a:bodyPr/>
          <a:lstStyle/>
          <a:p>
            <a:pPr algn="r"/>
            <a:fld id="{215E7548-F18C-4C4B-B96B-B6533EE29CBB}" type="slidenum">
              <a:rPr lang="en-US" altLang="zh-MO" smtClean="0"/>
              <a:pPr algn="r"/>
              <a:t>68</a:t>
            </a:fld>
            <a:endParaRPr lang="en-US" dirty="0"/>
          </a:p>
        </p:txBody>
      </p:sp>
      <p:sp>
        <p:nvSpPr>
          <p:cNvPr id="5" name="文字版面配置區 4">
            <a:extLst>
              <a:ext uri="{FF2B5EF4-FFF2-40B4-BE49-F238E27FC236}">
                <a16:creationId xmlns:a16="http://schemas.microsoft.com/office/drawing/2014/main" id="{96D96DA7-63BE-4A6D-918C-73A25183ECFD}"/>
              </a:ext>
            </a:extLst>
          </p:cNvPr>
          <p:cNvSpPr>
            <a:spLocks noGrp="1"/>
          </p:cNvSpPr>
          <p:nvPr>
            <p:ph type="body" sz="quarter" idx="13"/>
          </p:nvPr>
        </p:nvSpPr>
        <p:spPr>
          <a:xfrm>
            <a:off x="838200" y="676829"/>
            <a:ext cx="8667143" cy="639324"/>
          </a:xfrm>
        </p:spPr>
        <p:txBody>
          <a:bodyPr>
            <a:noAutofit/>
          </a:bodyPr>
          <a:lstStyle/>
          <a:p>
            <a:r>
              <a:rPr lang="en-US" altLang="zh-MO" sz="3200" dirty="0">
                <a:solidFill>
                  <a:srgbClr val="C00000"/>
                </a:solidFill>
              </a:rPr>
              <a:t>CISC7204 Data Science and Data Visualization</a:t>
            </a:r>
            <a:endParaRPr lang="zh-MO" altLang="en-US" sz="3200" dirty="0"/>
          </a:p>
        </p:txBody>
      </p:sp>
    </p:spTree>
    <p:extLst>
      <p:ext uri="{BB962C8B-B14F-4D97-AF65-F5344CB8AC3E}">
        <p14:creationId xmlns:p14="http://schemas.microsoft.com/office/powerpoint/2010/main" val="2479385853"/>
      </p:ext>
    </p:extLst>
  </p:cSld>
  <p:clrMapOvr>
    <a:masterClrMapping/>
  </p:clrMapOvr>
  <mc:AlternateContent xmlns:mc="http://schemas.openxmlformats.org/markup-compatibility/2006" xmlns:p14="http://schemas.microsoft.com/office/powerpoint/2010/main">
    <mc:Choice Requires="p14">
      <p:transition spd="slow" p14:dur="2000" advTm="30010"/>
    </mc:Choice>
    <mc:Fallback xmlns="">
      <p:transition spd="slow" advTm="30010"/>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2C39319-C3EB-463D-A73C-2DEA9D750625}"/>
              </a:ext>
            </a:extLst>
          </p:cNvPr>
          <p:cNvSpPr>
            <a:spLocks noGrp="1"/>
          </p:cNvSpPr>
          <p:nvPr>
            <p:ph type="title"/>
          </p:nvPr>
        </p:nvSpPr>
        <p:spPr/>
        <p:txBody>
          <a:bodyPr>
            <a:normAutofit/>
          </a:bodyPr>
          <a:lstStyle/>
          <a:p>
            <a:r>
              <a:rPr lang="en-US" altLang="zh-MO" sz="2800" dirty="0"/>
              <a:t> Introduction to Data Visualization Plots</a:t>
            </a:r>
            <a:endParaRPr lang="zh-MO" altLang="en-US" sz="2800" dirty="0"/>
          </a:p>
        </p:txBody>
      </p:sp>
      <p:sp>
        <p:nvSpPr>
          <p:cNvPr id="3" name="內容版面配置區 2">
            <a:extLst>
              <a:ext uri="{FF2B5EF4-FFF2-40B4-BE49-F238E27FC236}">
                <a16:creationId xmlns:a16="http://schemas.microsoft.com/office/drawing/2014/main" id="{72697A5A-2B81-4055-BE38-FBF0028B433F}"/>
              </a:ext>
            </a:extLst>
          </p:cNvPr>
          <p:cNvSpPr>
            <a:spLocks noGrp="1"/>
          </p:cNvSpPr>
          <p:nvPr>
            <p:ph idx="1"/>
          </p:nvPr>
        </p:nvSpPr>
        <p:spPr>
          <a:xfrm>
            <a:off x="958466" y="1825625"/>
            <a:ext cx="10513098" cy="4355546"/>
          </a:xfrm>
        </p:spPr>
        <p:txBody>
          <a:bodyPr anchor="ctr">
            <a:normAutofit fontScale="92500" lnSpcReduction="10000"/>
          </a:bodyPr>
          <a:lstStyle/>
          <a:p>
            <a:pPr marL="0" indent="0">
              <a:buNone/>
            </a:pPr>
            <a:r>
              <a:rPr lang="en-US" altLang="zh-MO" sz="2800" b="1" dirty="0">
                <a:solidFill>
                  <a:schemeClr val="accent4">
                    <a:lumMod val="75000"/>
                  </a:schemeClr>
                </a:solidFill>
              </a:rPr>
              <a:t>Part 5: Distribution Plots</a:t>
            </a:r>
          </a:p>
          <a:p>
            <a:pPr marL="0" indent="0">
              <a:buNone/>
            </a:pPr>
            <a:r>
              <a:rPr lang="en-US" altLang="zh-HK" sz="2800" b="1" dirty="0">
                <a:solidFill>
                  <a:srgbClr val="FF0000"/>
                </a:solidFill>
              </a:rPr>
              <a:t>Box Plot </a:t>
            </a:r>
          </a:p>
          <a:p>
            <a:pPr marL="0" indent="0">
              <a:buNone/>
            </a:pPr>
            <a:r>
              <a:rPr lang="en-US" altLang="zh-HK" sz="2800" dirty="0"/>
              <a:t>The box plot shows multiple statistical measurements. The box extends from the lower to the upper quartile values of the data, thus allowing us to visualize the interquartile range (IQR). The horizontal line within the box denotes the median. The parallel extending lines from the boxes are called whiskers; they indicate the variability outside the lower and upper quartiles. There is also an option to show data outliers, usually as circles or diamonds, past the end of the whiskers.</a:t>
            </a:r>
          </a:p>
          <a:p>
            <a:pPr marL="0" indent="0">
              <a:buNone/>
            </a:pPr>
            <a:r>
              <a:rPr lang="en-US" sz="2800" b="1" dirty="0">
                <a:solidFill>
                  <a:schemeClr val="accent1"/>
                </a:solidFill>
              </a:rPr>
              <a:t>Use</a:t>
            </a:r>
          </a:p>
          <a:p>
            <a:r>
              <a:rPr lang="en-US" altLang="zh-HK" sz="2400" dirty="0"/>
              <a:t>Compare statistical measures for multiple variables or groups.</a:t>
            </a:r>
            <a:endParaRPr lang="en-US" sz="2600" dirty="0"/>
          </a:p>
        </p:txBody>
      </p:sp>
      <p:sp>
        <p:nvSpPr>
          <p:cNvPr id="4" name="頁尾版面配置區 3">
            <a:extLst>
              <a:ext uri="{FF2B5EF4-FFF2-40B4-BE49-F238E27FC236}">
                <a16:creationId xmlns:a16="http://schemas.microsoft.com/office/drawing/2014/main" id="{4321BB31-863C-434D-9921-ADDB9CBD49A3}"/>
              </a:ext>
            </a:extLst>
          </p:cNvPr>
          <p:cNvSpPr>
            <a:spLocks noGrp="1"/>
          </p:cNvSpPr>
          <p:nvPr>
            <p:ph type="ftr" sz="quarter" idx="11"/>
          </p:nvPr>
        </p:nvSpPr>
        <p:spPr/>
        <p:txBody>
          <a:bodyPr/>
          <a:lstStyle/>
          <a:p>
            <a:pPr algn="r"/>
            <a:fld id="{215E7548-F18C-4C4B-B96B-B6533EE29CBB}" type="slidenum">
              <a:rPr lang="en-US" altLang="zh-MO" smtClean="0"/>
              <a:pPr algn="r"/>
              <a:t>69</a:t>
            </a:fld>
            <a:endParaRPr lang="en-US" dirty="0"/>
          </a:p>
        </p:txBody>
      </p:sp>
      <p:sp>
        <p:nvSpPr>
          <p:cNvPr id="5" name="文字版面配置區 4">
            <a:extLst>
              <a:ext uri="{FF2B5EF4-FFF2-40B4-BE49-F238E27FC236}">
                <a16:creationId xmlns:a16="http://schemas.microsoft.com/office/drawing/2014/main" id="{96D96DA7-63BE-4A6D-918C-73A25183ECFD}"/>
              </a:ext>
            </a:extLst>
          </p:cNvPr>
          <p:cNvSpPr>
            <a:spLocks noGrp="1"/>
          </p:cNvSpPr>
          <p:nvPr>
            <p:ph type="body" sz="quarter" idx="13"/>
          </p:nvPr>
        </p:nvSpPr>
        <p:spPr>
          <a:xfrm>
            <a:off x="838200" y="676829"/>
            <a:ext cx="8667143" cy="639324"/>
          </a:xfrm>
        </p:spPr>
        <p:txBody>
          <a:bodyPr>
            <a:noAutofit/>
          </a:bodyPr>
          <a:lstStyle/>
          <a:p>
            <a:r>
              <a:rPr lang="en-US" altLang="zh-MO" sz="3200" dirty="0">
                <a:solidFill>
                  <a:srgbClr val="C00000"/>
                </a:solidFill>
              </a:rPr>
              <a:t>CISC7204 Data Science and Data Visualization</a:t>
            </a:r>
            <a:endParaRPr lang="zh-MO" altLang="en-US" sz="3200" dirty="0"/>
          </a:p>
        </p:txBody>
      </p:sp>
    </p:spTree>
    <p:extLst>
      <p:ext uri="{BB962C8B-B14F-4D97-AF65-F5344CB8AC3E}">
        <p14:creationId xmlns:p14="http://schemas.microsoft.com/office/powerpoint/2010/main" val="2519779626"/>
      </p:ext>
    </p:extLst>
  </p:cSld>
  <p:clrMapOvr>
    <a:masterClrMapping/>
  </p:clrMapOvr>
  <mc:AlternateContent xmlns:mc="http://schemas.openxmlformats.org/markup-compatibility/2006" xmlns:p14="http://schemas.microsoft.com/office/powerpoint/2010/main">
    <mc:Choice Requires="p14">
      <p:transition spd="slow" p14:dur="2000" advTm="30010"/>
    </mc:Choice>
    <mc:Fallback xmlns="">
      <p:transition spd="slow" advTm="30010"/>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2C39319-C3EB-463D-A73C-2DEA9D750625}"/>
              </a:ext>
            </a:extLst>
          </p:cNvPr>
          <p:cNvSpPr>
            <a:spLocks noGrp="1"/>
          </p:cNvSpPr>
          <p:nvPr>
            <p:ph type="title"/>
          </p:nvPr>
        </p:nvSpPr>
        <p:spPr/>
        <p:txBody>
          <a:bodyPr>
            <a:normAutofit/>
          </a:bodyPr>
          <a:lstStyle/>
          <a:p>
            <a:r>
              <a:rPr lang="en-US" altLang="zh-MO" sz="2800" dirty="0"/>
              <a:t> Introduction to Data Visualization Plots</a:t>
            </a:r>
            <a:endParaRPr lang="zh-MO" altLang="en-US" sz="2800" dirty="0"/>
          </a:p>
        </p:txBody>
      </p:sp>
      <p:sp>
        <p:nvSpPr>
          <p:cNvPr id="3" name="內容版面配置區 2">
            <a:extLst>
              <a:ext uri="{FF2B5EF4-FFF2-40B4-BE49-F238E27FC236}">
                <a16:creationId xmlns:a16="http://schemas.microsoft.com/office/drawing/2014/main" id="{72697A5A-2B81-4055-BE38-FBF0028B433F}"/>
              </a:ext>
            </a:extLst>
          </p:cNvPr>
          <p:cNvSpPr>
            <a:spLocks noGrp="1"/>
          </p:cNvSpPr>
          <p:nvPr>
            <p:ph idx="1"/>
          </p:nvPr>
        </p:nvSpPr>
        <p:spPr>
          <a:xfrm>
            <a:off x="958466" y="1825625"/>
            <a:ext cx="1641859" cy="4355546"/>
          </a:xfrm>
        </p:spPr>
        <p:txBody>
          <a:bodyPr anchor="ctr">
            <a:normAutofit/>
          </a:bodyPr>
          <a:lstStyle/>
          <a:p>
            <a:pPr marL="0" indent="0">
              <a:buNone/>
            </a:pPr>
            <a:r>
              <a:rPr lang="en-US" altLang="zh-MO" sz="2000" b="1" dirty="0">
                <a:solidFill>
                  <a:schemeClr val="accent4">
                    <a:lumMod val="75000"/>
                  </a:schemeClr>
                </a:solidFill>
              </a:rPr>
              <a:t>Part 5: Distribution Plots</a:t>
            </a:r>
          </a:p>
          <a:p>
            <a:pPr marL="0" indent="0">
              <a:buNone/>
            </a:pPr>
            <a:r>
              <a:rPr lang="en-US" altLang="zh-HK" sz="1800" b="1" dirty="0">
                <a:solidFill>
                  <a:srgbClr val="FF0000"/>
                </a:solidFill>
              </a:rPr>
              <a:t>Box Plot </a:t>
            </a:r>
          </a:p>
          <a:p>
            <a:pPr marL="0" indent="0">
              <a:buNone/>
            </a:pPr>
            <a:r>
              <a:rPr lang="en-US" altLang="zh-HK" sz="1800" dirty="0"/>
              <a:t>Example</a:t>
            </a:r>
          </a:p>
          <a:p>
            <a:pPr marL="0" indent="0">
              <a:buNone/>
            </a:pPr>
            <a:r>
              <a:rPr lang="en-US" altLang="zh-HK" sz="1600" dirty="0"/>
              <a:t>The diagram shows a basic box plot that shows the height of a group of people:</a:t>
            </a:r>
            <a:endParaRPr lang="en-US" sz="1600" dirty="0"/>
          </a:p>
        </p:txBody>
      </p:sp>
      <p:sp>
        <p:nvSpPr>
          <p:cNvPr id="4" name="頁尾版面配置區 3">
            <a:extLst>
              <a:ext uri="{FF2B5EF4-FFF2-40B4-BE49-F238E27FC236}">
                <a16:creationId xmlns:a16="http://schemas.microsoft.com/office/drawing/2014/main" id="{4321BB31-863C-434D-9921-ADDB9CBD49A3}"/>
              </a:ext>
            </a:extLst>
          </p:cNvPr>
          <p:cNvSpPr>
            <a:spLocks noGrp="1"/>
          </p:cNvSpPr>
          <p:nvPr>
            <p:ph type="ftr" sz="quarter" idx="11"/>
          </p:nvPr>
        </p:nvSpPr>
        <p:spPr/>
        <p:txBody>
          <a:bodyPr/>
          <a:lstStyle/>
          <a:p>
            <a:pPr algn="r"/>
            <a:fld id="{215E7548-F18C-4C4B-B96B-B6533EE29CBB}" type="slidenum">
              <a:rPr lang="en-US" altLang="zh-MO" smtClean="0"/>
              <a:pPr algn="r"/>
              <a:t>70</a:t>
            </a:fld>
            <a:endParaRPr lang="en-US" dirty="0"/>
          </a:p>
        </p:txBody>
      </p:sp>
      <p:sp>
        <p:nvSpPr>
          <p:cNvPr id="5" name="文字版面配置區 4">
            <a:extLst>
              <a:ext uri="{FF2B5EF4-FFF2-40B4-BE49-F238E27FC236}">
                <a16:creationId xmlns:a16="http://schemas.microsoft.com/office/drawing/2014/main" id="{96D96DA7-63BE-4A6D-918C-73A25183ECFD}"/>
              </a:ext>
            </a:extLst>
          </p:cNvPr>
          <p:cNvSpPr>
            <a:spLocks noGrp="1"/>
          </p:cNvSpPr>
          <p:nvPr>
            <p:ph type="body" sz="quarter" idx="13"/>
          </p:nvPr>
        </p:nvSpPr>
        <p:spPr>
          <a:xfrm>
            <a:off x="838200" y="676829"/>
            <a:ext cx="8667143" cy="639324"/>
          </a:xfrm>
        </p:spPr>
        <p:txBody>
          <a:bodyPr>
            <a:noAutofit/>
          </a:bodyPr>
          <a:lstStyle/>
          <a:p>
            <a:r>
              <a:rPr lang="en-US" altLang="zh-MO" sz="3200" dirty="0">
                <a:solidFill>
                  <a:srgbClr val="C00000"/>
                </a:solidFill>
              </a:rPr>
              <a:t>CISC7204 Data Science and Data Visualization</a:t>
            </a:r>
            <a:endParaRPr lang="zh-MO" altLang="en-US" sz="3200" dirty="0"/>
          </a:p>
        </p:txBody>
      </p:sp>
      <p:pic>
        <p:nvPicPr>
          <p:cNvPr id="6" name="圖片 5"/>
          <p:cNvPicPr>
            <a:picLocks noChangeAspect="1"/>
          </p:cNvPicPr>
          <p:nvPr/>
        </p:nvPicPr>
        <p:blipFill>
          <a:blip r:embed="rId2"/>
          <a:stretch>
            <a:fillRect/>
          </a:stretch>
        </p:blipFill>
        <p:spPr>
          <a:xfrm>
            <a:off x="3238500" y="2165072"/>
            <a:ext cx="5372100" cy="3842625"/>
          </a:xfrm>
          <a:prstGeom prst="rect">
            <a:avLst/>
          </a:prstGeom>
        </p:spPr>
      </p:pic>
      <p:sp>
        <p:nvSpPr>
          <p:cNvPr id="7" name="矩形 6"/>
          <p:cNvSpPr/>
          <p:nvPr/>
        </p:nvSpPr>
        <p:spPr>
          <a:xfrm>
            <a:off x="9248775" y="3588011"/>
            <a:ext cx="1662113" cy="923330"/>
          </a:xfrm>
          <a:prstGeom prst="rect">
            <a:avLst/>
          </a:prstGeom>
        </p:spPr>
        <p:txBody>
          <a:bodyPr wrap="square">
            <a:spAutoFit/>
          </a:bodyPr>
          <a:lstStyle/>
          <a:p>
            <a:r>
              <a:rPr lang="en-US" altLang="zh-HK" dirty="0"/>
              <a:t>Box plot showing a single variable</a:t>
            </a:r>
            <a:endParaRPr lang="zh-HK" altLang="en-US" dirty="0"/>
          </a:p>
        </p:txBody>
      </p:sp>
    </p:spTree>
    <p:extLst>
      <p:ext uri="{BB962C8B-B14F-4D97-AF65-F5344CB8AC3E}">
        <p14:creationId xmlns:p14="http://schemas.microsoft.com/office/powerpoint/2010/main" val="3226690529"/>
      </p:ext>
    </p:extLst>
  </p:cSld>
  <p:clrMapOvr>
    <a:masterClrMapping/>
  </p:clrMapOvr>
  <mc:AlternateContent xmlns:mc="http://schemas.openxmlformats.org/markup-compatibility/2006" xmlns:p14="http://schemas.microsoft.com/office/powerpoint/2010/main">
    <mc:Choice Requires="p14">
      <p:transition spd="slow" p14:dur="2000" advTm="30010"/>
    </mc:Choice>
    <mc:Fallback xmlns="">
      <p:transition spd="slow" advTm="30010"/>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2C39319-C3EB-463D-A73C-2DEA9D750625}"/>
              </a:ext>
            </a:extLst>
          </p:cNvPr>
          <p:cNvSpPr>
            <a:spLocks noGrp="1"/>
          </p:cNvSpPr>
          <p:nvPr>
            <p:ph type="title"/>
          </p:nvPr>
        </p:nvSpPr>
        <p:spPr/>
        <p:txBody>
          <a:bodyPr>
            <a:normAutofit/>
          </a:bodyPr>
          <a:lstStyle/>
          <a:p>
            <a:r>
              <a:rPr lang="en-US" altLang="zh-MO" sz="2800" dirty="0"/>
              <a:t> Introduction to Data Visualization Plots</a:t>
            </a:r>
            <a:endParaRPr lang="zh-MO" altLang="en-US" sz="2800" dirty="0"/>
          </a:p>
        </p:txBody>
      </p:sp>
      <p:sp>
        <p:nvSpPr>
          <p:cNvPr id="3" name="內容版面配置區 2">
            <a:extLst>
              <a:ext uri="{FF2B5EF4-FFF2-40B4-BE49-F238E27FC236}">
                <a16:creationId xmlns:a16="http://schemas.microsoft.com/office/drawing/2014/main" id="{72697A5A-2B81-4055-BE38-FBF0028B433F}"/>
              </a:ext>
            </a:extLst>
          </p:cNvPr>
          <p:cNvSpPr>
            <a:spLocks noGrp="1"/>
          </p:cNvSpPr>
          <p:nvPr>
            <p:ph idx="1"/>
          </p:nvPr>
        </p:nvSpPr>
        <p:spPr>
          <a:xfrm>
            <a:off x="958466" y="1825625"/>
            <a:ext cx="1641859" cy="4355546"/>
          </a:xfrm>
        </p:spPr>
        <p:txBody>
          <a:bodyPr anchor="ctr">
            <a:normAutofit lnSpcReduction="10000"/>
          </a:bodyPr>
          <a:lstStyle/>
          <a:p>
            <a:pPr marL="0" indent="0">
              <a:buNone/>
            </a:pPr>
            <a:r>
              <a:rPr lang="en-US" altLang="zh-MO" sz="2000" b="1" dirty="0">
                <a:solidFill>
                  <a:schemeClr val="accent4">
                    <a:lumMod val="75000"/>
                  </a:schemeClr>
                </a:solidFill>
              </a:rPr>
              <a:t>Part 5: Distribution Plots</a:t>
            </a:r>
          </a:p>
          <a:p>
            <a:pPr marL="0" indent="0">
              <a:buNone/>
            </a:pPr>
            <a:r>
              <a:rPr lang="en-US" altLang="zh-HK" sz="1800" b="1" dirty="0">
                <a:solidFill>
                  <a:srgbClr val="FF0000"/>
                </a:solidFill>
              </a:rPr>
              <a:t>Box Plot </a:t>
            </a:r>
          </a:p>
          <a:p>
            <a:pPr marL="0" indent="0">
              <a:buNone/>
            </a:pPr>
            <a:r>
              <a:rPr lang="en-US" altLang="zh-HK" sz="1800" dirty="0"/>
              <a:t>Example</a:t>
            </a:r>
          </a:p>
          <a:p>
            <a:pPr marL="0" indent="0">
              <a:buNone/>
            </a:pPr>
            <a:r>
              <a:rPr lang="en-US" altLang="zh-HK" sz="1600" dirty="0"/>
              <a:t>The diagram shows a basic box plot for multiple variables. </a:t>
            </a:r>
          </a:p>
          <a:p>
            <a:pPr marL="0" indent="0">
              <a:buNone/>
            </a:pPr>
            <a:r>
              <a:rPr lang="en-US" altLang="zh-HK" sz="1600" dirty="0"/>
              <a:t>In this case, it shows heights for two different groups – adults and non-adults:</a:t>
            </a:r>
            <a:endParaRPr lang="en-US" sz="1600" dirty="0"/>
          </a:p>
        </p:txBody>
      </p:sp>
      <p:sp>
        <p:nvSpPr>
          <p:cNvPr id="4" name="頁尾版面配置區 3">
            <a:extLst>
              <a:ext uri="{FF2B5EF4-FFF2-40B4-BE49-F238E27FC236}">
                <a16:creationId xmlns:a16="http://schemas.microsoft.com/office/drawing/2014/main" id="{4321BB31-863C-434D-9921-ADDB9CBD49A3}"/>
              </a:ext>
            </a:extLst>
          </p:cNvPr>
          <p:cNvSpPr>
            <a:spLocks noGrp="1"/>
          </p:cNvSpPr>
          <p:nvPr>
            <p:ph type="ftr" sz="quarter" idx="11"/>
          </p:nvPr>
        </p:nvSpPr>
        <p:spPr/>
        <p:txBody>
          <a:bodyPr/>
          <a:lstStyle/>
          <a:p>
            <a:pPr algn="r"/>
            <a:fld id="{215E7548-F18C-4C4B-B96B-B6533EE29CBB}" type="slidenum">
              <a:rPr lang="en-US" altLang="zh-MO" smtClean="0"/>
              <a:pPr algn="r"/>
              <a:t>71</a:t>
            </a:fld>
            <a:endParaRPr lang="en-US" dirty="0"/>
          </a:p>
        </p:txBody>
      </p:sp>
      <p:sp>
        <p:nvSpPr>
          <p:cNvPr id="5" name="文字版面配置區 4">
            <a:extLst>
              <a:ext uri="{FF2B5EF4-FFF2-40B4-BE49-F238E27FC236}">
                <a16:creationId xmlns:a16="http://schemas.microsoft.com/office/drawing/2014/main" id="{96D96DA7-63BE-4A6D-918C-73A25183ECFD}"/>
              </a:ext>
            </a:extLst>
          </p:cNvPr>
          <p:cNvSpPr>
            <a:spLocks noGrp="1"/>
          </p:cNvSpPr>
          <p:nvPr>
            <p:ph type="body" sz="quarter" idx="13"/>
          </p:nvPr>
        </p:nvSpPr>
        <p:spPr>
          <a:xfrm>
            <a:off x="838200" y="676829"/>
            <a:ext cx="8667143" cy="639324"/>
          </a:xfrm>
        </p:spPr>
        <p:txBody>
          <a:bodyPr>
            <a:noAutofit/>
          </a:bodyPr>
          <a:lstStyle/>
          <a:p>
            <a:r>
              <a:rPr lang="en-US" altLang="zh-MO" sz="3200" dirty="0">
                <a:solidFill>
                  <a:srgbClr val="C00000"/>
                </a:solidFill>
              </a:rPr>
              <a:t>CISC7204 Data Science and Data Visualization</a:t>
            </a:r>
            <a:endParaRPr lang="zh-MO" altLang="en-US" sz="3200" dirty="0"/>
          </a:p>
        </p:txBody>
      </p:sp>
      <p:pic>
        <p:nvPicPr>
          <p:cNvPr id="8" name="圖片 7"/>
          <p:cNvPicPr>
            <a:picLocks noChangeAspect="1"/>
          </p:cNvPicPr>
          <p:nvPr/>
        </p:nvPicPr>
        <p:blipFill>
          <a:blip r:embed="rId2"/>
          <a:stretch>
            <a:fillRect/>
          </a:stretch>
        </p:blipFill>
        <p:spPr>
          <a:xfrm>
            <a:off x="3267075" y="1788807"/>
            <a:ext cx="5676900" cy="4392365"/>
          </a:xfrm>
          <a:prstGeom prst="rect">
            <a:avLst/>
          </a:prstGeom>
        </p:spPr>
      </p:pic>
      <p:sp>
        <p:nvSpPr>
          <p:cNvPr id="9" name="矩形 8"/>
          <p:cNvSpPr/>
          <p:nvPr/>
        </p:nvSpPr>
        <p:spPr>
          <a:xfrm>
            <a:off x="9505343" y="3113130"/>
            <a:ext cx="1715671" cy="923330"/>
          </a:xfrm>
          <a:prstGeom prst="rect">
            <a:avLst/>
          </a:prstGeom>
        </p:spPr>
        <p:txBody>
          <a:bodyPr wrap="square">
            <a:spAutoFit/>
          </a:bodyPr>
          <a:lstStyle/>
          <a:p>
            <a:r>
              <a:rPr lang="en-US" altLang="zh-HK" dirty="0"/>
              <a:t>Box plot for multiple variables</a:t>
            </a:r>
            <a:endParaRPr lang="zh-HK" altLang="en-US" dirty="0"/>
          </a:p>
        </p:txBody>
      </p:sp>
    </p:spTree>
    <p:extLst>
      <p:ext uri="{BB962C8B-B14F-4D97-AF65-F5344CB8AC3E}">
        <p14:creationId xmlns:p14="http://schemas.microsoft.com/office/powerpoint/2010/main" val="2806760410"/>
      </p:ext>
    </p:extLst>
  </p:cSld>
  <p:clrMapOvr>
    <a:masterClrMapping/>
  </p:clrMapOvr>
  <mc:AlternateContent xmlns:mc="http://schemas.openxmlformats.org/markup-compatibility/2006" xmlns:p14="http://schemas.microsoft.com/office/powerpoint/2010/main">
    <mc:Choice Requires="p14">
      <p:transition spd="slow" p14:dur="2000" advTm="30010"/>
    </mc:Choice>
    <mc:Fallback xmlns="">
      <p:transition spd="slow" advTm="30010"/>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2C39319-C3EB-463D-A73C-2DEA9D750625}"/>
              </a:ext>
            </a:extLst>
          </p:cNvPr>
          <p:cNvSpPr>
            <a:spLocks noGrp="1"/>
          </p:cNvSpPr>
          <p:nvPr>
            <p:ph type="title"/>
          </p:nvPr>
        </p:nvSpPr>
        <p:spPr/>
        <p:txBody>
          <a:bodyPr>
            <a:normAutofit/>
          </a:bodyPr>
          <a:lstStyle/>
          <a:p>
            <a:r>
              <a:rPr lang="en-US" altLang="zh-MO" sz="2800" dirty="0"/>
              <a:t> Introduction to Data Visualization Plots</a:t>
            </a:r>
            <a:endParaRPr lang="zh-MO" altLang="en-US" sz="2800" dirty="0"/>
          </a:p>
        </p:txBody>
      </p:sp>
      <p:sp>
        <p:nvSpPr>
          <p:cNvPr id="3" name="內容版面配置區 2">
            <a:extLst>
              <a:ext uri="{FF2B5EF4-FFF2-40B4-BE49-F238E27FC236}">
                <a16:creationId xmlns:a16="http://schemas.microsoft.com/office/drawing/2014/main" id="{72697A5A-2B81-4055-BE38-FBF0028B433F}"/>
              </a:ext>
            </a:extLst>
          </p:cNvPr>
          <p:cNvSpPr>
            <a:spLocks noGrp="1"/>
          </p:cNvSpPr>
          <p:nvPr>
            <p:ph idx="1"/>
          </p:nvPr>
        </p:nvSpPr>
        <p:spPr>
          <a:xfrm>
            <a:off x="958466" y="1825625"/>
            <a:ext cx="10513098" cy="4355546"/>
          </a:xfrm>
        </p:spPr>
        <p:txBody>
          <a:bodyPr anchor="ctr">
            <a:normAutofit lnSpcReduction="10000"/>
          </a:bodyPr>
          <a:lstStyle/>
          <a:p>
            <a:pPr marL="0" indent="0">
              <a:buNone/>
            </a:pPr>
            <a:r>
              <a:rPr lang="en-US" altLang="zh-MO" sz="2800" b="1" dirty="0">
                <a:solidFill>
                  <a:schemeClr val="accent4">
                    <a:lumMod val="75000"/>
                  </a:schemeClr>
                </a:solidFill>
              </a:rPr>
              <a:t>Part 5: Distribution Plots</a:t>
            </a:r>
          </a:p>
          <a:p>
            <a:pPr marL="0" indent="0">
              <a:buNone/>
            </a:pPr>
            <a:r>
              <a:rPr lang="en-US" altLang="zh-HK" sz="2800" b="1" dirty="0">
                <a:solidFill>
                  <a:srgbClr val="FF0000"/>
                </a:solidFill>
              </a:rPr>
              <a:t>Violin Plot </a:t>
            </a:r>
          </a:p>
          <a:p>
            <a:pPr marL="0" indent="0">
              <a:buNone/>
            </a:pPr>
            <a:r>
              <a:rPr lang="en-US" altLang="zh-HK" sz="2800" dirty="0"/>
              <a:t>Violin plots are a combination of box plots and density plots. Both the statistical measures and the distribution are visualized. The thick black bar in the center represents the interquartile range, while the thin black line corresponds to the whiskers in a box plot. The white dot indicates the median. On both sides of the centerline, the density is visualized.</a:t>
            </a:r>
          </a:p>
          <a:p>
            <a:pPr marL="0" indent="0">
              <a:buNone/>
            </a:pPr>
            <a:r>
              <a:rPr lang="en-US" sz="2800" b="1" dirty="0">
                <a:solidFill>
                  <a:schemeClr val="accent1"/>
                </a:solidFill>
              </a:rPr>
              <a:t>Use</a:t>
            </a:r>
          </a:p>
          <a:p>
            <a:r>
              <a:rPr lang="en-US" altLang="zh-HK" sz="2400" dirty="0"/>
              <a:t>Compare statistical measures and density for multiple variables or groups.</a:t>
            </a:r>
            <a:endParaRPr lang="en-US" sz="2600" dirty="0"/>
          </a:p>
        </p:txBody>
      </p:sp>
      <p:sp>
        <p:nvSpPr>
          <p:cNvPr id="4" name="頁尾版面配置區 3">
            <a:extLst>
              <a:ext uri="{FF2B5EF4-FFF2-40B4-BE49-F238E27FC236}">
                <a16:creationId xmlns:a16="http://schemas.microsoft.com/office/drawing/2014/main" id="{4321BB31-863C-434D-9921-ADDB9CBD49A3}"/>
              </a:ext>
            </a:extLst>
          </p:cNvPr>
          <p:cNvSpPr>
            <a:spLocks noGrp="1"/>
          </p:cNvSpPr>
          <p:nvPr>
            <p:ph type="ftr" sz="quarter" idx="11"/>
          </p:nvPr>
        </p:nvSpPr>
        <p:spPr/>
        <p:txBody>
          <a:bodyPr/>
          <a:lstStyle/>
          <a:p>
            <a:pPr algn="r"/>
            <a:fld id="{215E7548-F18C-4C4B-B96B-B6533EE29CBB}" type="slidenum">
              <a:rPr lang="en-US" altLang="zh-MO" smtClean="0"/>
              <a:pPr algn="r"/>
              <a:t>72</a:t>
            </a:fld>
            <a:endParaRPr lang="en-US" dirty="0"/>
          </a:p>
        </p:txBody>
      </p:sp>
      <p:sp>
        <p:nvSpPr>
          <p:cNvPr id="5" name="文字版面配置區 4">
            <a:extLst>
              <a:ext uri="{FF2B5EF4-FFF2-40B4-BE49-F238E27FC236}">
                <a16:creationId xmlns:a16="http://schemas.microsoft.com/office/drawing/2014/main" id="{96D96DA7-63BE-4A6D-918C-73A25183ECFD}"/>
              </a:ext>
            </a:extLst>
          </p:cNvPr>
          <p:cNvSpPr>
            <a:spLocks noGrp="1"/>
          </p:cNvSpPr>
          <p:nvPr>
            <p:ph type="body" sz="quarter" idx="13"/>
          </p:nvPr>
        </p:nvSpPr>
        <p:spPr>
          <a:xfrm>
            <a:off x="838200" y="676829"/>
            <a:ext cx="8667143" cy="639324"/>
          </a:xfrm>
        </p:spPr>
        <p:txBody>
          <a:bodyPr>
            <a:noAutofit/>
          </a:bodyPr>
          <a:lstStyle/>
          <a:p>
            <a:r>
              <a:rPr lang="en-US" altLang="zh-MO" sz="3200" dirty="0">
                <a:solidFill>
                  <a:srgbClr val="C00000"/>
                </a:solidFill>
              </a:rPr>
              <a:t>CISC7204 Data Science and Data Visualization</a:t>
            </a:r>
            <a:endParaRPr lang="zh-MO" altLang="en-US" sz="3200" dirty="0"/>
          </a:p>
        </p:txBody>
      </p:sp>
    </p:spTree>
    <p:extLst>
      <p:ext uri="{BB962C8B-B14F-4D97-AF65-F5344CB8AC3E}">
        <p14:creationId xmlns:p14="http://schemas.microsoft.com/office/powerpoint/2010/main" val="3397442508"/>
      </p:ext>
    </p:extLst>
  </p:cSld>
  <p:clrMapOvr>
    <a:masterClrMapping/>
  </p:clrMapOvr>
  <mc:AlternateContent xmlns:mc="http://schemas.openxmlformats.org/markup-compatibility/2006" xmlns:p14="http://schemas.microsoft.com/office/powerpoint/2010/main">
    <mc:Choice Requires="p14">
      <p:transition spd="slow" p14:dur="2000" advTm="30010"/>
    </mc:Choice>
    <mc:Fallback xmlns="">
      <p:transition spd="slow" advTm="30010"/>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2C39319-C3EB-463D-A73C-2DEA9D750625}"/>
              </a:ext>
            </a:extLst>
          </p:cNvPr>
          <p:cNvSpPr>
            <a:spLocks noGrp="1"/>
          </p:cNvSpPr>
          <p:nvPr>
            <p:ph type="title"/>
          </p:nvPr>
        </p:nvSpPr>
        <p:spPr/>
        <p:txBody>
          <a:bodyPr>
            <a:normAutofit/>
          </a:bodyPr>
          <a:lstStyle/>
          <a:p>
            <a:r>
              <a:rPr lang="en-US" altLang="zh-MO" sz="2800" dirty="0"/>
              <a:t> Introduction to Data Visualization Plots</a:t>
            </a:r>
            <a:endParaRPr lang="zh-MO" altLang="en-US" sz="2800" dirty="0"/>
          </a:p>
        </p:txBody>
      </p:sp>
      <p:sp>
        <p:nvSpPr>
          <p:cNvPr id="3" name="內容版面配置區 2">
            <a:extLst>
              <a:ext uri="{FF2B5EF4-FFF2-40B4-BE49-F238E27FC236}">
                <a16:creationId xmlns:a16="http://schemas.microsoft.com/office/drawing/2014/main" id="{72697A5A-2B81-4055-BE38-FBF0028B433F}"/>
              </a:ext>
            </a:extLst>
          </p:cNvPr>
          <p:cNvSpPr>
            <a:spLocks noGrp="1"/>
          </p:cNvSpPr>
          <p:nvPr>
            <p:ph idx="1"/>
          </p:nvPr>
        </p:nvSpPr>
        <p:spPr>
          <a:xfrm>
            <a:off x="958466" y="1825625"/>
            <a:ext cx="1770447" cy="4355546"/>
          </a:xfrm>
        </p:spPr>
        <p:txBody>
          <a:bodyPr anchor="ctr">
            <a:normAutofit/>
          </a:bodyPr>
          <a:lstStyle/>
          <a:p>
            <a:pPr marL="0" indent="0">
              <a:buNone/>
            </a:pPr>
            <a:r>
              <a:rPr lang="en-US" altLang="zh-MO" sz="2200" b="1" dirty="0">
                <a:solidFill>
                  <a:schemeClr val="accent4">
                    <a:lumMod val="75000"/>
                  </a:schemeClr>
                </a:solidFill>
              </a:rPr>
              <a:t>Part 5: Distribution Plots</a:t>
            </a:r>
          </a:p>
          <a:p>
            <a:pPr marL="0" indent="0">
              <a:buNone/>
            </a:pPr>
            <a:r>
              <a:rPr lang="en-US" altLang="zh-HK" sz="1800" b="1" dirty="0">
                <a:solidFill>
                  <a:srgbClr val="FF0000"/>
                </a:solidFill>
              </a:rPr>
              <a:t>Violin Plot </a:t>
            </a:r>
          </a:p>
          <a:p>
            <a:pPr marL="0" indent="0">
              <a:buNone/>
            </a:pPr>
            <a:r>
              <a:rPr lang="en-US" altLang="zh-HK" sz="1800" b="1" dirty="0">
                <a:solidFill>
                  <a:schemeClr val="accent1"/>
                </a:solidFill>
              </a:rPr>
              <a:t>Example</a:t>
            </a:r>
          </a:p>
          <a:p>
            <a:pPr marL="0" indent="0">
              <a:buNone/>
            </a:pPr>
            <a:r>
              <a:rPr lang="en-US" altLang="zh-HK" sz="1800" dirty="0"/>
              <a:t>The following diagram shows a violin plot for a single variable and shows how students have performed in </a:t>
            </a:r>
            <a:r>
              <a:rPr lang="en-US" altLang="zh-HK" sz="1800" b="1" dirty="0"/>
              <a:t>Math</a:t>
            </a:r>
            <a:r>
              <a:rPr lang="en-US" altLang="zh-HK" sz="1800" dirty="0"/>
              <a:t>:</a:t>
            </a:r>
            <a:endParaRPr lang="en-US" sz="1800" dirty="0"/>
          </a:p>
        </p:txBody>
      </p:sp>
      <p:sp>
        <p:nvSpPr>
          <p:cNvPr id="4" name="頁尾版面配置區 3">
            <a:extLst>
              <a:ext uri="{FF2B5EF4-FFF2-40B4-BE49-F238E27FC236}">
                <a16:creationId xmlns:a16="http://schemas.microsoft.com/office/drawing/2014/main" id="{4321BB31-863C-434D-9921-ADDB9CBD49A3}"/>
              </a:ext>
            </a:extLst>
          </p:cNvPr>
          <p:cNvSpPr>
            <a:spLocks noGrp="1"/>
          </p:cNvSpPr>
          <p:nvPr>
            <p:ph type="ftr" sz="quarter" idx="11"/>
          </p:nvPr>
        </p:nvSpPr>
        <p:spPr/>
        <p:txBody>
          <a:bodyPr/>
          <a:lstStyle/>
          <a:p>
            <a:pPr algn="r"/>
            <a:fld id="{215E7548-F18C-4C4B-B96B-B6533EE29CBB}" type="slidenum">
              <a:rPr lang="en-US" altLang="zh-MO" smtClean="0"/>
              <a:pPr algn="r"/>
              <a:t>73</a:t>
            </a:fld>
            <a:endParaRPr lang="en-US" dirty="0"/>
          </a:p>
        </p:txBody>
      </p:sp>
      <p:sp>
        <p:nvSpPr>
          <p:cNvPr id="5" name="文字版面配置區 4">
            <a:extLst>
              <a:ext uri="{FF2B5EF4-FFF2-40B4-BE49-F238E27FC236}">
                <a16:creationId xmlns:a16="http://schemas.microsoft.com/office/drawing/2014/main" id="{96D96DA7-63BE-4A6D-918C-73A25183ECFD}"/>
              </a:ext>
            </a:extLst>
          </p:cNvPr>
          <p:cNvSpPr>
            <a:spLocks noGrp="1"/>
          </p:cNvSpPr>
          <p:nvPr>
            <p:ph type="body" sz="quarter" idx="13"/>
          </p:nvPr>
        </p:nvSpPr>
        <p:spPr>
          <a:xfrm>
            <a:off x="838200" y="676829"/>
            <a:ext cx="8667143" cy="639324"/>
          </a:xfrm>
        </p:spPr>
        <p:txBody>
          <a:bodyPr>
            <a:noAutofit/>
          </a:bodyPr>
          <a:lstStyle/>
          <a:p>
            <a:r>
              <a:rPr lang="en-US" altLang="zh-MO" sz="3200" dirty="0">
                <a:solidFill>
                  <a:srgbClr val="C00000"/>
                </a:solidFill>
              </a:rPr>
              <a:t>CISC7204 Data Science and Data Visualization</a:t>
            </a:r>
            <a:endParaRPr lang="zh-MO" altLang="en-US" sz="3200" dirty="0"/>
          </a:p>
        </p:txBody>
      </p:sp>
      <p:pic>
        <p:nvPicPr>
          <p:cNvPr id="6" name="圖片 5"/>
          <p:cNvPicPr>
            <a:picLocks noChangeAspect="1"/>
          </p:cNvPicPr>
          <p:nvPr/>
        </p:nvPicPr>
        <p:blipFill>
          <a:blip r:embed="rId2"/>
          <a:stretch>
            <a:fillRect/>
          </a:stretch>
        </p:blipFill>
        <p:spPr>
          <a:xfrm>
            <a:off x="3348037" y="1825626"/>
            <a:ext cx="5481638" cy="4355546"/>
          </a:xfrm>
          <a:prstGeom prst="rect">
            <a:avLst/>
          </a:prstGeom>
        </p:spPr>
      </p:pic>
      <p:sp>
        <p:nvSpPr>
          <p:cNvPr id="7" name="矩形 6"/>
          <p:cNvSpPr/>
          <p:nvPr/>
        </p:nvSpPr>
        <p:spPr>
          <a:xfrm>
            <a:off x="8943671" y="1992065"/>
            <a:ext cx="2007699" cy="923330"/>
          </a:xfrm>
          <a:prstGeom prst="rect">
            <a:avLst/>
          </a:prstGeom>
        </p:spPr>
        <p:txBody>
          <a:bodyPr wrap="square">
            <a:spAutoFit/>
          </a:bodyPr>
          <a:lstStyle/>
          <a:p>
            <a:r>
              <a:rPr lang="en-US" altLang="zh-HK" dirty="0"/>
              <a:t>Violin plot for a single variable (Math)</a:t>
            </a:r>
            <a:endParaRPr lang="zh-HK" altLang="en-US" dirty="0"/>
          </a:p>
        </p:txBody>
      </p:sp>
      <p:sp>
        <p:nvSpPr>
          <p:cNvPr id="8" name="矩形 7"/>
          <p:cNvSpPr/>
          <p:nvPr/>
        </p:nvSpPr>
        <p:spPr>
          <a:xfrm>
            <a:off x="8837032" y="4180652"/>
            <a:ext cx="2921581" cy="1200329"/>
          </a:xfrm>
          <a:prstGeom prst="rect">
            <a:avLst/>
          </a:prstGeom>
        </p:spPr>
        <p:txBody>
          <a:bodyPr wrap="square">
            <a:spAutoFit/>
          </a:bodyPr>
          <a:lstStyle/>
          <a:p>
            <a:r>
              <a:rPr lang="en-US" altLang="zh-HK" dirty="0"/>
              <a:t>From the diagram, we can analyze that most of the students have scored around 40-60 in the Math test.</a:t>
            </a:r>
            <a:endParaRPr lang="zh-HK" altLang="en-US" dirty="0"/>
          </a:p>
        </p:txBody>
      </p:sp>
    </p:spTree>
    <p:extLst>
      <p:ext uri="{BB962C8B-B14F-4D97-AF65-F5344CB8AC3E}">
        <p14:creationId xmlns:p14="http://schemas.microsoft.com/office/powerpoint/2010/main" val="1203286310"/>
      </p:ext>
    </p:extLst>
  </p:cSld>
  <p:clrMapOvr>
    <a:masterClrMapping/>
  </p:clrMapOvr>
  <mc:AlternateContent xmlns:mc="http://schemas.openxmlformats.org/markup-compatibility/2006" xmlns:p14="http://schemas.microsoft.com/office/powerpoint/2010/main">
    <mc:Choice Requires="p14">
      <p:transition spd="slow" p14:dur="2000" advTm="30010"/>
    </mc:Choice>
    <mc:Fallback xmlns="">
      <p:transition spd="slow" advTm="30010"/>
    </mc:Fallback>
  </mc:AlternateContent>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2C39319-C3EB-463D-A73C-2DEA9D750625}"/>
              </a:ext>
            </a:extLst>
          </p:cNvPr>
          <p:cNvSpPr>
            <a:spLocks noGrp="1"/>
          </p:cNvSpPr>
          <p:nvPr>
            <p:ph type="title"/>
          </p:nvPr>
        </p:nvSpPr>
        <p:spPr/>
        <p:txBody>
          <a:bodyPr>
            <a:normAutofit/>
          </a:bodyPr>
          <a:lstStyle/>
          <a:p>
            <a:r>
              <a:rPr lang="en-US" altLang="zh-MO" sz="2800" dirty="0"/>
              <a:t> Introduction to Data Visualization Plots</a:t>
            </a:r>
            <a:endParaRPr lang="zh-MO" altLang="en-US" sz="2800" dirty="0"/>
          </a:p>
        </p:txBody>
      </p:sp>
      <p:sp>
        <p:nvSpPr>
          <p:cNvPr id="3" name="內容版面配置區 2">
            <a:extLst>
              <a:ext uri="{FF2B5EF4-FFF2-40B4-BE49-F238E27FC236}">
                <a16:creationId xmlns:a16="http://schemas.microsoft.com/office/drawing/2014/main" id="{72697A5A-2B81-4055-BE38-FBF0028B433F}"/>
              </a:ext>
            </a:extLst>
          </p:cNvPr>
          <p:cNvSpPr>
            <a:spLocks noGrp="1"/>
          </p:cNvSpPr>
          <p:nvPr>
            <p:ph idx="1"/>
          </p:nvPr>
        </p:nvSpPr>
        <p:spPr>
          <a:xfrm>
            <a:off x="958466" y="1825625"/>
            <a:ext cx="1770447" cy="4355546"/>
          </a:xfrm>
        </p:spPr>
        <p:txBody>
          <a:bodyPr anchor="ctr">
            <a:normAutofit/>
          </a:bodyPr>
          <a:lstStyle/>
          <a:p>
            <a:pPr marL="0" indent="0">
              <a:buNone/>
            </a:pPr>
            <a:r>
              <a:rPr lang="en-US" altLang="zh-MO" sz="2200" b="1" dirty="0">
                <a:solidFill>
                  <a:schemeClr val="accent4">
                    <a:lumMod val="75000"/>
                  </a:schemeClr>
                </a:solidFill>
              </a:rPr>
              <a:t>Part 5: Distribution Plots</a:t>
            </a:r>
          </a:p>
          <a:p>
            <a:pPr marL="0" indent="0">
              <a:buNone/>
            </a:pPr>
            <a:r>
              <a:rPr lang="en-US" altLang="zh-HK" sz="1800" b="1" dirty="0">
                <a:solidFill>
                  <a:srgbClr val="FF0000"/>
                </a:solidFill>
              </a:rPr>
              <a:t>Violin Plot </a:t>
            </a:r>
          </a:p>
          <a:p>
            <a:pPr marL="0" indent="0">
              <a:buNone/>
            </a:pPr>
            <a:r>
              <a:rPr lang="en-US" altLang="zh-HK" sz="1800" b="1" dirty="0">
                <a:solidFill>
                  <a:schemeClr val="accent1"/>
                </a:solidFill>
              </a:rPr>
              <a:t>Example</a:t>
            </a:r>
          </a:p>
          <a:p>
            <a:pPr marL="0" indent="0">
              <a:buNone/>
            </a:pPr>
            <a:r>
              <a:rPr lang="en-US" altLang="zh-HK" sz="1800" dirty="0"/>
              <a:t>The diagram shows a violin plot for two variables and shows the performance of students in English and Math:</a:t>
            </a:r>
            <a:endParaRPr lang="en-US" sz="1800" dirty="0"/>
          </a:p>
        </p:txBody>
      </p:sp>
      <p:sp>
        <p:nvSpPr>
          <p:cNvPr id="4" name="頁尾版面配置區 3">
            <a:extLst>
              <a:ext uri="{FF2B5EF4-FFF2-40B4-BE49-F238E27FC236}">
                <a16:creationId xmlns:a16="http://schemas.microsoft.com/office/drawing/2014/main" id="{4321BB31-863C-434D-9921-ADDB9CBD49A3}"/>
              </a:ext>
            </a:extLst>
          </p:cNvPr>
          <p:cNvSpPr>
            <a:spLocks noGrp="1"/>
          </p:cNvSpPr>
          <p:nvPr>
            <p:ph type="ftr" sz="quarter" idx="11"/>
          </p:nvPr>
        </p:nvSpPr>
        <p:spPr/>
        <p:txBody>
          <a:bodyPr/>
          <a:lstStyle/>
          <a:p>
            <a:pPr algn="r"/>
            <a:fld id="{215E7548-F18C-4C4B-B96B-B6533EE29CBB}" type="slidenum">
              <a:rPr lang="en-US" altLang="zh-MO" smtClean="0"/>
              <a:pPr algn="r"/>
              <a:t>74</a:t>
            </a:fld>
            <a:endParaRPr lang="en-US" dirty="0"/>
          </a:p>
        </p:txBody>
      </p:sp>
      <p:sp>
        <p:nvSpPr>
          <p:cNvPr id="5" name="文字版面配置區 4">
            <a:extLst>
              <a:ext uri="{FF2B5EF4-FFF2-40B4-BE49-F238E27FC236}">
                <a16:creationId xmlns:a16="http://schemas.microsoft.com/office/drawing/2014/main" id="{96D96DA7-63BE-4A6D-918C-73A25183ECFD}"/>
              </a:ext>
            </a:extLst>
          </p:cNvPr>
          <p:cNvSpPr>
            <a:spLocks noGrp="1"/>
          </p:cNvSpPr>
          <p:nvPr>
            <p:ph type="body" sz="quarter" idx="13"/>
          </p:nvPr>
        </p:nvSpPr>
        <p:spPr>
          <a:xfrm>
            <a:off x="838200" y="676829"/>
            <a:ext cx="8667143" cy="639324"/>
          </a:xfrm>
        </p:spPr>
        <p:txBody>
          <a:bodyPr>
            <a:noAutofit/>
          </a:bodyPr>
          <a:lstStyle/>
          <a:p>
            <a:r>
              <a:rPr lang="en-US" altLang="zh-MO" sz="3200" dirty="0">
                <a:solidFill>
                  <a:srgbClr val="C00000"/>
                </a:solidFill>
              </a:rPr>
              <a:t>CISC7204 Data Science and Data Visualization</a:t>
            </a:r>
            <a:endParaRPr lang="zh-MO" altLang="en-US" sz="3200" dirty="0"/>
          </a:p>
        </p:txBody>
      </p:sp>
      <p:pic>
        <p:nvPicPr>
          <p:cNvPr id="9" name="圖片 8"/>
          <p:cNvPicPr>
            <a:picLocks noChangeAspect="1"/>
          </p:cNvPicPr>
          <p:nvPr/>
        </p:nvPicPr>
        <p:blipFill>
          <a:blip r:embed="rId2"/>
          <a:stretch>
            <a:fillRect/>
          </a:stretch>
        </p:blipFill>
        <p:spPr>
          <a:xfrm>
            <a:off x="3086100" y="1788807"/>
            <a:ext cx="5815013" cy="4355546"/>
          </a:xfrm>
          <a:prstGeom prst="rect">
            <a:avLst/>
          </a:prstGeom>
        </p:spPr>
      </p:pic>
      <p:sp>
        <p:nvSpPr>
          <p:cNvPr id="10" name="矩形 9"/>
          <p:cNvSpPr/>
          <p:nvPr/>
        </p:nvSpPr>
        <p:spPr>
          <a:xfrm>
            <a:off x="8950401" y="2073831"/>
            <a:ext cx="2196120" cy="923330"/>
          </a:xfrm>
          <a:prstGeom prst="rect">
            <a:avLst/>
          </a:prstGeom>
        </p:spPr>
        <p:txBody>
          <a:bodyPr wrap="square">
            <a:spAutoFit/>
          </a:bodyPr>
          <a:lstStyle/>
          <a:p>
            <a:r>
              <a:rPr lang="en-US" altLang="zh-HK" dirty="0"/>
              <a:t>Violin plot for multiple variables (English and Math)</a:t>
            </a:r>
            <a:endParaRPr lang="zh-HK" altLang="en-US" dirty="0"/>
          </a:p>
        </p:txBody>
      </p:sp>
      <p:sp>
        <p:nvSpPr>
          <p:cNvPr id="11" name="矩形 10"/>
          <p:cNvSpPr/>
          <p:nvPr/>
        </p:nvSpPr>
        <p:spPr>
          <a:xfrm>
            <a:off x="8901113" y="3715667"/>
            <a:ext cx="2773743" cy="2031325"/>
          </a:xfrm>
          <a:prstGeom prst="rect">
            <a:avLst/>
          </a:prstGeom>
        </p:spPr>
        <p:txBody>
          <a:bodyPr wrap="square">
            <a:spAutoFit/>
          </a:bodyPr>
          <a:lstStyle/>
          <a:p>
            <a:r>
              <a:rPr lang="en-US" altLang="zh-HK" dirty="0"/>
              <a:t>From the preceding diagram, we can say that on average, the students have scored more in English than in Math, but the highest score was secured in English.</a:t>
            </a:r>
            <a:endParaRPr lang="zh-HK" altLang="en-US" dirty="0"/>
          </a:p>
        </p:txBody>
      </p:sp>
    </p:spTree>
    <p:extLst>
      <p:ext uri="{BB962C8B-B14F-4D97-AF65-F5344CB8AC3E}">
        <p14:creationId xmlns:p14="http://schemas.microsoft.com/office/powerpoint/2010/main" val="3902341120"/>
      </p:ext>
    </p:extLst>
  </p:cSld>
  <p:clrMapOvr>
    <a:masterClrMapping/>
  </p:clrMapOvr>
  <mc:AlternateContent xmlns:mc="http://schemas.openxmlformats.org/markup-compatibility/2006" xmlns:p14="http://schemas.microsoft.com/office/powerpoint/2010/main">
    <mc:Choice Requires="p14">
      <p:transition spd="slow" p14:dur="2000" advTm="30010"/>
    </mc:Choice>
    <mc:Fallback xmlns="">
      <p:transition spd="slow" advTm="30010"/>
    </mc:Fallback>
  </mc:AlternateContent>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2C39319-C3EB-463D-A73C-2DEA9D750625}"/>
              </a:ext>
            </a:extLst>
          </p:cNvPr>
          <p:cNvSpPr>
            <a:spLocks noGrp="1"/>
          </p:cNvSpPr>
          <p:nvPr>
            <p:ph type="title"/>
          </p:nvPr>
        </p:nvSpPr>
        <p:spPr/>
        <p:txBody>
          <a:bodyPr>
            <a:normAutofit/>
          </a:bodyPr>
          <a:lstStyle/>
          <a:p>
            <a:r>
              <a:rPr lang="en-US" altLang="zh-MO" sz="2800" dirty="0"/>
              <a:t> Introduction to Data Visualization Plots</a:t>
            </a:r>
            <a:endParaRPr lang="zh-MO" altLang="en-US" sz="2800" dirty="0"/>
          </a:p>
        </p:txBody>
      </p:sp>
      <p:sp>
        <p:nvSpPr>
          <p:cNvPr id="3" name="內容版面配置區 2">
            <a:extLst>
              <a:ext uri="{FF2B5EF4-FFF2-40B4-BE49-F238E27FC236}">
                <a16:creationId xmlns:a16="http://schemas.microsoft.com/office/drawing/2014/main" id="{72697A5A-2B81-4055-BE38-FBF0028B433F}"/>
              </a:ext>
            </a:extLst>
          </p:cNvPr>
          <p:cNvSpPr>
            <a:spLocks noGrp="1"/>
          </p:cNvSpPr>
          <p:nvPr>
            <p:ph idx="1"/>
          </p:nvPr>
        </p:nvSpPr>
        <p:spPr>
          <a:xfrm>
            <a:off x="958466" y="1825625"/>
            <a:ext cx="1770447" cy="4355546"/>
          </a:xfrm>
        </p:spPr>
        <p:txBody>
          <a:bodyPr anchor="ctr">
            <a:normAutofit fontScale="92500" lnSpcReduction="10000"/>
          </a:bodyPr>
          <a:lstStyle/>
          <a:p>
            <a:pPr marL="0" indent="0">
              <a:buNone/>
            </a:pPr>
            <a:r>
              <a:rPr lang="en-US" altLang="zh-MO" sz="2200" b="1" dirty="0">
                <a:solidFill>
                  <a:schemeClr val="accent4">
                    <a:lumMod val="75000"/>
                  </a:schemeClr>
                </a:solidFill>
              </a:rPr>
              <a:t>Part 5: Distribution Plots</a:t>
            </a:r>
          </a:p>
          <a:p>
            <a:pPr marL="0" indent="0">
              <a:buNone/>
            </a:pPr>
            <a:r>
              <a:rPr lang="en-US" altLang="zh-HK" sz="1800" b="1" dirty="0">
                <a:solidFill>
                  <a:srgbClr val="FF0000"/>
                </a:solidFill>
              </a:rPr>
              <a:t>Violin Plot </a:t>
            </a:r>
          </a:p>
          <a:p>
            <a:pPr marL="0" indent="0">
              <a:buNone/>
            </a:pPr>
            <a:r>
              <a:rPr lang="en-US" altLang="zh-HK" sz="1800" b="1" dirty="0">
                <a:solidFill>
                  <a:schemeClr val="accent1"/>
                </a:solidFill>
              </a:rPr>
              <a:t>Example</a:t>
            </a:r>
          </a:p>
          <a:p>
            <a:pPr marL="0" indent="0">
              <a:buNone/>
            </a:pPr>
            <a:r>
              <a:rPr lang="en-US" altLang="zh-HK" sz="1800" dirty="0"/>
              <a:t>The diagram shows a violin plot for a single variable divided into three groups, and shows the performance of three divisions of students in English based on their score:</a:t>
            </a:r>
            <a:endParaRPr lang="en-US" sz="1800" dirty="0"/>
          </a:p>
        </p:txBody>
      </p:sp>
      <p:sp>
        <p:nvSpPr>
          <p:cNvPr id="4" name="頁尾版面配置區 3">
            <a:extLst>
              <a:ext uri="{FF2B5EF4-FFF2-40B4-BE49-F238E27FC236}">
                <a16:creationId xmlns:a16="http://schemas.microsoft.com/office/drawing/2014/main" id="{4321BB31-863C-434D-9921-ADDB9CBD49A3}"/>
              </a:ext>
            </a:extLst>
          </p:cNvPr>
          <p:cNvSpPr>
            <a:spLocks noGrp="1"/>
          </p:cNvSpPr>
          <p:nvPr>
            <p:ph type="ftr" sz="quarter" idx="11"/>
          </p:nvPr>
        </p:nvSpPr>
        <p:spPr/>
        <p:txBody>
          <a:bodyPr/>
          <a:lstStyle/>
          <a:p>
            <a:pPr algn="r"/>
            <a:fld id="{215E7548-F18C-4C4B-B96B-B6533EE29CBB}" type="slidenum">
              <a:rPr lang="en-US" altLang="zh-MO" smtClean="0"/>
              <a:pPr algn="r"/>
              <a:t>75</a:t>
            </a:fld>
            <a:endParaRPr lang="en-US" dirty="0"/>
          </a:p>
        </p:txBody>
      </p:sp>
      <p:sp>
        <p:nvSpPr>
          <p:cNvPr id="5" name="文字版面配置區 4">
            <a:extLst>
              <a:ext uri="{FF2B5EF4-FFF2-40B4-BE49-F238E27FC236}">
                <a16:creationId xmlns:a16="http://schemas.microsoft.com/office/drawing/2014/main" id="{96D96DA7-63BE-4A6D-918C-73A25183ECFD}"/>
              </a:ext>
            </a:extLst>
          </p:cNvPr>
          <p:cNvSpPr>
            <a:spLocks noGrp="1"/>
          </p:cNvSpPr>
          <p:nvPr>
            <p:ph type="body" sz="quarter" idx="13"/>
          </p:nvPr>
        </p:nvSpPr>
        <p:spPr>
          <a:xfrm>
            <a:off x="838200" y="676829"/>
            <a:ext cx="8667143" cy="639324"/>
          </a:xfrm>
        </p:spPr>
        <p:txBody>
          <a:bodyPr>
            <a:noAutofit/>
          </a:bodyPr>
          <a:lstStyle/>
          <a:p>
            <a:r>
              <a:rPr lang="en-US" altLang="zh-MO" sz="3200" dirty="0">
                <a:solidFill>
                  <a:srgbClr val="C00000"/>
                </a:solidFill>
              </a:rPr>
              <a:t>CISC7204 Data Science and Data Visualization</a:t>
            </a:r>
            <a:endParaRPr lang="zh-MO" altLang="en-US" sz="3200" dirty="0"/>
          </a:p>
        </p:txBody>
      </p:sp>
      <p:pic>
        <p:nvPicPr>
          <p:cNvPr id="6" name="圖片 5"/>
          <p:cNvPicPr>
            <a:picLocks noChangeAspect="1"/>
          </p:cNvPicPr>
          <p:nvPr/>
        </p:nvPicPr>
        <p:blipFill>
          <a:blip r:embed="rId2"/>
          <a:stretch>
            <a:fillRect/>
          </a:stretch>
        </p:blipFill>
        <p:spPr>
          <a:xfrm>
            <a:off x="3219450" y="1892897"/>
            <a:ext cx="5353050" cy="4288273"/>
          </a:xfrm>
          <a:prstGeom prst="rect">
            <a:avLst/>
          </a:prstGeom>
        </p:spPr>
      </p:pic>
      <p:sp>
        <p:nvSpPr>
          <p:cNvPr id="7" name="矩形 6"/>
          <p:cNvSpPr/>
          <p:nvPr/>
        </p:nvSpPr>
        <p:spPr>
          <a:xfrm>
            <a:off x="8801416" y="2073651"/>
            <a:ext cx="2271397" cy="1200329"/>
          </a:xfrm>
          <a:prstGeom prst="rect">
            <a:avLst/>
          </a:prstGeom>
        </p:spPr>
        <p:txBody>
          <a:bodyPr wrap="square">
            <a:spAutoFit/>
          </a:bodyPr>
          <a:lstStyle/>
          <a:p>
            <a:r>
              <a:rPr lang="en-US" altLang="zh-HK" dirty="0"/>
              <a:t>Violin plot with multiple categories (three groups of students)</a:t>
            </a:r>
            <a:endParaRPr lang="zh-HK" altLang="en-US" dirty="0"/>
          </a:p>
        </p:txBody>
      </p:sp>
      <p:sp>
        <p:nvSpPr>
          <p:cNvPr id="8" name="矩形 7"/>
          <p:cNvSpPr/>
          <p:nvPr/>
        </p:nvSpPr>
        <p:spPr>
          <a:xfrm>
            <a:off x="8801416" y="3475043"/>
            <a:ext cx="2709863" cy="2308324"/>
          </a:xfrm>
          <a:prstGeom prst="rect">
            <a:avLst/>
          </a:prstGeom>
        </p:spPr>
        <p:txBody>
          <a:bodyPr wrap="square">
            <a:spAutoFit/>
          </a:bodyPr>
          <a:lstStyle/>
          <a:p>
            <a:r>
              <a:rPr lang="en-US" altLang="zh-HK" dirty="0"/>
              <a:t>From the preceding diagram, we can note that on average, division C has scored the highest, division B has scored the lowest, and division A is, on average, in between divisions B and C.</a:t>
            </a:r>
            <a:endParaRPr lang="zh-HK" altLang="en-US" dirty="0"/>
          </a:p>
        </p:txBody>
      </p:sp>
    </p:spTree>
    <p:extLst>
      <p:ext uri="{BB962C8B-B14F-4D97-AF65-F5344CB8AC3E}">
        <p14:creationId xmlns:p14="http://schemas.microsoft.com/office/powerpoint/2010/main" val="4046862241"/>
      </p:ext>
    </p:extLst>
  </p:cSld>
  <p:clrMapOvr>
    <a:masterClrMapping/>
  </p:clrMapOvr>
  <mc:AlternateContent xmlns:mc="http://schemas.openxmlformats.org/markup-compatibility/2006" xmlns:p14="http://schemas.microsoft.com/office/powerpoint/2010/main">
    <mc:Choice Requires="p14">
      <p:transition spd="slow" p14:dur="2000" advTm="30010"/>
    </mc:Choice>
    <mc:Fallback xmlns="">
      <p:transition spd="slow" advTm="30010"/>
    </mc:Fallback>
  </mc:AlternateContent>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2C39319-C3EB-463D-A73C-2DEA9D750625}"/>
              </a:ext>
            </a:extLst>
          </p:cNvPr>
          <p:cNvSpPr>
            <a:spLocks noGrp="1"/>
          </p:cNvSpPr>
          <p:nvPr>
            <p:ph type="title"/>
          </p:nvPr>
        </p:nvSpPr>
        <p:spPr/>
        <p:txBody>
          <a:bodyPr>
            <a:normAutofit/>
          </a:bodyPr>
          <a:lstStyle/>
          <a:p>
            <a:r>
              <a:rPr lang="en-US" altLang="zh-MO" sz="2800" dirty="0"/>
              <a:t> Introduction to Data Visualization Plots</a:t>
            </a:r>
            <a:endParaRPr lang="zh-MO" altLang="en-US" sz="2800" dirty="0"/>
          </a:p>
        </p:txBody>
      </p:sp>
      <p:sp>
        <p:nvSpPr>
          <p:cNvPr id="3" name="內容版面配置區 2">
            <a:extLst>
              <a:ext uri="{FF2B5EF4-FFF2-40B4-BE49-F238E27FC236}">
                <a16:creationId xmlns:a16="http://schemas.microsoft.com/office/drawing/2014/main" id="{72697A5A-2B81-4055-BE38-FBF0028B433F}"/>
              </a:ext>
            </a:extLst>
          </p:cNvPr>
          <p:cNvSpPr>
            <a:spLocks noGrp="1"/>
          </p:cNvSpPr>
          <p:nvPr>
            <p:ph idx="1"/>
          </p:nvPr>
        </p:nvSpPr>
        <p:spPr>
          <a:xfrm>
            <a:off x="958466" y="1825625"/>
            <a:ext cx="10513098" cy="4355546"/>
          </a:xfrm>
        </p:spPr>
        <p:txBody>
          <a:bodyPr anchor="ctr">
            <a:normAutofit/>
          </a:bodyPr>
          <a:lstStyle/>
          <a:p>
            <a:pPr marL="0" indent="0">
              <a:buNone/>
            </a:pPr>
            <a:r>
              <a:rPr lang="en-US" altLang="zh-MO" sz="2800" b="1" dirty="0">
                <a:solidFill>
                  <a:schemeClr val="accent4">
                    <a:lumMod val="75000"/>
                  </a:schemeClr>
                </a:solidFill>
              </a:rPr>
              <a:t>Part 5: Distribution Plots</a:t>
            </a:r>
          </a:p>
          <a:p>
            <a:pPr marL="0" indent="0">
              <a:buNone/>
            </a:pPr>
            <a:r>
              <a:rPr lang="en-US" altLang="zh-HK" sz="2800" b="1" dirty="0">
                <a:solidFill>
                  <a:srgbClr val="FF0000"/>
                </a:solidFill>
              </a:rPr>
              <a:t>Violin Plot – </a:t>
            </a:r>
            <a:r>
              <a:rPr lang="en-US" altLang="zh-HK" sz="2800" b="1" dirty="0">
                <a:solidFill>
                  <a:schemeClr val="accent1"/>
                </a:solidFill>
              </a:rPr>
              <a:t>Design Practice</a:t>
            </a:r>
          </a:p>
          <a:p>
            <a:r>
              <a:rPr lang="en-US" altLang="zh-HK" sz="2800" dirty="0"/>
              <a:t>Scale the axes accordingly so that the distribution is clearly visible and not flat.</a:t>
            </a:r>
            <a:endParaRPr lang="en-US" sz="2600" dirty="0"/>
          </a:p>
        </p:txBody>
      </p:sp>
      <p:sp>
        <p:nvSpPr>
          <p:cNvPr id="4" name="頁尾版面配置區 3">
            <a:extLst>
              <a:ext uri="{FF2B5EF4-FFF2-40B4-BE49-F238E27FC236}">
                <a16:creationId xmlns:a16="http://schemas.microsoft.com/office/drawing/2014/main" id="{4321BB31-863C-434D-9921-ADDB9CBD49A3}"/>
              </a:ext>
            </a:extLst>
          </p:cNvPr>
          <p:cNvSpPr>
            <a:spLocks noGrp="1"/>
          </p:cNvSpPr>
          <p:nvPr>
            <p:ph type="ftr" sz="quarter" idx="11"/>
          </p:nvPr>
        </p:nvSpPr>
        <p:spPr/>
        <p:txBody>
          <a:bodyPr/>
          <a:lstStyle/>
          <a:p>
            <a:pPr algn="r"/>
            <a:fld id="{215E7548-F18C-4C4B-B96B-B6533EE29CBB}" type="slidenum">
              <a:rPr lang="en-US" altLang="zh-MO" smtClean="0"/>
              <a:pPr algn="r"/>
              <a:t>76</a:t>
            </a:fld>
            <a:endParaRPr lang="en-US" dirty="0"/>
          </a:p>
        </p:txBody>
      </p:sp>
      <p:sp>
        <p:nvSpPr>
          <p:cNvPr id="5" name="文字版面配置區 4">
            <a:extLst>
              <a:ext uri="{FF2B5EF4-FFF2-40B4-BE49-F238E27FC236}">
                <a16:creationId xmlns:a16="http://schemas.microsoft.com/office/drawing/2014/main" id="{96D96DA7-63BE-4A6D-918C-73A25183ECFD}"/>
              </a:ext>
            </a:extLst>
          </p:cNvPr>
          <p:cNvSpPr>
            <a:spLocks noGrp="1"/>
          </p:cNvSpPr>
          <p:nvPr>
            <p:ph type="body" sz="quarter" idx="13"/>
          </p:nvPr>
        </p:nvSpPr>
        <p:spPr>
          <a:xfrm>
            <a:off x="838200" y="676829"/>
            <a:ext cx="8667143" cy="639324"/>
          </a:xfrm>
        </p:spPr>
        <p:txBody>
          <a:bodyPr>
            <a:noAutofit/>
          </a:bodyPr>
          <a:lstStyle/>
          <a:p>
            <a:r>
              <a:rPr lang="en-US" altLang="zh-MO" sz="3200" dirty="0">
                <a:solidFill>
                  <a:srgbClr val="C00000"/>
                </a:solidFill>
              </a:rPr>
              <a:t>CISC7204 Data Science and Data Visualization</a:t>
            </a:r>
            <a:endParaRPr lang="zh-MO" altLang="en-US" sz="3200" dirty="0"/>
          </a:p>
        </p:txBody>
      </p:sp>
    </p:spTree>
    <p:extLst>
      <p:ext uri="{BB962C8B-B14F-4D97-AF65-F5344CB8AC3E}">
        <p14:creationId xmlns:p14="http://schemas.microsoft.com/office/powerpoint/2010/main" val="2143225652"/>
      </p:ext>
    </p:extLst>
  </p:cSld>
  <p:clrMapOvr>
    <a:masterClrMapping/>
  </p:clrMapOvr>
  <mc:AlternateContent xmlns:mc="http://schemas.openxmlformats.org/markup-compatibility/2006" xmlns:p14="http://schemas.microsoft.com/office/powerpoint/2010/main">
    <mc:Choice Requires="p14">
      <p:transition spd="slow" p14:dur="2000" advTm="30010"/>
    </mc:Choice>
    <mc:Fallback xmlns="">
      <p:transition spd="slow" advTm="30010"/>
    </mc:Fallback>
  </mc:AlternateContent>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2C39319-C3EB-463D-A73C-2DEA9D750625}"/>
              </a:ext>
            </a:extLst>
          </p:cNvPr>
          <p:cNvSpPr>
            <a:spLocks noGrp="1"/>
          </p:cNvSpPr>
          <p:nvPr>
            <p:ph type="title"/>
          </p:nvPr>
        </p:nvSpPr>
        <p:spPr/>
        <p:txBody>
          <a:bodyPr>
            <a:normAutofit/>
          </a:bodyPr>
          <a:lstStyle/>
          <a:p>
            <a:r>
              <a:rPr lang="en-US" altLang="zh-MO" sz="2800" dirty="0"/>
              <a:t> Introduction to Data Visualization Plots</a:t>
            </a:r>
            <a:endParaRPr lang="zh-MO" altLang="en-US" sz="2800" dirty="0"/>
          </a:p>
        </p:txBody>
      </p:sp>
      <p:sp>
        <p:nvSpPr>
          <p:cNvPr id="3" name="內容版面配置區 2">
            <a:extLst>
              <a:ext uri="{FF2B5EF4-FFF2-40B4-BE49-F238E27FC236}">
                <a16:creationId xmlns:a16="http://schemas.microsoft.com/office/drawing/2014/main" id="{72697A5A-2B81-4055-BE38-FBF0028B433F}"/>
              </a:ext>
            </a:extLst>
          </p:cNvPr>
          <p:cNvSpPr>
            <a:spLocks noGrp="1"/>
          </p:cNvSpPr>
          <p:nvPr>
            <p:ph idx="1"/>
          </p:nvPr>
        </p:nvSpPr>
        <p:spPr>
          <a:xfrm>
            <a:off x="958466" y="1825625"/>
            <a:ext cx="10450432" cy="4355546"/>
          </a:xfrm>
        </p:spPr>
        <p:txBody>
          <a:bodyPr anchor="ctr">
            <a:normAutofit/>
          </a:bodyPr>
          <a:lstStyle/>
          <a:p>
            <a:pPr marL="0" indent="0">
              <a:buNone/>
            </a:pPr>
            <a:r>
              <a:rPr lang="en-US" altLang="zh-MO" sz="3500" b="1" dirty="0">
                <a:solidFill>
                  <a:schemeClr val="accent4">
                    <a:lumMod val="75000"/>
                  </a:schemeClr>
                </a:solidFill>
              </a:rPr>
              <a:t>Part 6: </a:t>
            </a:r>
            <a:r>
              <a:rPr lang="en-US" altLang="zh-MO" sz="3500" b="1" dirty="0" err="1">
                <a:solidFill>
                  <a:schemeClr val="accent4">
                    <a:lumMod val="75000"/>
                  </a:schemeClr>
                </a:solidFill>
              </a:rPr>
              <a:t>Geoplots</a:t>
            </a:r>
            <a:endParaRPr lang="en-US" altLang="zh-MO" sz="3500" b="1" dirty="0">
              <a:solidFill>
                <a:schemeClr val="accent4">
                  <a:lumMod val="75000"/>
                </a:schemeClr>
              </a:solidFill>
            </a:endParaRPr>
          </a:p>
          <a:p>
            <a:pPr marL="0" indent="0">
              <a:buNone/>
            </a:pPr>
            <a:r>
              <a:rPr lang="en-US" sz="2800" dirty="0"/>
              <a:t>Geological plots are a great way to visualize geospatial data. </a:t>
            </a:r>
          </a:p>
          <a:p>
            <a:r>
              <a:rPr lang="en-US" sz="2800" dirty="0">
                <a:solidFill>
                  <a:srgbClr val="FF0000"/>
                </a:solidFill>
              </a:rPr>
              <a:t>Choropleth maps </a:t>
            </a:r>
            <a:r>
              <a:rPr lang="en-US" sz="2800" dirty="0"/>
              <a:t>can be used to compare quantitative values for different countries, states, and so on. </a:t>
            </a:r>
          </a:p>
          <a:p>
            <a:r>
              <a:rPr lang="en-US" sz="2800" dirty="0"/>
              <a:t>If you want to show connections between different locations, </a:t>
            </a:r>
            <a:r>
              <a:rPr lang="en-US" sz="2800" dirty="0">
                <a:solidFill>
                  <a:srgbClr val="FF0000"/>
                </a:solidFill>
              </a:rPr>
              <a:t>connection maps </a:t>
            </a:r>
            <a:r>
              <a:rPr lang="en-US" sz="2800" dirty="0"/>
              <a:t>are the way to go.</a:t>
            </a:r>
          </a:p>
        </p:txBody>
      </p:sp>
      <p:sp>
        <p:nvSpPr>
          <p:cNvPr id="4" name="頁尾版面配置區 3">
            <a:extLst>
              <a:ext uri="{FF2B5EF4-FFF2-40B4-BE49-F238E27FC236}">
                <a16:creationId xmlns:a16="http://schemas.microsoft.com/office/drawing/2014/main" id="{4321BB31-863C-434D-9921-ADDB9CBD49A3}"/>
              </a:ext>
            </a:extLst>
          </p:cNvPr>
          <p:cNvSpPr>
            <a:spLocks noGrp="1"/>
          </p:cNvSpPr>
          <p:nvPr>
            <p:ph type="ftr" sz="quarter" idx="11"/>
          </p:nvPr>
        </p:nvSpPr>
        <p:spPr/>
        <p:txBody>
          <a:bodyPr/>
          <a:lstStyle/>
          <a:p>
            <a:pPr algn="r"/>
            <a:fld id="{215E7548-F18C-4C4B-B96B-B6533EE29CBB}" type="slidenum">
              <a:rPr lang="en-US" altLang="zh-MO" smtClean="0"/>
              <a:pPr algn="r"/>
              <a:t>77</a:t>
            </a:fld>
            <a:endParaRPr lang="en-US" dirty="0"/>
          </a:p>
        </p:txBody>
      </p:sp>
      <p:sp>
        <p:nvSpPr>
          <p:cNvPr id="5" name="文字版面配置區 4">
            <a:extLst>
              <a:ext uri="{FF2B5EF4-FFF2-40B4-BE49-F238E27FC236}">
                <a16:creationId xmlns:a16="http://schemas.microsoft.com/office/drawing/2014/main" id="{96D96DA7-63BE-4A6D-918C-73A25183ECFD}"/>
              </a:ext>
            </a:extLst>
          </p:cNvPr>
          <p:cNvSpPr>
            <a:spLocks noGrp="1"/>
          </p:cNvSpPr>
          <p:nvPr>
            <p:ph type="body" sz="quarter" idx="13"/>
          </p:nvPr>
        </p:nvSpPr>
        <p:spPr>
          <a:xfrm>
            <a:off x="838200" y="676829"/>
            <a:ext cx="8667143" cy="639324"/>
          </a:xfrm>
        </p:spPr>
        <p:txBody>
          <a:bodyPr>
            <a:noAutofit/>
          </a:bodyPr>
          <a:lstStyle/>
          <a:p>
            <a:r>
              <a:rPr lang="en-US" altLang="zh-MO" sz="3200" dirty="0">
                <a:solidFill>
                  <a:srgbClr val="C00000"/>
                </a:solidFill>
              </a:rPr>
              <a:t>CISC7204 Data Science and Data Visualization</a:t>
            </a:r>
            <a:endParaRPr lang="zh-MO" altLang="en-US" sz="3200" dirty="0"/>
          </a:p>
        </p:txBody>
      </p:sp>
    </p:spTree>
    <p:extLst>
      <p:ext uri="{BB962C8B-B14F-4D97-AF65-F5344CB8AC3E}">
        <p14:creationId xmlns:p14="http://schemas.microsoft.com/office/powerpoint/2010/main" val="3177776748"/>
      </p:ext>
    </p:extLst>
  </p:cSld>
  <p:clrMapOvr>
    <a:masterClrMapping/>
  </p:clrMapOvr>
  <mc:AlternateContent xmlns:mc="http://schemas.openxmlformats.org/markup-compatibility/2006" xmlns:p14="http://schemas.microsoft.com/office/powerpoint/2010/main">
    <mc:Choice Requires="p14">
      <p:transition spd="slow" p14:dur="2000" advTm="30010"/>
    </mc:Choice>
    <mc:Fallback xmlns="">
      <p:transition spd="slow" advTm="30010"/>
    </mc:Fallback>
  </mc:AlternateContent>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2C39319-C3EB-463D-A73C-2DEA9D750625}"/>
              </a:ext>
            </a:extLst>
          </p:cNvPr>
          <p:cNvSpPr>
            <a:spLocks noGrp="1"/>
          </p:cNvSpPr>
          <p:nvPr>
            <p:ph type="title"/>
          </p:nvPr>
        </p:nvSpPr>
        <p:spPr/>
        <p:txBody>
          <a:bodyPr>
            <a:normAutofit/>
          </a:bodyPr>
          <a:lstStyle/>
          <a:p>
            <a:r>
              <a:rPr lang="en-US" altLang="zh-MO" sz="2800" dirty="0"/>
              <a:t> Introduction to Data Visualization Plots</a:t>
            </a:r>
            <a:endParaRPr lang="zh-MO" altLang="en-US" sz="2800" dirty="0"/>
          </a:p>
        </p:txBody>
      </p:sp>
      <p:sp>
        <p:nvSpPr>
          <p:cNvPr id="3" name="內容版面配置區 2">
            <a:extLst>
              <a:ext uri="{FF2B5EF4-FFF2-40B4-BE49-F238E27FC236}">
                <a16:creationId xmlns:a16="http://schemas.microsoft.com/office/drawing/2014/main" id="{72697A5A-2B81-4055-BE38-FBF0028B433F}"/>
              </a:ext>
            </a:extLst>
          </p:cNvPr>
          <p:cNvSpPr>
            <a:spLocks noGrp="1"/>
          </p:cNvSpPr>
          <p:nvPr>
            <p:ph idx="1"/>
          </p:nvPr>
        </p:nvSpPr>
        <p:spPr>
          <a:xfrm>
            <a:off x="958466" y="1825625"/>
            <a:ext cx="10450432" cy="4355546"/>
          </a:xfrm>
        </p:spPr>
        <p:txBody>
          <a:bodyPr anchor="ctr">
            <a:normAutofit fontScale="92500" lnSpcReduction="20000"/>
          </a:bodyPr>
          <a:lstStyle/>
          <a:p>
            <a:pPr marL="0" indent="0">
              <a:buNone/>
            </a:pPr>
            <a:r>
              <a:rPr lang="en-US" altLang="zh-MO" sz="3500" b="1" dirty="0">
                <a:solidFill>
                  <a:schemeClr val="accent4">
                    <a:lumMod val="75000"/>
                  </a:schemeClr>
                </a:solidFill>
              </a:rPr>
              <a:t>Part 6: </a:t>
            </a:r>
            <a:r>
              <a:rPr lang="en-US" altLang="zh-MO" sz="3500" b="1" dirty="0" err="1">
                <a:solidFill>
                  <a:schemeClr val="accent4">
                    <a:lumMod val="75000"/>
                  </a:schemeClr>
                </a:solidFill>
              </a:rPr>
              <a:t>Geoplots</a:t>
            </a:r>
            <a:endParaRPr lang="en-US" altLang="zh-MO" sz="3500" b="1" dirty="0">
              <a:solidFill>
                <a:schemeClr val="accent4">
                  <a:lumMod val="75000"/>
                </a:schemeClr>
              </a:solidFill>
            </a:endParaRPr>
          </a:p>
          <a:p>
            <a:pPr marL="0" indent="0">
              <a:buNone/>
            </a:pPr>
            <a:r>
              <a:rPr lang="en-US" sz="2800" b="1" dirty="0">
                <a:solidFill>
                  <a:schemeClr val="accent1"/>
                </a:solidFill>
              </a:rPr>
              <a:t>Dot Map</a:t>
            </a:r>
          </a:p>
          <a:p>
            <a:r>
              <a:rPr lang="en-US" sz="2800" dirty="0"/>
              <a:t>In a dot map, each dot represents a certain number of observations. Each dot has the same size and value (the number of observations each dot represents). The dots are not meant to be counted; they are only intended to give an impression of magnitude. The size and value are important factors for the effectiveness and impression of the visualization. You can use different colors or symbols for the dots to show multiple categories or groups. </a:t>
            </a:r>
          </a:p>
          <a:p>
            <a:pPr marL="0" indent="0">
              <a:buNone/>
            </a:pPr>
            <a:r>
              <a:rPr lang="en-US" sz="2800" b="1" dirty="0">
                <a:solidFill>
                  <a:schemeClr val="accent1"/>
                </a:solidFill>
              </a:rPr>
              <a:t>Use</a:t>
            </a:r>
          </a:p>
          <a:p>
            <a:r>
              <a:rPr lang="en-US" altLang="zh-HK" sz="2400" dirty="0"/>
              <a:t>To visualize geospatial data</a:t>
            </a:r>
            <a:r>
              <a:rPr lang="en-US" sz="2800" dirty="0"/>
              <a:t>.</a:t>
            </a:r>
          </a:p>
        </p:txBody>
      </p:sp>
      <p:sp>
        <p:nvSpPr>
          <p:cNvPr id="4" name="頁尾版面配置區 3">
            <a:extLst>
              <a:ext uri="{FF2B5EF4-FFF2-40B4-BE49-F238E27FC236}">
                <a16:creationId xmlns:a16="http://schemas.microsoft.com/office/drawing/2014/main" id="{4321BB31-863C-434D-9921-ADDB9CBD49A3}"/>
              </a:ext>
            </a:extLst>
          </p:cNvPr>
          <p:cNvSpPr>
            <a:spLocks noGrp="1"/>
          </p:cNvSpPr>
          <p:nvPr>
            <p:ph type="ftr" sz="quarter" idx="11"/>
          </p:nvPr>
        </p:nvSpPr>
        <p:spPr/>
        <p:txBody>
          <a:bodyPr/>
          <a:lstStyle/>
          <a:p>
            <a:pPr algn="r"/>
            <a:fld id="{215E7548-F18C-4C4B-B96B-B6533EE29CBB}" type="slidenum">
              <a:rPr lang="en-US" altLang="zh-MO" smtClean="0"/>
              <a:pPr algn="r"/>
              <a:t>78</a:t>
            </a:fld>
            <a:endParaRPr lang="en-US" dirty="0"/>
          </a:p>
        </p:txBody>
      </p:sp>
      <p:sp>
        <p:nvSpPr>
          <p:cNvPr id="5" name="文字版面配置區 4">
            <a:extLst>
              <a:ext uri="{FF2B5EF4-FFF2-40B4-BE49-F238E27FC236}">
                <a16:creationId xmlns:a16="http://schemas.microsoft.com/office/drawing/2014/main" id="{96D96DA7-63BE-4A6D-918C-73A25183ECFD}"/>
              </a:ext>
            </a:extLst>
          </p:cNvPr>
          <p:cNvSpPr>
            <a:spLocks noGrp="1"/>
          </p:cNvSpPr>
          <p:nvPr>
            <p:ph type="body" sz="quarter" idx="13"/>
          </p:nvPr>
        </p:nvSpPr>
        <p:spPr>
          <a:xfrm>
            <a:off x="838200" y="676829"/>
            <a:ext cx="8667143" cy="639324"/>
          </a:xfrm>
        </p:spPr>
        <p:txBody>
          <a:bodyPr>
            <a:noAutofit/>
          </a:bodyPr>
          <a:lstStyle/>
          <a:p>
            <a:r>
              <a:rPr lang="en-US" altLang="zh-MO" sz="3200" dirty="0">
                <a:solidFill>
                  <a:srgbClr val="C00000"/>
                </a:solidFill>
              </a:rPr>
              <a:t>CISC7204 Data Science and Data Visualization</a:t>
            </a:r>
            <a:endParaRPr lang="zh-MO" altLang="en-US" sz="3200" dirty="0"/>
          </a:p>
        </p:txBody>
      </p:sp>
    </p:spTree>
    <p:extLst>
      <p:ext uri="{BB962C8B-B14F-4D97-AF65-F5344CB8AC3E}">
        <p14:creationId xmlns:p14="http://schemas.microsoft.com/office/powerpoint/2010/main" val="3387725796"/>
      </p:ext>
    </p:extLst>
  </p:cSld>
  <p:clrMapOvr>
    <a:masterClrMapping/>
  </p:clrMapOvr>
  <mc:AlternateContent xmlns:mc="http://schemas.openxmlformats.org/markup-compatibility/2006" xmlns:p14="http://schemas.microsoft.com/office/powerpoint/2010/main">
    <mc:Choice Requires="p14">
      <p:transition spd="slow" p14:dur="2000" advTm="30010"/>
    </mc:Choice>
    <mc:Fallback xmlns="">
      <p:transition spd="slow" advTm="30010"/>
    </mc:Fallback>
  </mc:AlternateContent>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2C39319-C3EB-463D-A73C-2DEA9D750625}"/>
              </a:ext>
            </a:extLst>
          </p:cNvPr>
          <p:cNvSpPr>
            <a:spLocks noGrp="1"/>
          </p:cNvSpPr>
          <p:nvPr>
            <p:ph type="title"/>
          </p:nvPr>
        </p:nvSpPr>
        <p:spPr/>
        <p:txBody>
          <a:bodyPr>
            <a:normAutofit/>
          </a:bodyPr>
          <a:lstStyle/>
          <a:p>
            <a:r>
              <a:rPr lang="en-US" altLang="zh-MO" sz="2800" dirty="0"/>
              <a:t> Introduction to Data Visualization Plots</a:t>
            </a:r>
            <a:endParaRPr lang="zh-MO" altLang="en-US" sz="2800" dirty="0"/>
          </a:p>
        </p:txBody>
      </p:sp>
      <p:sp>
        <p:nvSpPr>
          <p:cNvPr id="3" name="內容版面配置區 2">
            <a:extLst>
              <a:ext uri="{FF2B5EF4-FFF2-40B4-BE49-F238E27FC236}">
                <a16:creationId xmlns:a16="http://schemas.microsoft.com/office/drawing/2014/main" id="{72697A5A-2B81-4055-BE38-FBF0028B433F}"/>
              </a:ext>
            </a:extLst>
          </p:cNvPr>
          <p:cNvSpPr>
            <a:spLocks noGrp="1"/>
          </p:cNvSpPr>
          <p:nvPr>
            <p:ph idx="1"/>
          </p:nvPr>
        </p:nvSpPr>
        <p:spPr>
          <a:xfrm>
            <a:off x="958466" y="1825625"/>
            <a:ext cx="1313247" cy="4355546"/>
          </a:xfrm>
        </p:spPr>
        <p:txBody>
          <a:bodyPr anchor="ctr">
            <a:normAutofit/>
          </a:bodyPr>
          <a:lstStyle/>
          <a:p>
            <a:pPr marL="0" indent="0">
              <a:buNone/>
            </a:pPr>
            <a:r>
              <a:rPr lang="en-US" altLang="zh-MO" sz="2000" b="1" dirty="0">
                <a:solidFill>
                  <a:schemeClr val="accent4">
                    <a:lumMod val="75000"/>
                  </a:schemeClr>
                </a:solidFill>
              </a:rPr>
              <a:t>Part 6: </a:t>
            </a:r>
            <a:r>
              <a:rPr lang="en-US" altLang="zh-MO" sz="2000" b="1" dirty="0" err="1">
                <a:solidFill>
                  <a:schemeClr val="accent4">
                    <a:lumMod val="75000"/>
                  </a:schemeClr>
                </a:solidFill>
              </a:rPr>
              <a:t>Geoplots</a:t>
            </a:r>
            <a:endParaRPr lang="en-US" altLang="zh-MO" sz="2000" b="1" dirty="0">
              <a:solidFill>
                <a:schemeClr val="accent4">
                  <a:lumMod val="75000"/>
                </a:schemeClr>
              </a:solidFill>
            </a:endParaRPr>
          </a:p>
          <a:p>
            <a:pPr marL="0" indent="0">
              <a:buNone/>
            </a:pPr>
            <a:r>
              <a:rPr lang="en-US" sz="2000" b="1" dirty="0">
                <a:solidFill>
                  <a:schemeClr val="accent1"/>
                </a:solidFill>
              </a:rPr>
              <a:t>Dot Map</a:t>
            </a:r>
          </a:p>
          <a:p>
            <a:pPr marL="0" indent="0">
              <a:buNone/>
            </a:pPr>
            <a:r>
              <a:rPr lang="en-US" sz="2000" b="1" dirty="0">
                <a:solidFill>
                  <a:srgbClr val="FF0000"/>
                </a:solidFill>
              </a:rPr>
              <a:t>Example</a:t>
            </a:r>
            <a:r>
              <a:rPr lang="en-US" sz="2800" dirty="0"/>
              <a:t> </a:t>
            </a:r>
          </a:p>
          <a:p>
            <a:pPr marL="0" indent="0">
              <a:buNone/>
            </a:pPr>
            <a:r>
              <a:rPr lang="en-US" altLang="zh-HK" sz="1600" dirty="0"/>
              <a:t>The diagram shows a dot map where each dot represents a certain amount of bus stops throughout the world:</a:t>
            </a:r>
            <a:endParaRPr lang="en-US" sz="1600" dirty="0"/>
          </a:p>
        </p:txBody>
      </p:sp>
      <p:sp>
        <p:nvSpPr>
          <p:cNvPr id="4" name="頁尾版面配置區 3">
            <a:extLst>
              <a:ext uri="{FF2B5EF4-FFF2-40B4-BE49-F238E27FC236}">
                <a16:creationId xmlns:a16="http://schemas.microsoft.com/office/drawing/2014/main" id="{4321BB31-863C-434D-9921-ADDB9CBD49A3}"/>
              </a:ext>
            </a:extLst>
          </p:cNvPr>
          <p:cNvSpPr>
            <a:spLocks noGrp="1"/>
          </p:cNvSpPr>
          <p:nvPr>
            <p:ph type="ftr" sz="quarter" idx="11"/>
          </p:nvPr>
        </p:nvSpPr>
        <p:spPr/>
        <p:txBody>
          <a:bodyPr/>
          <a:lstStyle/>
          <a:p>
            <a:pPr algn="r"/>
            <a:fld id="{215E7548-F18C-4C4B-B96B-B6533EE29CBB}" type="slidenum">
              <a:rPr lang="en-US" altLang="zh-MO" smtClean="0"/>
              <a:pPr algn="r"/>
              <a:t>79</a:t>
            </a:fld>
            <a:endParaRPr lang="en-US" dirty="0"/>
          </a:p>
        </p:txBody>
      </p:sp>
      <p:sp>
        <p:nvSpPr>
          <p:cNvPr id="5" name="文字版面配置區 4">
            <a:extLst>
              <a:ext uri="{FF2B5EF4-FFF2-40B4-BE49-F238E27FC236}">
                <a16:creationId xmlns:a16="http://schemas.microsoft.com/office/drawing/2014/main" id="{96D96DA7-63BE-4A6D-918C-73A25183ECFD}"/>
              </a:ext>
            </a:extLst>
          </p:cNvPr>
          <p:cNvSpPr>
            <a:spLocks noGrp="1"/>
          </p:cNvSpPr>
          <p:nvPr>
            <p:ph type="body" sz="quarter" idx="13"/>
          </p:nvPr>
        </p:nvSpPr>
        <p:spPr>
          <a:xfrm>
            <a:off x="838200" y="676829"/>
            <a:ext cx="8667143" cy="639324"/>
          </a:xfrm>
        </p:spPr>
        <p:txBody>
          <a:bodyPr>
            <a:noAutofit/>
          </a:bodyPr>
          <a:lstStyle/>
          <a:p>
            <a:r>
              <a:rPr lang="en-US" altLang="zh-MO" sz="3200" dirty="0">
                <a:solidFill>
                  <a:srgbClr val="C00000"/>
                </a:solidFill>
              </a:rPr>
              <a:t>CISC7204 Data Science and Data Visualization</a:t>
            </a:r>
            <a:endParaRPr lang="zh-MO" altLang="en-US" sz="3200" dirty="0"/>
          </a:p>
        </p:txBody>
      </p:sp>
      <p:pic>
        <p:nvPicPr>
          <p:cNvPr id="6" name="圖片 5"/>
          <p:cNvPicPr>
            <a:picLocks noChangeAspect="1"/>
          </p:cNvPicPr>
          <p:nvPr/>
        </p:nvPicPr>
        <p:blipFill>
          <a:blip r:embed="rId2"/>
          <a:stretch>
            <a:fillRect/>
          </a:stretch>
        </p:blipFill>
        <p:spPr>
          <a:xfrm>
            <a:off x="2762042" y="2050773"/>
            <a:ext cx="6410015" cy="4130398"/>
          </a:xfrm>
          <a:prstGeom prst="rect">
            <a:avLst/>
          </a:prstGeom>
        </p:spPr>
      </p:pic>
      <p:sp>
        <p:nvSpPr>
          <p:cNvPr id="7" name="矩形 6"/>
          <p:cNvSpPr/>
          <p:nvPr/>
        </p:nvSpPr>
        <p:spPr>
          <a:xfrm>
            <a:off x="9505343" y="2267860"/>
            <a:ext cx="1752808" cy="923330"/>
          </a:xfrm>
          <a:prstGeom prst="rect">
            <a:avLst/>
          </a:prstGeom>
        </p:spPr>
        <p:txBody>
          <a:bodyPr wrap="square">
            <a:spAutoFit/>
          </a:bodyPr>
          <a:lstStyle/>
          <a:p>
            <a:r>
              <a:rPr lang="en-US" altLang="zh-HK" dirty="0"/>
              <a:t> Dot map showing bus stops worldwide</a:t>
            </a:r>
            <a:endParaRPr lang="zh-HK" altLang="en-US" dirty="0"/>
          </a:p>
        </p:txBody>
      </p:sp>
    </p:spTree>
    <p:extLst>
      <p:ext uri="{BB962C8B-B14F-4D97-AF65-F5344CB8AC3E}">
        <p14:creationId xmlns:p14="http://schemas.microsoft.com/office/powerpoint/2010/main" val="1517042115"/>
      </p:ext>
    </p:extLst>
  </p:cSld>
  <p:clrMapOvr>
    <a:masterClrMapping/>
  </p:clrMapOvr>
  <mc:AlternateContent xmlns:mc="http://schemas.openxmlformats.org/markup-compatibility/2006" xmlns:p14="http://schemas.microsoft.com/office/powerpoint/2010/main">
    <mc:Choice Requires="p14">
      <p:transition spd="slow" p14:dur="2000" advTm="30010"/>
    </mc:Choice>
    <mc:Fallback xmlns="">
      <p:transition spd="slow" advTm="30010"/>
    </mc:Fallback>
  </mc:AlternateContent>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2C39319-C3EB-463D-A73C-2DEA9D750625}"/>
              </a:ext>
            </a:extLst>
          </p:cNvPr>
          <p:cNvSpPr>
            <a:spLocks noGrp="1"/>
          </p:cNvSpPr>
          <p:nvPr>
            <p:ph type="title"/>
          </p:nvPr>
        </p:nvSpPr>
        <p:spPr/>
        <p:txBody>
          <a:bodyPr>
            <a:normAutofit/>
          </a:bodyPr>
          <a:lstStyle/>
          <a:p>
            <a:r>
              <a:rPr lang="en-US" altLang="zh-MO" sz="2800" dirty="0"/>
              <a:t> Introduction to Data Visualization Plots</a:t>
            </a:r>
            <a:endParaRPr lang="zh-MO" altLang="en-US" sz="2800" dirty="0"/>
          </a:p>
        </p:txBody>
      </p:sp>
      <p:sp>
        <p:nvSpPr>
          <p:cNvPr id="3" name="內容版面配置區 2">
            <a:extLst>
              <a:ext uri="{FF2B5EF4-FFF2-40B4-BE49-F238E27FC236}">
                <a16:creationId xmlns:a16="http://schemas.microsoft.com/office/drawing/2014/main" id="{72697A5A-2B81-4055-BE38-FBF0028B433F}"/>
              </a:ext>
            </a:extLst>
          </p:cNvPr>
          <p:cNvSpPr>
            <a:spLocks noGrp="1"/>
          </p:cNvSpPr>
          <p:nvPr>
            <p:ph idx="1"/>
          </p:nvPr>
        </p:nvSpPr>
        <p:spPr>
          <a:xfrm>
            <a:off x="958466" y="1825625"/>
            <a:ext cx="10450432" cy="4355546"/>
          </a:xfrm>
        </p:spPr>
        <p:txBody>
          <a:bodyPr anchor="ctr">
            <a:normAutofit/>
          </a:bodyPr>
          <a:lstStyle/>
          <a:p>
            <a:pPr marL="0" indent="0">
              <a:buNone/>
            </a:pPr>
            <a:r>
              <a:rPr lang="en-US" altLang="zh-MO" sz="3500" b="1" dirty="0">
                <a:solidFill>
                  <a:schemeClr val="accent4">
                    <a:lumMod val="75000"/>
                  </a:schemeClr>
                </a:solidFill>
              </a:rPr>
              <a:t>Part 6: </a:t>
            </a:r>
            <a:r>
              <a:rPr lang="en-US" altLang="zh-MO" sz="3500" b="1" dirty="0" err="1">
                <a:solidFill>
                  <a:schemeClr val="accent4">
                    <a:lumMod val="75000"/>
                  </a:schemeClr>
                </a:solidFill>
              </a:rPr>
              <a:t>Geoplots</a:t>
            </a:r>
            <a:endParaRPr lang="en-US" altLang="zh-MO" sz="3500" b="1" dirty="0">
              <a:solidFill>
                <a:schemeClr val="accent4">
                  <a:lumMod val="75000"/>
                </a:schemeClr>
              </a:solidFill>
            </a:endParaRPr>
          </a:p>
          <a:p>
            <a:pPr marL="0" indent="0">
              <a:buNone/>
            </a:pPr>
            <a:r>
              <a:rPr lang="en-US" sz="2800" b="1" dirty="0">
                <a:solidFill>
                  <a:schemeClr val="accent1"/>
                </a:solidFill>
              </a:rPr>
              <a:t>Dot Map – </a:t>
            </a:r>
            <a:r>
              <a:rPr lang="en-US" sz="2800" b="1" dirty="0">
                <a:solidFill>
                  <a:srgbClr val="FF0000"/>
                </a:solidFill>
              </a:rPr>
              <a:t>Design Practices</a:t>
            </a:r>
          </a:p>
          <a:p>
            <a:r>
              <a:rPr lang="en-US" altLang="zh-HK" sz="2400" dirty="0"/>
              <a:t>Do not show too many locations. You should still be able to see the map to get a feel for the actual location.</a:t>
            </a:r>
          </a:p>
          <a:p>
            <a:r>
              <a:rPr lang="en-US" altLang="zh-HK" sz="2400" dirty="0"/>
              <a:t>Choose a dot size and value so that in dense areas, the dots start to blend. The dot map should give a good impression of the underlying spatial distribution.</a:t>
            </a:r>
          </a:p>
        </p:txBody>
      </p:sp>
      <p:sp>
        <p:nvSpPr>
          <p:cNvPr id="4" name="頁尾版面配置區 3">
            <a:extLst>
              <a:ext uri="{FF2B5EF4-FFF2-40B4-BE49-F238E27FC236}">
                <a16:creationId xmlns:a16="http://schemas.microsoft.com/office/drawing/2014/main" id="{4321BB31-863C-434D-9921-ADDB9CBD49A3}"/>
              </a:ext>
            </a:extLst>
          </p:cNvPr>
          <p:cNvSpPr>
            <a:spLocks noGrp="1"/>
          </p:cNvSpPr>
          <p:nvPr>
            <p:ph type="ftr" sz="quarter" idx="11"/>
          </p:nvPr>
        </p:nvSpPr>
        <p:spPr/>
        <p:txBody>
          <a:bodyPr/>
          <a:lstStyle/>
          <a:p>
            <a:pPr algn="r"/>
            <a:fld id="{215E7548-F18C-4C4B-B96B-B6533EE29CBB}" type="slidenum">
              <a:rPr lang="en-US" altLang="zh-MO" smtClean="0"/>
              <a:pPr algn="r"/>
              <a:t>80</a:t>
            </a:fld>
            <a:endParaRPr lang="en-US" dirty="0"/>
          </a:p>
        </p:txBody>
      </p:sp>
      <p:sp>
        <p:nvSpPr>
          <p:cNvPr id="5" name="文字版面配置區 4">
            <a:extLst>
              <a:ext uri="{FF2B5EF4-FFF2-40B4-BE49-F238E27FC236}">
                <a16:creationId xmlns:a16="http://schemas.microsoft.com/office/drawing/2014/main" id="{96D96DA7-63BE-4A6D-918C-73A25183ECFD}"/>
              </a:ext>
            </a:extLst>
          </p:cNvPr>
          <p:cNvSpPr>
            <a:spLocks noGrp="1"/>
          </p:cNvSpPr>
          <p:nvPr>
            <p:ph type="body" sz="quarter" idx="13"/>
          </p:nvPr>
        </p:nvSpPr>
        <p:spPr>
          <a:xfrm>
            <a:off x="838200" y="676829"/>
            <a:ext cx="8667143" cy="639324"/>
          </a:xfrm>
        </p:spPr>
        <p:txBody>
          <a:bodyPr>
            <a:noAutofit/>
          </a:bodyPr>
          <a:lstStyle/>
          <a:p>
            <a:r>
              <a:rPr lang="en-US" altLang="zh-MO" sz="3200" dirty="0">
                <a:solidFill>
                  <a:srgbClr val="C00000"/>
                </a:solidFill>
              </a:rPr>
              <a:t>CISC7204 Data Science and Data Visualization</a:t>
            </a:r>
            <a:endParaRPr lang="zh-MO" altLang="en-US" sz="3200" dirty="0"/>
          </a:p>
        </p:txBody>
      </p:sp>
    </p:spTree>
    <p:extLst>
      <p:ext uri="{BB962C8B-B14F-4D97-AF65-F5344CB8AC3E}">
        <p14:creationId xmlns:p14="http://schemas.microsoft.com/office/powerpoint/2010/main" val="1698931888"/>
      </p:ext>
    </p:extLst>
  </p:cSld>
  <p:clrMapOvr>
    <a:masterClrMapping/>
  </p:clrMapOvr>
  <mc:AlternateContent xmlns:mc="http://schemas.openxmlformats.org/markup-compatibility/2006" xmlns:p14="http://schemas.microsoft.com/office/powerpoint/2010/main">
    <mc:Choice Requires="p14">
      <p:transition spd="slow" p14:dur="2000" advTm="30010"/>
    </mc:Choice>
    <mc:Fallback xmlns="">
      <p:transition spd="slow" advTm="30010"/>
    </mc:Fallback>
  </mc:AlternateContent>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2C39319-C3EB-463D-A73C-2DEA9D750625}"/>
              </a:ext>
            </a:extLst>
          </p:cNvPr>
          <p:cNvSpPr>
            <a:spLocks noGrp="1"/>
          </p:cNvSpPr>
          <p:nvPr>
            <p:ph type="title"/>
          </p:nvPr>
        </p:nvSpPr>
        <p:spPr/>
        <p:txBody>
          <a:bodyPr>
            <a:normAutofit/>
          </a:bodyPr>
          <a:lstStyle/>
          <a:p>
            <a:r>
              <a:rPr lang="en-US" altLang="zh-MO" sz="2800" dirty="0"/>
              <a:t> Introduction to Data Visualization Plots</a:t>
            </a:r>
            <a:endParaRPr lang="zh-MO" altLang="en-US" sz="2800" dirty="0"/>
          </a:p>
        </p:txBody>
      </p:sp>
      <p:sp>
        <p:nvSpPr>
          <p:cNvPr id="3" name="內容版面配置區 2">
            <a:extLst>
              <a:ext uri="{FF2B5EF4-FFF2-40B4-BE49-F238E27FC236}">
                <a16:creationId xmlns:a16="http://schemas.microsoft.com/office/drawing/2014/main" id="{72697A5A-2B81-4055-BE38-FBF0028B433F}"/>
              </a:ext>
            </a:extLst>
          </p:cNvPr>
          <p:cNvSpPr>
            <a:spLocks noGrp="1"/>
          </p:cNvSpPr>
          <p:nvPr>
            <p:ph idx="1"/>
          </p:nvPr>
        </p:nvSpPr>
        <p:spPr>
          <a:xfrm>
            <a:off x="958466" y="1825625"/>
            <a:ext cx="10450432" cy="4355546"/>
          </a:xfrm>
        </p:spPr>
        <p:txBody>
          <a:bodyPr anchor="ctr">
            <a:normAutofit/>
          </a:bodyPr>
          <a:lstStyle/>
          <a:p>
            <a:pPr marL="0" indent="0">
              <a:buNone/>
            </a:pPr>
            <a:r>
              <a:rPr lang="en-US" altLang="zh-MO" sz="3500" b="1" dirty="0">
                <a:solidFill>
                  <a:schemeClr val="accent4">
                    <a:lumMod val="75000"/>
                  </a:schemeClr>
                </a:solidFill>
              </a:rPr>
              <a:t>Part 6: </a:t>
            </a:r>
            <a:r>
              <a:rPr lang="en-US" altLang="zh-MO" sz="3500" b="1" dirty="0" err="1">
                <a:solidFill>
                  <a:schemeClr val="accent4">
                    <a:lumMod val="75000"/>
                  </a:schemeClr>
                </a:solidFill>
              </a:rPr>
              <a:t>Geoplots</a:t>
            </a:r>
            <a:endParaRPr lang="en-US" altLang="zh-MO" sz="3500" b="1" dirty="0">
              <a:solidFill>
                <a:schemeClr val="accent4">
                  <a:lumMod val="75000"/>
                </a:schemeClr>
              </a:solidFill>
            </a:endParaRPr>
          </a:p>
          <a:p>
            <a:pPr marL="0" indent="0">
              <a:buNone/>
            </a:pPr>
            <a:r>
              <a:rPr lang="en-US" sz="2800" b="1" dirty="0">
                <a:solidFill>
                  <a:schemeClr val="accent1"/>
                </a:solidFill>
              </a:rPr>
              <a:t>Choropleth Map</a:t>
            </a:r>
            <a:endParaRPr lang="en-US" sz="2800" b="1" dirty="0">
              <a:solidFill>
                <a:srgbClr val="FF0000"/>
              </a:solidFill>
            </a:endParaRPr>
          </a:p>
          <a:p>
            <a:r>
              <a:rPr lang="en-US" altLang="zh-HK" sz="2400" dirty="0"/>
              <a:t>In a choropleth map, each tile is colored to encode a variable. For example, a tile represents a geographic region for counties and countries. Choropleth maps provide a good way to show how a variable varies across a geographic area. One thing to keep in mind for choropleth maps is that the human eye naturally gives more attention to larger areas, so you might want to normalize your data by dividing the map area-wise.</a:t>
            </a:r>
          </a:p>
          <a:p>
            <a:pPr marL="0" indent="0">
              <a:buNone/>
            </a:pPr>
            <a:r>
              <a:rPr lang="en-US" altLang="zh-HK" sz="2400" b="1" dirty="0">
                <a:solidFill>
                  <a:schemeClr val="accent1"/>
                </a:solidFill>
              </a:rPr>
              <a:t>Use</a:t>
            </a:r>
          </a:p>
          <a:p>
            <a:r>
              <a:rPr lang="en-US" altLang="zh-HK" sz="2000" dirty="0"/>
              <a:t>To visualize geospatial data grouped into geological regions—for example, states or countries.</a:t>
            </a:r>
            <a:endParaRPr lang="en-US" altLang="zh-HK" sz="2400" dirty="0"/>
          </a:p>
        </p:txBody>
      </p:sp>
      <p:sp>
        <p:nvSpPr>
          <p:cNvPr id="4" name="頁尾版面配置區 3">
            <a:extLst>
              <a:ext uri="{FF2B5EF4-FFF2-40B4-BE49-F238E27FC236}">
                <a16:creationId xmlns:a16="http://schemas.microsoft.com/office/drawing/2014/main" id="{4321BB31-863C-434D-9921-ADDB9CBD49A3}"/>
              </a:ext>
            </a:extLst>
          </p:cNvPr>
          <p:cNvSpPr>
            <a:spLocks noGrp="1"/>
          </p:cNvSpPr>
          <p:nvPr>
            <p:ph type="ftr" sz="quarter" idx="11"/>
          </p:nvPr>
        </p:nvSpPr>
        <p:spPr/>
        <p:txBody>
          <a:bodyPr/>
          <a:lstStyle/>
          <a:p>
            <a:pPr algn="r"/>
            <a:fld id="{215E7548-F18C-4C4B-B96B-B6533EE29CBB}" type="slidenum">
              <a:rPr lang="en-US" altLang="zh-MO" smtClean="0"/>
              <a:pPr algn="r"/>
              <a:t>81</a:t>
            </a:fld>
            <a:endParaRPr lang="en-US" dirty="0"/>
          </a:p>
        </p:txBody>
      </p:sp>
      <p:sp>
        <p:nvSpPr>
          <p:cNvPr id="5" name="文字版面配置區 4">
            <a:extLst>
              <a:ext uri="{FF2B5EF4-FFF2-40B4-BE49-F238E27FC236}">
                <a16:creationId xmlns:a16="http://schemas.microsoft.com/office/drawing/2014/main" id="{96D96DA7-63BE-4A6D-918C-73A25183ECFD}"/>
              </a:ext>
            </a:extLst>
          </p:cNvPr>
          <p:cNvSpPr>
            <a:spLocks noGrp="1"/>
          </p:cNvSpPr>
          <p:nvPr>
            <p:ph type="body" sz="quarter" idx="13"/>
          </p:nvPr>
        </p:nvSpPr>
        <p:spPr>
          <a:xfrm>
            <a:off x="838200" y="676829"/>
            <a:ext cx="8667143" cy="639324"/>
          </a:xfrm>
        </p:spPr>
        <p:txBody>
          <a:bodyPr>
            <a:noAutofit/>
          </a:bodyPr>
          <a:lstStyle/>
          <a:p>
            <a:r>
              <a:rPr lang="en-US" altLang="zh-MO" sz="3200" dirty="0">
                <a:solidFill>
                  <a:srgbClr val="C00000"/>
                </a:solidFill>
              </a:rPr>
              <a:t>CISC7204 Data Science and Data Visualization</a:t>
            </a:r>
            <a:endParaRPr lang="zh-MO" altLang="en-US" sz="3200" dirty="0"/>
          </a:p>
        </p:txBody>
      </p:sp>
    </p:spTree>
    <p:extLst>
      <p:ext uri="{BB962C8B-B14F-4D97-AF65-F5344CB8AC3E}">
        <p14:creationId xmlns:p14="http://schemas.microsoft.com/office/powerpoint/2010/main" val="507011388"/>
      </p:ext>
    </p:extLst>
  </p:cSld>
  <p:clrMapOvr>
    <a:masterClrMapping/>
  </p:clrMapOvr>
  <mc:AlternateContent xmlns:mc="http://schemas.openxmlformats.org/markup-compatibility/2006" xmlns:p14="http://schemas.microsoft.com/office/powerpoint/2010/main">
    <mc:Choice Requires="p14">
      <p:transition spd="slow" p14:dur="2000" advTm="30010"/>
    </mc:Choice>
    <mc:Fallback xmlns="">
      <p:transition spd="slow" advTm="30010"/>
    </mc:Fallback>
  </mc:AlternateContent>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2C39319-C3EB-463D-A73C-2DEA9D750625}"/>
              </a:ext>
            </a:extLst>
          </p:cNvPr>
          <p:cNvSpPr>
            <a:spLocks noGrp="1"/>
          </p:cNvSpPr>
          <p:nvPr>
            <p:ph type="title"/>
          </p:nvPr>
        </p:nvSpPr>
        <p:spPr/>
        <p:txBody>
          <a:bodyPr>
            <a:normAutofit/>
          </a:bodyPr>
          <a:lstStyle/>
          <a:p>
            <a:r>
              <a:rPr lang="en-US" altLang="zh-MO" sz="2800" dirty="0"/>
              <a:t> Introduction to Data Visualization Plots</a:t>
            </a:r>
            <a:endParaRPr lang="zh-MO" altLang="en-US" sz="2800" dirty="0"/>
          </a:p>
        </p:txBody>
      </p:sp>
      <p:sp>
        <p:nvSpPr>
          <p:cNvPr id="3" name="內容版面配置區 2">
            <a:extLst>
              <a:ext uri="{FF2B5EF4-FFF2-40B4-BE49-F238E27FC236}">
                <a16:creationId xmlns:a16="http://schemas.microsoft.com/office/drawing/2014/main" id="{72697A5A-2B81-4055-BE38-FBF0028B433F}"/>
              </a:ext>
            </a:extLst>
          </p:cNvPr>
          <p:cNvSpPr>
            <a:spLocks noGrp="1"/>
          </p:cNvSpPr>
          <p:nvPr>
            <p:ph idx="1"/>
          </p:nvPr>
        </p:nvSpPr>
        <p:spPr>
          <a:xfrm>
            <a:off x="958466" y="1825625"/>
            <a:ext cx="1584710" cy="4355546"/>
          </a:xfrm>
        </p:spPr>
        <p:txBody>
          <a:bodyPr anchor="ctr">
            <a:normAutofit/>
          </a:bodyPr>
          <a:lstStyle/>
          <a:p>
            <a:pPr marL="0" indent="0">
              <a:buNone/>
            </a:pPr>
            <a:r>
              <a:rPr lang="en-US" altLang="zh-MO" sz="2000" b="1" dirty="0">
                <a:solidFill>
                  <a:schemeClr val="accent4">
                    <a:lumMod val="75000"/>
                  </a:schemeClr>
                </a:solidFill>
              </a:rPr>
              <a:t>Part 6: </a:t>
            </a:r>
            <a:r>
              <a:rPr lang="en-US" altLang="zh-MO" sz="2000" b="1" dirty="0" err="1">
                <a:solidFill>
                  <a:schemeClr val="accent4">
                    <a:lumMod val="75000"/>
                  </a:schemeClr>
                </a:solidFill>
              </a:rPr>
              <a:t>Geoplots</a:t>
            </a:r>
            <a:endParaRPr lang="en-US" altLang="zh-MO" sz="2000" b="1" dirty="0">
              <a:solidFill>
                <a:schemeClr val="accent4">
                  <a:lumMod val="75000"/>
                </a:schemeClr>
              </a:solidFill>
            </a:endParaRPr>
          </a:p>
          <a:p>
            <a:pPr marL="0" indent="0">
              <a:buNone/>
            </a:pPr>
            <a:r>
              <a:rPr lang="en-US" sz="2000" b="1" dirty="0">
                <a:solidFill>
                  <a:schemeClr val="accent1"/>
                </a:solidFill>
              </a:rPr>
              <a:t>Choropleth Map</a:t>
            </a:r>
            <a:endParaRPr lang="en-US" sz="2000" b="1" dirty="0">
              <a:solidFill>
                <a:srgbClr val="FF0000"/>
              </a:solidFill>
            </a:endParaRPr>
          </a:p>
          <a:p>
            <a:pPr marL="0" indent="0">
              <a:buNone/>
            </a:pPr>
            <a:r>
              <a:rPr lang="en-US" altLang="zh-HK" sz="1800" b="1" dirty="0">
                <a:solidFill>
                  <a:srgbClr val="FF0000"/>
                </a:solidFill>
              </a:rPr>
              <a:t>Example</a:t>
            </a:r>
          </a:p>
          <a:p>
            <a:pPr marL="0" indent="0">
              <a:buNone/>
            </a:pPr>
            <a:r>
              <a:rPr lang="en-US" altLang="zh-HK" sz="1600" dirty="0"/>
              <a:t>The following diagram shows a choropleth map of a weather forecast in the USA:</a:t>
            </a:r>
          </a:p>
        </p:txBody>
      </p:sp>
      <p:sp>
        <p:nvSpPr>
          <p:cNvPr id="4" name="頁尾版面配置區 3">
            <a:extLst>
              <a:ext uri="{FF2B5EF4-FFF2-40B4-BE49-F238E27FC236}">
                <a16:creationId xmlns:a16="http://schemas.microsoft.com/office/drawing/2014/main" id="{4321BB31-863C-434D-9921-ADDB9CBD49A3}"/>
              </a:ext>
            </a:extLst>
          </p:cNvPr>
          <p:cNvSpPr>
            <a:spLocks noGrp="1"/>
          </p:cNvSpPr>
          <p:nvPr>
            <p:ph type="ftr" sz="quarter" idx="11"/>
          </p:nvPr>
        </p:nvSpPr>
        <p:spPr/>
        <p:txBody>
          <a:bodyPr/>
          <a:lstStyle/>
          <a:p>
            <a:pPr algn="r"/>
            <a:fld id="{215E7548-F18C-4C4B-B96B-B6533EE29CBB}" type="slidenum">
              <a:rPr lang="en-US" altLang="zh-MO" smtClean="0"/>
              <a:pPr algn="r"/>
              <a:t>82</a:t>
            </a:fld>
            <a:endParaRPr lang="en-US" dirty="0"/>
          </a:p>
        </p:txBody>
      </p:sp>
      <p:sp>
        <p:nvSpPr>
          <p:cNvPr id="5" name="文字版面配置區 4">
            <a:extLst>
              <a:ext uri="{FF2B5EF4-FFF2-40B4-BE49-F238E27FC236}">
                <a16:creationId xmlns:a16="http://schemas.microsoft.com/office/drawing/2014/main" id="{96D96DA7-63BE-4A6D-918C-73A25183ECFD}"/>
              </a:ext>
            </a:extLst>
          </p:cNvPr>
          <p:cNvSpPr>
            <a:spLocks noGrp="1"/>
          </p:cNvSpPr>
          <p:nvPr>
            <p:ph type="body" sz="quarter" idx="13"/>
          </p:nvPr>
        </p:nvSpPr>
        <p:spPr>
          <a:xfrm>
            <a:off x="838200" y="676829"/>
            <a:ext cx="8667143" cy="639324"/>
          </a:xfrm>
        </p:spPr>
        <p:txBody>
          <a:bodyPr>
            <a:noAutofit/>
          </a:bodyPr>
          <a:lstStyle/>
          <a:p>
            <a:r>
              <a:rPr lang="en-US" altLang="zh-MO" sz="3200" dirty="0">
                <a:solidFill>
                  <a:srgbClr val="C00000"/>
                </a:solidFill>
              </a:rPr>
              <a:t>CISC7204 Data Science and Data Visualization</a:t>
            </a:r>
            <a:endParaRPr lang="zh-MO" altLang="en-US" sz="3200" dirty="0"/>
          </a:p>
        </p:txBody>
      </p:sp>
      <p:pic>
        <p:nvPicPr>
          <p:cNvPr id="6" name="圖片 5"/>
          <p:cNvPicPr>
            <a:picLocks noChangeAspect="1"/>
          </p:cNvPicPr>
          <p:nvPr/>
        </p:nvPicPr>
        <p:blipFill>
          <a:blip r:embed="rId2"/>
          <a:stretch>
            <a:fillRect/>
          </a:stretch>
        </p:blipFill>
        <p:spPr>
          <a:xfrm>
            <a:off x="3000375" y="1985964"/>
            <a:ext cx="6015038" cy="4021734"/>
          </a:xfrm>
          <a:prstGeom prst="rect">
            <a:avLst/>
          </a:prstGeom>
        </p:spPr>
      </p:pic>
      <p:sp>
        <p:nvSpPr>
          <p:cNvPr id="7" name="矩形 6"/>
          <p:cNvSpPr/>
          <p:nvPr/>
        </p:nvSpPr>
        <p:spPr>
          <a:xfrm>
            <a:off x="9356073" y="2080582"/>
            <a:ext cx="1973914" cy="1200329"/>
          </a:xfrm>
          <a:prstGeom prst="rect">
            <a:avLst/>
          </a:prstGeom>
        </p:spPr>
        <p:txBody>
          <a:bodyPr wrap="square">
            <a:spAutoFit/>
          </a:bodyPr>
          <a:lstStyle/>
          <a:p>
            <a:r>
              <a:rPr lang="en-US" altLang="zh-HK" dirty="0"/>
              <a:t>Choropleth map showing a weather forecast for the USA</a:t>
            </a:r>
            <a:endParaRPr lang="zh-HK" altLang="en-US" dirty="0"/>
          </a:p>
        </p:txBody>
      </p:sp>
    </p:spTree>
    <p:extLst>
      <p:ext uri="{BB962C8B-B14F-4D97-AF65-F5344CB8AC3E}">
        <p14:creationId xmlns:p14="http://schemas.microsoft.com/office/powerpoint/2010/main" val="3434639102"/>
      </p:ext>
    </p:extLst>
  </p:cSld>
  <p:clrMapOvr>
    <a:masterClrMapping/>
  </p:clrMapOvr>
  <mc:AlternateContent xmlns:mc="http://schemas.openxmlformats.org/markup-compatibility/2006" xmlns:p14="http://schemas.microsoft.com/office/powerpoint/2010/main">
    <mc:Choice Requires="p14">
      <p:transition spd="slow" p14:dur="2000" advTm="30010"/>
    </mc:Choice>
    <mc:Fallback xmlns="">
      <p:transition spd="slow" advTm="30010"/>
    </mc:Fallback>
  </mc:AlternateContent>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2C39319-C3EB-463D-A73C-2DEA9D750625}"/>
              </a:ext>
            </a:extLst>
          </p:cNvPr>
          <p:cNvSpPr>
            <a:spLocks noGrp="1"/>
          </p:cNvSpPr>
          <p:nvPr>
            <p:ph type="title"/>
          </p:nvPr>
        </p:nvSpPr>
        <p:spPr/>
        <p:txBody>
          <a:bodyPr>
            <a:normAutofit/>
          </a:bodyPr>
          <a:lstStyle/>
          <a:p>
            <a:r>
              <a:rPr lang="en-US" altLang="zh-MO" sz="2800" dirty="0"/>
              <a:t> Introduction to Data Visualization Plots</a:t>
            </a:r>
            <a:endParaRPr lang="zh-MO" altLang="en-US" sz="2800" dirty="0"/>
          </a:p>
        </p:txBody>
      </p:sp>
      <p:sp>
        <p:nvSpPr>
          <p:cNvPr id="3" name="內容版面配置區 2">
            <a:extLst>
              <a:ext uri="{FF2B5EF4-FFF2-40B4-BE49-F238E27FC236}">
                <a16:creationId xmlns:a16="http://schemas.microsoft.com/office/drawing/2014/main" id="{72697A5A-2B81-4055-BE38-FBF0028B433F}"/>
              </a:ext>
            </a:extLst>
          </p:cNvPr>
          <p:cNvSpPr>
            <a:spLocks noGrp="1"/>
          </p:cNvSpPr>
          <p:nvPr>
            <p:ph idx="1"/>
          </p:nvPr>
        </p:nvSpPr>
        <p:spPr>
          <a:xfrm>
            <a:off x="958466" y="1825625"/>
            <a:ext cx="10450432" cy="4355546"/>
          </a:xfrm>
        </p:spPr>
        <p:txBody>
          <a:bodyPr anchor="ctr">
            <a:normAutofit/>
          </a:bodyPr>
          <a:lstStyle/>
          <a:p>
            <a:pPr marL="0" indent="0">
              <a:buNone/>
            </a:pPr>
            <a:r>
              <a:rPr lang="en-US" altLang="zh-MO" sz="3500" b="1" dirty="0">
                <a:solidFill>
                  <a:schemeClr val="accent4">
                    <a:lumMod val="75000"/>
                  </a:schemeClr>
                </a:solidFill>
              </a:rPr>
              <a:t>Part 6: </a:t>
            </a:r>
            <a:r>
              <a:rPr lang="en-US" altLang="zh-MO" sz="3500" b="1" dirty="0" err="1">
                <a:solidFill>
                  <a:schemeClr val="accent4">
                    <a:lumMod val="75000"/>
                  </a:schemeClr>
                </a:solidFill>
              </a:rPr>
              <a:t>Geoplots</a:t>
            </a:r>
            <a:endParaRPr lang="en-US" altLang="zh-MO" sz="3500" b="1" dirty="0">
              <a:solidFill>
                <a:schemeClr val="accent4">
                  <a:lumMod val="75000"/>
                </a:schemeClr>
              </a:solidFill>
            </a:endParaRPr>
          </a:p>
          <a:p>
            <a:pPr marL="0" indent="0">
              <a:buNone/>
            </a:pPr>
            <a:r>
              <a:rPr lang="en-US" sz="2800" b="1" dirty="0">
                <a:solidFill>
                  <a:schemeClr val="accent1"/>
                </a:solidFill>
              </a:rPr>
              <a:t>Choropleth Map – </a:t>
            </a:r>
            <a:r>
              <a:rPr lang="en-US" sz="2800" b="1" dirty="0">
                <a:solidFill>
                  <a:srgbClr val="FF0000"/>
                </a:solidFill>
              </a:rPr>
              <a:t>Design Practices</a:t>
            </a:r>
          </a:p>
          <a:p>
            <a:r>
              <a:rPr lang="en-US" altLang="zh-HK" sz="2400" dirty="0"/>
              <a:t>Use darker colors for higher values, as they are perceived as being higher in magnitude.</a:t>
            </a:r>
          </a:p>
          <a:p>
            <a:r>
              <a:rPr lang="en-US" altLang="zh-HK" sz="2400" dirty="0"/>
              <a:t>Limit the color gradation, since the human eye is limited in how many colors it can easily distinguish between. Seven color gradations should be enough.</a:t>
            </a:r>
          </a:p>
        </p:txBody>
      </p:sp>
      <p:sp>
        <p:nvSpPr>
          <p:cNvPr id="4" name="頁尾版面配置區 3">
            <a:extLst>
              <a:ext uri="{FF2B5EF4-FFF2-40B4-BE49-F238E27FC236}">
                <a16:creationId xmlns:a16="http://schemas.microsoft.com/office/drawing/2014/main" id="{4321BB31-863C-434D-9921-ADDB9CBD49A3}"/>
              </a:ext>
            </a:extLst>
          </p:cNvPr>
          <p:cNvSpPr>
            <a:spLocks noGrp="1"/>
          </p:cNvSpPr>
          <p:nvPr>
            <p:ph type="ftr" sz="quarter" idx="11"/>
          </p:nvPr>
        </p:nvSpPr>
        <p:spPr/>
        <p:txBody>
          <a:bodyPr/>
          <a:lstStyle/>
          <a:p>
            <a:pPr algn="r"/>
            <a:fld id="{215E7548-F18C-4C4B-B96B-B6533EE29CBB}" type="slidenum">
              <a:rPr lang="en-US" altLang="zh-MO" smtClean="0"/>
              <a:pPr algn="r"/>
              <a:t>83</a:t>
            </a:fld>
            <a:endParaRPr lang="en-US" dirty="0"/>
          </a:p>
        </p:txBody>
      </p:sp>
      <p:sp>
        <p:nvSpPr>
          <p:cNvPr id="5" name="文字版面配置區 4">
            <a:extLst>
              <a:ext uri="{FF2B5EF4-FFF2-40B4-BE49-F238E27FC236}">
                <a16:creationId xmlns:a16="http://schemas.microsoft.com/office/drawing/2014/main" id="{96D96DA7-63BE-4A6D-918C-73A25183ECFD}"/>
              </a:ext>
            </a:extLst>
          </p:cNvPr>
          <p:cNvSpPr>
            <a:spLocks noGrp="1"/>
          </p:cNvSpPr>
          <p:nvPr>
            <p:ph type="body" sz="quarter" idx="13"/>
          </p:nvPr>
        </p:nvSpPr>
        <p:spPr>
          <a:xfrm>
            <a:off x="838200" y="676829"/>
            <a:ext cx="8667143" cy="639324"/>
          </a:xfrm>
        </p:spPr>
        <p:txBody>
          <a:bodyPr>
            <a:noAutofit/>
          </a:bodyPr>
          <a:lstStyle/>
          <a:p>
            <a:r>
              <a:rPr lang="en-US" altLang="zh-MO" sz="3200" dirty="0">
                <a:solidFill>
                  <a:srgbClr val="C00000"/>
                </a:solidFill>
              </a:rPr>
              <a:t>CISC7204 Data Science and Data Visualization</a:t>
            </a:r>
            <a:endParaRPr lang="zh-MO" altLang="en-US" sz="3200" dirty="0"/>
          </a:p>
        </p:txBody>
      </p:sp>
    </p:spTree>
    <p:extLst>
      <p:ext uri="{BB962C8B-B14F-4D97-AF65-F5344CB8AC3E}">
        <p14:creationId xmlns:p14="http://schemas.microsoft.com/office/powerpoint/2010/main" val="3281941203"/>
      </p:ext>
    </p:extLst>
  </p:cSld>
  <p:clrMapOvr>
    <a:masterClrMapping/>
  </p:clrMapOvr>
  <mc:AlternateContent xmlns:mc="http://schemas.openxmlformats.org/markup-compatibility/2006" xmlns:p14="http://schemas.microsoft.com/office/powerpoint/2010/main">
    <mc:Choice Requires="p14">
      <p:transition spd="slow" p14:dur="2000" advTm="30010"/>
    </mc:Choice>
    <mc:Fallback xmlns="">
      <p:transition spd="slow" advTm="30010"/>
    </mc:Fallback>
  </mc:AlternateContent>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2C39319-C3EB-463D-A73C-2DEA9D750625}"/>
              </a:ext>
            </a:extLst>
          </p:cNvPr>
          <p:cNvSpPr>
            <a:spLocks noGrp="1"/>
          </p:cNvSpPr>
          <p:nvPr>
            <p:ph type="title"/>
          </p:nvPr>
        </p:nvSpPr>
        <p:spPr/>
        <p:txBody>
          <a:bodyPr>
            <a:normAutofit/>
          </a:bodyPr>
          <a:lstStyle/>
          <a:p>
            <a:r>
              <a:rPr lang="en-US" altLang="zh-MO" sz="2800" dirty="0"/>
              <a:t> Introduction to Data Visualization Plots</a:t>
            </a:r>
            <a:endParaRPr lang="zh-MO" altLang="en-US" sz="2800" dirty="0"/>
          </a:p>
        </p:txBody>
      </p:sp>
      <p:sp>
        <p:nvSpPr>
          <p:cNvPr id="3" name="內容版面配置區 2">
            <a:extLst>
              <a:ext uri="{FF2B5EF4-FFF2-40B4-BE49-F238E27FC236}">
                <a16:creationId xmlns:a16="http://schemas.microsoft.com/office/drawing/2014/main" id="{72697A5A-2B81-4055-BE38-FBF0028B433F}"/>
              </a:ext>
            </a:extLst>
          </p:cNvPr>
          <p:cNvSpPr>
            <a:spLocks noGrp="1"/>
          </p:cNvSpPr>
          <p:nvPr>
            <p:ph idx="1"/>
          </p:nvPr>
        </p:nvSpPr>
        <p:spPr>
          <a:xfrm>
            <a:off x="958466" y="1825625"/>
            <a:ext cx="10450432" cy="4355546"/>
          </a:xfrm>
        </p:spPr>
        <p:txBody>
          <a:bodyPr anchor="ctr">
            <a:normAutofit fontScale="85000" lnSpcReduction="20000"/>
          </a:bodyPr>
          <a:lstStyle/>
          <a:p>
            <a:pPr marL="0" indent="0">
              <a:buNone/>
            </a:pPr>
            <a:r>
              <a:rPr lang="en-US" altLang="zh-MO" sz="3500" b="1" dirty="0">
                <a:solidFill>
                  <a:schemeClr val="accent4">
                    <a:lumMod val="75000"/>
                  </a:schemeClr>
                </a:solidFill>
              </a:rPr>
              <a:t>Part 6: </a:t>
            </a:r>
            <a:r>
              <a:rPr lang="en-US" altLang="zh-MO" sz="3500" b="1" dirty="0" err="1">
                <a:solidFill>
                  <a:schemeClr val="accent4">
                    <a:lumMod val="75000"/>
                  </a:schemeClr>
                </a:solidFill>
              </a:rPr>
              <a:t>Geoplots</a:t>
            </a:r>
            <a:endParaRPr lang="en-US" altLang="zh-MO" sz="3500" b="1" dirty="0">
              <a:solidFill>
                <a:schemeClr val="accent4">
                  <a:lumMod val="75000"/>
                </a:schemeClr>
              </a:solidFill>
            </a:endParaRPr>
          </a:p>
          <a:p>
            <a:pPr marL="0" indent="0">
              <a:buNone/>
            </a:pPr>
            <a:r>
              <a:rPr lang="en-US" sz="2800" b="1" dirty="0">
                <a:solidFill>
                  <a:schemeClr val="accent1"/>
                </a:solidFill>
              </a:rPr>
              <a:t>Connection Map </a:t>
            </a:r>
          </a:p>
          <a:p>
            <a:r>
              <a:rPr lang="en-US" altLang="zh-HK" sz="2400" dirty="0"/>
              <a:t>In a connection map, each line represents a certain number of connections between two locations. The link between the locations can be drawn with a straight or rounded line, representing the shortest distance between them.</a:t>
            </a:r>
          </a:p>
          <a:p>
            <a:r>
              <a:rPr lang="en-US" altLang="zh-HK" sz="2400" dirty="0"/>
              <a:t>Each line has the same thickness and value (the number of connections each line represents). The lines are not meant to be counted; they are only intended to give an impression of magnitude. The size and value of a connection line are important factors for the effectiveness and impression of the visualization.</a:t>
            </a:r>
          </a:p>
          <a:p>
            <a:r>
              <a:rPr lang="en-US" altLang="zh-HK" sz="2400" dirty="0"/>
              <a:t>You can use different colors for the lines to show multiple categories or groups, or you can use a </a:t>
            </a:r>
            <a:r>
              <a:rPr lang="en-US" altLang="zh-HK" sz="2400" dirty="0" err="1"/>
              <a:t>colormap</a:t>
            </a:r>
            <a:r>
              <a:rPr lang="en-US" altLang="zh-HK" sz="2400" dirty="0"/>
              <a:t> to encode the length of the connection.</a:t>
            </a:r>
          </a:p>
          <a:p>
            <a:pPr marL="0" indent="0">
              <a:buNone/>
            </a:pPr>
            <a:r>
              <a:rPr lang="en-US" altLang="zh-HK" sz="2400" b="1" dirty="0">
                <a:solidFill>
                  <a:schemeClr val="accent1"/>
                </a:solidFill>
              </a:rPr>
              <a:t>Use</a:t>
            </a:r>
          </a:p>
          <a:p>
            <a:r>
              <a:rPr lang="en-US" altLang="zh-HK" sz="2400" dirty="0"/>
              <a:t>To visualize connections.</a:t>
            </a:r>
          </a:p>
        </p:txBody>
      </p:sp>
      <p:sp>
        <p:nvSpPr>
          <p:cNvPr id="4" name="頁尾版面配置區 3">
            <a:extLst>
              <a:ext uri="{FF2B5EF4-FFF2-40B4-BE49-F238E27FC236}">
                <a16:creationId xmlns:a16="http://schemas.microsoft.com/office/drawing/2014/main" id="{4321BB31-863C-434D-9921-ADDB9CBD49A3}"/>
              </a:ext>
            </a:extLst>
          </p:cNvPr>
          <p:cNvSpPr>
            <a:spLocks noGrp="1"/>
          </p:cNvSpPr>
          <p:nvPr>
            <p:ph type="ftr" sz="quarter" idx="11"/>
          </p:nvPr>
        </p:nvSpPr>
        <p:spPr/>
        <p:txBody>
          <a:bodyPr/>
          <a:lstStyle/>
          <a:p>
            <a:pPr algn="r"/>
            <a:fld id="{215E7548-F18C-4C4B-B96B-B6533EE29CBB}" type="slidenum">
              <a:rPr lang="en-US" altLang="zh-MO" smtClean="0"/>
              <a:pPr algn="r"/>
              <a:t>84</a:t>
            </a:fld>
            <a:endParaRPr lang="en-US" dirty="0"/>
          </a:p>
        </p:txBody>
      </p:sp>
      <p:sp>
        <p:nvSpPr>
          <p:cNvPr id="5" name="文字版面配置區 4">
            <a:extLst>
              <a:ext uri="{FF2B5EF4-FFF2-40B4-BE49-F238E27FC236}">
                <a16:creationId xmlns:a16="http://schemas.microsoft.com/office/drawing/2014/main" id="{96D96DA7-63BE-4A6D-918C-73A25183ECFD}"/>
              </a:ext>
            </a:extLst>
          </p:cNvPr>
          <p:cNvSpPr>
            <a:spLocks noGrp="1"/>
          </p:cNvSpPr>
          <p:nvPr>
            <p:ph type="body" sz="quarter" idx="13"/>
          </p:nvPr>
        </p:nvSpPr>
        <p:spPr>
          <a:xfrm>
            <a:off x="838200" y="676829"/>
            <a:ext cx="8667143" cy="639324"/>
          </a:xfrm>
        </p:spPr>
        <p:txBody>
          <a:bodyPr>
            <a:noAutofit/>
          </a:bodyPr>
          <a:lstStyle/>
          <a:p>
            <a:r>
              <a:rPr lang="en-US" altLang="zh-MO" sz="3200" dirty="0">
                <a:solidFill>
                  <a:srgbClr val="C00000"/>
                </a:solidFill>
              </a:rPr>
              <a:t>CISC7204 Data Science and Data Visualization</a:t>
            </a:r>
            <a:endParaRPr lang="zh-MO" altLang="en-US" sz="3200" dirty="0"/>
          </a:p>
        </p:txBody>
      </p:sp>
    </p:spTree>
    <p:extLst>
      <p:ext uri="{BB962C8B-B14F-4D97-AF65-F5344CB8AC3E}">
        <p14:creationId xmlns:p14="http://schemas.microsoft.com/office/powerpoint/2010/main" val="1290980326"/>
      </p:ext>
    </p:extLst>
  </p:cSld>
  <p:clrMapOvr>
    <a:masterClrMapping/>
  </p:clrMapOvr>
  <mc:AlternateContent xmlns:mc="http://schemas.openxmlformats.org/markup-compatibility/2006" xmlns:p14="http://schemas.microsoft.com/office/powerpoint/2010/main">
    <mc:Choice Requires="p14">
      <p:transition spd="slow" p14:dur="2000" advTm="30010"/>
    </mc:Choice>
    <mc:Fallback xmlns="">
      <p:transition spd="slow" advTm="30010"/>
    </mc:Fallback>
  </mc:AlternateContent>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2C39319-C3EB-463D-A73C-2DEA9D750625}"/>
              </a:ext>
            </a:extLst>
          </p:cNvPr>
          <p:cNvSpPr>
            <a:spLocks noGrp="1"/>
          </p:cNvSpPr>
          <p:nvPr>
            <p:ph type="title"/>
          </p:nvPr>
        </p:nvSpPr>
        <p:spPr/>
        <p:txBody>
          <a:bodyPr>
            <a:normAutofit/>
          </a:bodyPr>
          <a:lstStyle/>
          <a:p>
            <a:r>
              <a:rPr lang="en-US" altLang="zh-MO" sz="2800" dirty="0"/>
              <a:t> Introduction to Data Visualization Plots</a:t>
            </a:r>
            <a:endParaRPr lang="zh-MO" altLang="en-US" sz="2800" dirty="0"/>
          </a:p>
        </p:txBody>
      </p:sp>
      <p:sp>
        <p:nvSpPr>
          <p:cNvPr id="3" name="內容版面配置區 2">
            <a:extLst>
              <a:ext uri="{FF2B5EF4-FFF2-40B4-BE49-F238E27FC236}">
                <a16:creationId xmlns:a16="http://schemas.microsoft.com/office/drawing/2014/main" id="{72697A5A-2B81-4055-BE38-FBF0028B433F}"/>
              </a:ext>
            </a:extLst>
          </p:cNvPr>
          <p:cNvSpPr>
            <a:spLocks noGrp="1"/>
          </p:cNvSpPr>
          <p:nvPr>
            <p:ph idx="1"/>
          </p:nvPr>
        </p:nvSpPr>
        <p:spPr>
          <a:xfrm>
            <a:off x="958467" y="1825625"/>
            <a:ext cx="1556134" cy="4355546"/>
          </a:xfrm>
        </p:spPr>
        <p:txBody>
          <a:bodyPr anchor="ctr">
            <a:normAutofit/>
          </a:bodyPr>
          <a:lstStyle/>
          <a:p>
            <a:pPr marL="0" indent="0">
              <a:buNone/>
            </a:pPr>
            <a:r>
              <a:rPr lang="en-US" altLang="zh-MO" sz="2000" b="1" dirty="0">
                <a:solidFill>
                  <a:schemeClr val="accent4">
                    <a:lumMod val="75000"/>
                  </a:schemeClr>
                </a:solidFill>
              </a:rPr>
              <a:t>Part 6: </a:t>
            </a:r>
            <a:r>
              <a:rPr lang="en-US" altLang="zh-MO" sz="2000" b="1" dirty="0" err="1">
                <a:solidFill>
                  <a:schemeClr val="accent4">
                    <a:lumMod val="75000"/>
                  </a:schemeClr>
                </a:solidFill>
              </a:rPr>
              <a:t>Geoplots</a:t>
            </a:r>
            <a:endParaRPr lang="en-US" altLang="zh-MO" sz="2000" b="1" dirty="0">
              <a:solidFill>
                <a:schemeClr val="accent4">
                  <a:lumMod val="75000"/>
                </a:schemeClr>
              </a:solidFill>
            </a:endParaRPr>
          </a:p>
          <a:p>
            <a:pPr marL="0" indent="0">
              <a:buNone/>
            </a:pPr>
            <a:r>
              <a:rPr lang="en-US" sz="1800" b="1" dirty="0">
                <a:solidFill>
                  <a:schemeClr val="accent1"/>
                </a:solidFill>
              </a:rPr>
              <a:t>Connection Map </a:t>
            </a:r>
          </a:p>
          <a:p>
            <a:pPr marL="0" indent="0">
              <a:buNone/>
            </a:pPr>
            <a:r>
              <a:rPr lang="en-US" altLang="zh-HK" sz="1800" b="1" dirty="0">
                <a:solidFill>
                  <a:srgbClr val="FF0000"/>
                </a:solidFill>
              </a:rPr>
              <a:t>Example</a:t>
            </a:r>
          </a:p>
          <a:p>
            <a:pPr marL="0" indent="0">
              <a:buNone/>
            </a:pPr>
            <a:r>
              <a:rPr lang="en-US" altLang="zh-HK" sz="1600" dirty="0"/>
              <a:t>The following diagram shows a connection map of flight connections around the world:</a:t>
            </a:r>
          </a:p>
        </p:txBody>
      </p:sp>
      <p:sp>
        <p:nvSpPr>
          <p:cNvPr id="4" name="頁尾版面配置區 3">
            <a:extLst>
              <a:ext uri="{FF2B5EF4-FFF2-40B4-BE49-F238E27FC236}">
                <a16:creationId xmlns:a16="http://schemas.microsoft.com/office/drawing/2014/main" id="{4321BB31-863C-434D-9921-ADDB9CBD49A3}"/>
              </a:ext>
            </a:extLst>
          </p:cNvPr>
          <p:cNvSpPr>
            <a:spLocks noGrp="1"/>
          </p:cNvSpPr>
          <p:nvPr>
            <p:ph type="ftr" sz="quarter" idx="11"/>
          </p:nvPr>
        </p:nvSpPr>
        <p:spPr/>
        <p:txBody>
          <a:bodyPr/>
          <a:lstStyle/>
          <a:p>
            <a:pPr algn="r"/>
            <a:fld id="{215E7548-F18C-4C4B-B96B-B6533EE29CBB}" type="slidenum">
              <a:rPr lang="en-US" altLang="zh-MO" smtClean="0"/>
              <a:pPr algn="r"/>
              <a:t>85</a:t>
            </a:fld>
            <a:endParaRPr lang="en-US" dirty="0"/>
          </a:p>
        </p:txBody>
      </p:sp>
      <p:sp>
        <p:nvSpPr>
          <p:cNvPr id="5" name="文字版面配置區 4">
            <a:extLst>
              <a:ext uri="{FF2B5EF4-FFF2-40B4-BE49-F238E27FC236}">
                <a16:creationId xmlns:a16="http://schemas.microsoft.com/office/drawing/2014/main" id="{96D96DA7-63BE-4A6D-918C-73A25183ECFD}"/>
              </a:ext>
            </a:extLst>
          </p:cNvPr>
          <p:cNvSpPr>
            <a:spLocks noGrp="1"/>
          </p:cNvSpPr>
          <p:nvPr>
            <p:ph type="body" sz="quarter" idx="13"/>
          </p:nvPr>
        </p:nvSpPr>
        <p:spPr>
          <a:xfrm>
            <a:off x="838200" y="676829"/>
            <a:ext cx="8667143" cy="639324"/>
          </a:xfrm>
        </p:spPr>
        <p:txBody>
          <a:bodyPr>
            <a:noAutofit/>
          </a:bodyPr>
          <a:lstStyle/>
          <a:p>
            <a:r>
              <a:rPr lang="en-US" altLang="zh-MO" sz="3200" dirty="0">
                <a:solidFill>
                  <a:srgbClr val="C00000"/>
                </a:solidFill>
              </a:rPr>
              <a:t>CISC7204 Data Science and Data Visualization</a:t>
            </a:r>
            <a:endParaRPr lang="zh-MO" altLang="en-US" sz="3200" dirty="0"/>
          </a:p>
        </p:txBody>
      </p:sp>
      <p:pic>
        <p:nvPicPr>
          <p:cNvPr id="6" name="圖片 5"/>
          <p:cNvPicPr>
            <a:picLocks noChangeAspect="1"/>
          </p:cNvPicPr>
          <p:nvPr/>
        </p:nvPicPr>
        <p:blipFill>
          <a:blip r:embed="rId2"/>
          <a:stretch>
            <a:fillRect/>
          </a:stretch>
        </p:blipFill>
        <p:spPr>
          <a:xfrm>
            <a:off x="2857500" y="1980763"/>
            <a:ext cx="6329363" cy="4200408"/>
          </a:xfrm>
          <a:prstGeom prst="rect">
            <a:avLst/>
          </a:prstGeom>
        </p:spPr>
      </p:pic>
      <p:sp>
        <p:nvSpPr>
          <p:cNvPr id="7" name="矩形 6"/>
          <p:cNvSpPr/>
          <p:nvPr/>
        </p:nvSpPr>
        <p:spPr>
          <a:xfrm>
            <a:off x="9505343" y="2101334"/>
            <a:ext cx="1811783" cy="1200329"/>
          </a:xfrm>
          <a:prstGeom prst="rect">
            <a:avLst/>
          </a:prstGeom>
        </p:spPr>
        <p:txBody>
          <a:bodyPr wrap="square">
            <a:spAutoFit/>
          </a:bodyPr>
          <a:lstStyle/>
          <a:p>
            <a:r>
              <a:rPr lang="en-US" altLang="zh-HK" dirty="0"/>
              <a:t>Connection map showing flight connections around the world</a:t>
            </a:r>
            <a:endParaRPr lang="zh-HK" altLang="en-US" dirty="0"/>
          </a:p>
        </p:txBody>
      </p:sp>
    </p:spTree>
    <p:extLst>
      <p:ext uri="{BB962C8B-B14F-4D97-AF65-F5344CB8AC3E}">
        <p14:creationId xmlns:p14="http://schemas.microsoft.com/office/powerpoint/2010/main" val="854822774"/>
      </p:ext>
    </p:extLst>
  </p:cSld>
  <p:clrMapOvr>
    <a:masterClrMapping/>
  </p:clrMapOvr>
  <mc:AlternateContent xmlns:mc="http://schemas.openxmlformats.org/markup-compatibility/2006" xmlns:p14="http://schemas.microsoft.com/office/powerpoint/2010/main">
    <mc:Choice Requires="p14">
      <p:transition spd="slow" p14:dur="2000" advTm="30010"/>
    </mc:Choice>
    <mc:Fallback xmlns="">
      <p:transition spd="slow" advTm="30010"/>
    </mc:Fallback>
  </mc:AlternateContent>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2C39319-C3EB-463D-A73C-2DEA9D750625}"/>
              </a:ext>
            </a:extLst>
          </p:cNvPr>
          <p:cNvSpPr>
            <a:spLocks noGrp="1"/>
          </p:cNvSpPr>
          <p:nvPr>
            <p:ph type="title"/>
          </p:nvPr>
        </p:nvSpPr>
        <p:spPr/>
        <p:txBody>
          <a:bodyPr>
            <a:normAutofit/>
          </a:bodyPr>
          <a:lstStyle/>
          <a:p>
            <a:r>
              <a:rPr lang="en-US" altLang="zh-MO" sz="2800" dirty="0"/>
              <a:t> Introduction to Data Visualization Plots</a:t>
            </a:r>
            <a:endParaRPr lang="zh-MO" altLang="en-US" sz="2800" dirty="0"/>
          </a:p>
        </p:txBody>
      </p:sp>
      <p:sp>
        <p:nvSpPr>
          <p:cNvPr id="3" name="內容版面配置區 2">
            <a:extLst>
              <a:ext uri="{FF2B5EF4-FFF2-40B4-BE49-F238E27FC236}">
                <a16:creationId xmlns:a16="http://schemas.microsoft.com/office/drawing/2014/main" id="{72697A5A-2B81-4055-BE38-FBF0028B433F}"/>
              </a:ext>
            </a:extLst>
          </p:cNvPr>
          <p:cNvSpPr>
            <a:spLocks noGrp="1"/>
          </p:cNvSpPr>
          <p:nvPr>
            <p:ph idx="1"/>
          </p:nvPr>
        </p:nvSpPr>
        <p:spPr>
          <a:xfrm>
            <a:off x="958466" y="1825625"/>
            <a:ext cx="10450432" cy="4355546"/>
          </a:xfrm>
        </p:spPr>
        <p:txBody>
          <a:bodyPr anchor="ctr">
            <a:normAutofit/>
          </a:bodyPr>
          <a:lstStyle/>
          <a:p>
            <a:pPr marL="0" indent="0">
              <a:buNone/>
            </a:pPr>
            <a:r>
              <a:rPr lang="en-US" altLang="zh-MO" sz="3500" b="1" dirty="0">
                <a:solidFill>
                  <a:schemeClr val="accent4">
                    <a:lumMod val="75000"/>
                  </a:schemeClr>
                </a:solidFill>
              </a:rPr>
              <a:t>Part 6: </a:t>
            </a:r>
            <a:r>
              <a:rPr lang="en-US" altLang="zh-MO" sz="3500" b="1" dirty="0" err="1">
                <a:solidFill>
                  <a:schemeClr val="accent4">
                    <a:lumMod val="75000"/>
                  </a:schemeClr>
                </a:solidFill>
              </a:rPr>
              <a:t>Geoplots</a:t>
            </a:r>
            <a:endParaRPr lang="en-US" altLang="zh-MO" sz="3500" b="1" dirty="0">
              <a:solidFill>
                <a:schemeClr val="accent4">
                  <a:lumMod val="75000"/>
                </a:schemeClr>
              </a:solidFill>
            </a:endParaRPr>
          </a:p>
          <a:p>
            <a:pPr marL="0" indent="0">
              <a:buNone/>
            </a:pPr>
            <a:r>
              <a:rPr lang="en-US" sz="2800" b="1" dirty="0">
                <a:solidFill>
                  <a:schemeClr val="accent1"/>
                </a:solidFill>
              </a:rPr>
              <a:t>Connection Map – </a:t>
            </a:r>
            <a:r>
              <a:rPr lang="en-US" sz="2800" b="1" dirty="0">
                <a:solidFill>
                  <a:srgbClr val="FF0000"/>
                </a:solidFill>
              </a:rPr>
              <a:t>Design Practices</a:t>
            </a:r>
          </a:p>
          <a:p>
            <a:r>
              <a:rPr lang="en-US" altLang="zh-HK" sz="2400" dirty="0"/>
              <a:t>Do not show too many connections as it will be difficult for you to analyze the data. You should still see the map to get a feel for the actual locations of the start and end points.</a:t>
            </a:r>
          </a:p>
          <a:p>
            <a:r>
              <a:rPr lang="en-US" altLang="zh-HK" sz="2400" dirty="0"/>
              <a:t>Choose a line thickness and value so that the lines start to blend in dense areas. The connection map should give a good impression of the underlying spatial distribution.</a:t>
            </a:r>
          </a:p>
        </p:txBody>
      </p:sp>
      <p:sp>
        <p:nvSpPr>
          <p:cNvPr id="4" name="頁尾版面配置區 3">
            <a:extLst>
              <a:ext uri="{FF2B5EF4-FFF2-40B4-BE49-F238E27FC236}">
                <a16:creationId xmlns:a16="http://schemas.microsoft.com/office/drawing/2014/main" id="{4321BB31-863C-434D-9921-ADDB9CBD49A3}"/>
              </a:ext>
            </a:extLst>
          </p:cNvPr>
          <p:cNvSpPr>
            <a:spLocks noGrp="1"/>
          </p:cNvSpPr>
          <p:nvPr>
            <p:ph type="ftr" sz="quarter" idx="11"/>
          </p:nvPr>
        </p:nvSpPr>
        <p:spPr/>
        <p:txBody>
          <a:bodyPr/>
          <a:lstStyle/>
          <a:p>
            <a:pPr algn="r"/>
            <a:fld id="{215E7548-F18C-4C4B-B96B-B6533EE29CBB}" type="slidenum">
              <a:rPr lang="en-US" altLang="zh-MO" smtClean="0"/>
              <a:pPr algn="r"/>
              <a:t>86</a:t>
            </a:fld>
            <a:endParaRPr lang="en-US" dirty="0"/>
          </a:p>
        </p:txBody>
      </p:sp>
      <p:sp>
        <p:nvSpPr>
          <p:cNvPr id="5" name="文字版面配置區 4">
            <a:extLst>
              <a:ext uri="{FF2B5EF4-FFF2-40B4-BE49-F238E27FC236}">
                <a16:creationId xmlns:a16="http://schemas.microsoft.com/office/drawing/2014/main" id="{96D96DA7-63BE-4A6D-918C-73A25183ECFD}"/>
              </a:ext>
            </a:extLst>
          </p:cNvPr>
          <p:cNvSpPr>
            <a:spLocks noGrp="1"/>
          </p:cNvSpPr>
          <p:nvPr>
            <p:ph type="body" sz="quarter" idx="13"/>
          </p:nvPr>
        </p:nvSpPr>
        <p:spPr>
          <a:xfrm>
            <a:off x="838200" y="676829"/>
            <a:ext cx="8667143" cy="639324"/>
          </a:xfrm>
        </p:spPr>
        <p:txBody>
          <a:bodyPr>
            <a:noAutofit/>
          </a:bodyPr>
          <a:lstStyle/>
          <a:p>
            <a:r>
              <a:rPr lang="en-US" altLang="zh-MO" sz="3200" dirty="0">
                <a:solidFill>
                  <a:srgbClr val="C00000"/>
                </a:solidFill>
              </a:rPr>
              <a:t>CISC7204 Data Science and Data Visualization</a:t>
            </a:r>
            <a:endParaRPr lang="zh-MO" altLang="en-US" sz="3200" dirty="0"/>
          </a:p>
        </p:txBody>
      </p:sp>
    </p:spTree>
    <p:extLst>
      <p:ext uri="{BB962C8B-B14F-4D97-AF65-F5344CB8AC3E}">
        <p14:creationId xmlns:p14="http://schemas.microsoft.com/office/powerpoint/2010/main" val="3435897109"/>
      </p:ext>
    </p:extLst>
  </p:cSld>
  <p:clrMapOvr>
    <a:masterClrMapping/>
  </p:clrMapOvr>
  <mc:AlternateContent xmlns:mc="http://schemas.openxmlformats.org/markup-compatibility/2006" xmlns:p14="http://schemas.microsoft.com/office/powerpoint/2010/main">
    <mc:Choice Requires="p14">
      <p:transition spd="slow" p14:dur="2000" advTm="30010"/>
    </mc:Choice>
    <mc:Fallback xmlns="">
      <p:transition spd="slow" advTm="30010"/>
    </mc:Fallback>
  </mc:AlternateContent>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2C39319-C3EB-463D-A73C-2DEA9D750625}"/>
              </a:ext>
            </a:extLst>
          </p:cNvPr>
          <p:cNvSpPr>
            <a:spLocks noGrp="1"/>
          </p:cNvSpPr>
          <p:nvPr>
            <p:ph type="title"/>
          </p:nvPr>
        </p:nvSpPr>
        <p:spPr/>
        <p:txBody>
          <a:bodyPr>
            <a:normAutofit/>
          </a:bodyPr>
          <a:lstStyle/>
          <a:p>
            <a:r>
              <a:rPr lang="en-US" altLang="zh-MO" sz="2800" dirty="0"/>
              <a:t> Introduction to Data Visualization Plots</a:t>
            </a:r>
            <a:endParaRPr lang="zh-MO" altLang="en-US" sz="2800" dirty="0"/>
          </a:p>
        </p:txBody>
      </p:sp>
      <p:sp>
        <p:nvSpPr>
          <p:cNvPr id="3" name="內容版面配置區 2">
            <a:extLst>
              <a:ext uri="{FF2B5EF4-FFF2-40B4-BE49-F238E27FC236}">
                <a16:creationId xmlns:a16="http://schemas.microsoft.com/office/drawing/2014/main" id="{72697A5A-2B81-4055-BE38-FBF0028B433F}"/>
              </a:ext>
            </a:extLst>
          </p:cNvPr>
          <p:cNvSpPr>
            <a:spLocks noGrp="1"/>
          </p:cNvSpPr>
          <p:nvPr>
            <p:ph idx="1"/>
          </p:nvPr>
        </p:nvSpPr>
        <p:spPr>
          <a:xfrm>
            <a:off x="958466" y="1825625"/>
            <a:ext cx="10450432" cy="4355546"/>
          </a:xfrm>
        </p:spPr>
        <p:txBody>
          <a:bodyPr anchor="ctr">
            <a:normAutofit/>
          </a:bodyPr>
          <a:lstStyle/>
          <a:p>
            <a:pPr marL="0" indent="0">
              <a:buNone/>
            </a:pPr>
            <a:r>
              <a:rPr lang="en-US" altLang="zh-MO" sz="3500" b="1" dirty="0">
                <a:solidFill>
                  <a:schemeClr val="accent4">
                    <a:lumMod val="75000"/>
                  </a:schemeClr>
                </a:solidFill>
              </a:rPr>
              <a:t>Part 6: </a:t>
            </a:r>
            <a:r>
              <a:rPr lang="en-US" altLang="zh-MO" sz="3500" b="1" dirty="0" err="1">
                <a:solidFill>
                  <a:schemeClr val="accent4">
                    <a:lumMod val="75000"/>
                  </a:schemeClr>
                </a:solidFill>
              </a:rPr>
              <a:t>Geoplots</a:t>
            </a:r>
            <a:endParaRPr lang="en-US" altLang="zh-MO" sz="3500" b="1" dirty="0">
              <a:solidFill>
                <a:schemeClr val="accent4">
                  <a:lumMod val="75000"/>
                </a:schemeClr>
              </a:solidFill>
            </a:endParaRPr>
          </a:p>
          <a:p>
            <a:pPr marL="0" indent="0">
              <a:buNone/>
            </a:pPr>
            <a:r>
              <a:rPr lang="en-US" sz="2800" b="1" dirty="0">
                <a:solidFill>
                  <a:schemeClr val="accent1"/>
                </a:solidFill>
              </a:rPr>
              <a:t>Sum Up</a:t>
            </a:r>
            <a:endParaRPr lang="en-US" sz="2800" b="1" dirty="0">
              <a:solidFill>
                <a:srgbClr val="FF0000"/>
              </a:solidFill>
            </a:endParaRPr>
          </a:p>
          <a:p>
            <a:r>
              <a:rPr lang="en-US" altLang="zh-HK" sz="2400" dirty="0" err="1"/>
              <a:t>Geoplots</a:t>
            </a:r>
            <a:r>
              <a:rPr lang="en-US" altLang="zh-HK" sz="2400" dirty="0"/>
              <a:t> are special plots that are great for visualizing geospatial data. In the following section, we want to briefly talk about what’s generally important when it comes to creating good visualizations.</a:t>
            </a:r>
          </a:p>
        </p:txBody>
      </p:sp>
      <p:sp>
        <p:nvSpPr>
          <p:cNvPr id="4" name="頁尾版面配置區 3">
            <a:extLst>
              <a:ext uri="{FF2B5EF4-FFF2-40B4-BE49-F238E27FC236}">
                <a16:creationId xmlns:a16="http://schemas.microsoft.com/office/drawing/2014/main" id="{4321BB31-863C-434D-9921-ADDB9CBD49A3}"/>
              </a:ext>
            </a:extLst>
          </p:cNvPr>
          <p:cNvSpPr>
            <a:spLocks noGrp="1"/>
          </p:cNvSpPr>
          <p:nvPr>
            <p:ph type="ftr" sz="quarter" idx="11"/>
          </p:nvPr>
        </p:nvSpPr>
        <p:spPr/>
        <p:txBody>
          <a:bodyPr/>
          <a:lstStyle/>
          <a:p>
            <a:pPr algn="r"/>
            <a:fld id="{215E7548-F18C-4C4B-B96B-B6533EE29CBB}" type="slidenum">
              <a:rPr lang="en-US" altLang="zh-MO" smtClean="0"/>
              <a:pPr algn="r"/>
              <a:t>87</a:t>
            </a:fld>
            <a:endParaRPr lang="en-US" dirty="0"/>
          </a:p>
        </p:txBody>
      </p:sp>
      <p:sp>
        <p:nvSpPr>
          <p:cNvPr id="5" name="文字版面配置區 4">
            <a:extLst>
              <a:ext uri="{FF2B5EF4-FFF2-40B4-BE49-F238E27FC236}">
                <a16:creationId xmlns:a16="http://schemas.microsoft.com/office/drawing/2014/main" id="{96D96DA7-63BE-4A6D-918C-73A25183ECFD}"/>
              </a:ext>
            </a:extLst>
          </p:cNvPr>
          <p:cNvSpPr>
            <a:spLocks noGrp="1"/>
          </p:cNvSpPr>
          <p:nvPr>
            <p:ph type="body" sz="quarter" idx="13"/>
          </p:nvPr>
        </p:nvSpPr>
        <p:spPr>
          <a:xfrm>
            <a:off x="838200" y="676829"/>
            <a:ext cx="8667143" cy="639324"/>
          </a:xfrm>
        </p:spPr>
        <p:txBody>
          <a:bodyPr>
            <a:noAutofit/>
          </a:bodyPr>
          <a:lstStyle/>
          <a:p>
            <a:r>
              <a:rPr lang="en-US" altLang="zh-MO" sz="3200" dirty="0">
                <a:solidFill>
                  <a:srgbClr val="C00000"/>
                </a:solidFill>
              </a:rPr>
              <a:t>CISC7204 Data Science and Data Visualization</a:t>
            </a:r>
            <a:endParaRPr lang="zh-MO" altLang="en-US" sz="3200" dirty="0"/>
          </a:p>
        </p:txBody>
      </p:sp>
    </p:spTree>
    <p:extLst>
      <p:ext uri="{BB962C8B-B14F-4D97-AF65-F5344CB8AC3E}">
        <p14:creationId xmlns:p14="http://schemas.microsoft.com/office/powerpoint/2010/main" val="2062576659"/>
      </p:ext>
    </p:extLst>
  </p:cSld>
  <p:clrMapOvr>
    <a:masterClrMapping/>
  </p:clrMapOvr>
  <mc:AlternateContent xmlns:mc="http://schemas.openxmlformats.org/markup-compatibility/2006" xmlns:p14="http://schemas.microsoft.com/office/powerpoint/2010/main">
    <mc:Choice Requires="p14">
      <p:transition spd="slow" p14:dur="2000" advTm="30010"/>
    </mc:Choice>
    <mc:Fallback xmlns="">
      <p:transition spd="slow" advTm="30010"/>
    </mc:Fallback>
  </mc:AlternateContent>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2C39319-C3EB-463D-A73C-2DEA9D750625}"/>
              </a:ext>
            </a:extLst>
          </p:cNvPr>
          <p:cNvSpPr>
            <a:spLocks noGrp="1"/>
          </p:cNvSpPr>
          <p:nvPr>
            <p:ph type="title"/>
          </p:nvPr>
        </p:nvSpPr>
        <p:spPr/>
        <p:txBody>
          <a:bodyPr>
            <a:normAutofit/>
          </a:bodyPr>
          <a:lstStyle/>
          <a:p>
            <a:r>
              <a:rPr lang="en-US" altLang="zh-MO" sz="2800" dirty="0"/>
              <a:t> Introduction to Data Visualization Plots</a:t>
            </a:r>
            <a:endParaRPr lang="zh-MO" altLang="en-US" sz="2800" dirty="0"/>
          </a:p>
        </p:txBody>
      </p:sp>
      <p:sp>
        <p:nvSpPr>
          <p:cNvPr id="3" name="內容版面配置區 2">
            <a:extLst>
              <a:ext uri="{FF2B5EF4-FFF2-40B4-BE49-F238E27FC236}">
                <a16:creationId xmlns:a16="http://schemas.microsoft.com/office/drawing/2014/main" id="{72697A5A-2B81-4055-BE38-FBF0028B433F}"/>
              </a:ext>
            </a:extLst>
          </p:cNvPr>
          <p:cNvSpPr>
            <a:spLocks noGrp="1"/>
          </p:cNvSpPr>
          <p:nvPr>
            <p:ph idx="1"/>
          </p:nvPr>
        </p:nvSpPr>
        <p:spPr>
          <a:xfrm>
            <a:off x="1026354" y="1858687"/>
            <a:ext cx="10211282" cy="4355546"/>
          </a:xfrm>
        </p:spPr>
        <p:txBody>
          <a:bodyPr anchor="ctr">
            <a:normAutofit/>
          </a:bodyPr>
          <a:lstStyle/>
          <a:p>
            <a:pPr marL="0" indent="0">
              <a:buNone/>
            </a:pPr>
            <a:r>
              <a:rPr lang="en-US" altLang="zh-MO" b="1" dirty="0">
                <a:solidFill>
                  <a:schemeClr val="accent4">
                    <a:lumMod val="75000"/>
                  </a:schemeClr>
                </a:solidFill>
              </a:rPr>
              <a:t>Part 7: What Makes a Good Visualization?</a:t>
            </a:r>
          </a:p>
          <a:p>
            <a:pPr marL="0" indent="0">
              <a:buNone/>
            </a:pPr>
            <a:r>
              <a:rPr lang="en-US" sz="2200" b="1" dirty="0">
                <a:solidFill>
                  <a:srgbClr val="FF0000"/>
                </a:solidFill>
              </a:rPr>
              <a:t>There are multiple aspects to what makes a good visualization:</a:t>
            </a:r>
          </a:p>
          <a:p>
            <a:r>
              <a:rPr lang="en-US" sz="2000" b="1" dirty="0"/>
              <a:t>Most importantly, the visualization should be </a:t>
            </a:r>
            <a:r>
              <a:rPr lang="en-US" sz="2000" b="1" dirty="0">
                <a:solidFill>
                  <a:schemeClr val="accent2"/>
                </a:solidFill>
              </a:rPr>
              <a:t>self-explanatory</a:t>
            </a:r>
            <a:r>
              <a:rPr lang="en-US" sz="2000" b="1" dirty="0"/>
              <a:t> and visually appealing. To make it self-explanatory, use a legend, descriptive labels for your x-axis and y-axis, and titles.</a:t>
            </a:r>
          </a:p>
          <a:p>
            <a:r>
              <a:rPr lang="en-US" sz="2000" b="1" dirty="0"/>
              <a:t>A visualization should tell a story and be designed for your audience. </a:t>
            </a:r>
          </a:p>
          <a:p>
            <a:pPr lvl="1"/>
            <a:r>
              <a:rPr lang="en-US" sz="2000" b="1" dirty="0"/>
              <a:t>Before creating your visualization, think about your </a:t>
            </a:r>
            <a:r>
              <a:rPr lang="en-US" sz="2000" b="1" dirty="0">
                <a:solidFill>
                  <a:schemeClr val="accent2"/>
                </a:solidFill>
              </a:rPr>
              <a:t>target audience</a:t>
            </a:r>
            <a:r>
              <a:rPr lang="en-US" sz="2000" b="1" dirty="0"/>
              <a:t>; create simple visualizations for a non-specialist audience and more technical detailed visualizations for a specialist audience. </a:t>
            </a:r>
          </a:p>
          <a:p>
            <a:pPr lvl="1"/>
            <a:r>
              <a:rPr lang="en-US" sz="2000" b="1" dirty="0"/>
              <a:t>Think about a </a:t>
            </a:r>
            <a:r>
              <a:rPr lang="en-US" sz="2000" b="1" dirty="0">
                <a:solidFill>
                  <a:schemeClr val="accent2"/>
                </a:solidFill>
              </a:rPr>
              <a:t>story to tell with your visualization </a:t>
            </a:r>
            <a:r>
              <a:rPr lang="en-US" sz="2000" b="1" dirty="0"/>
              <a:t>so that your visualization leaves an impression on the audience.</a:t>
            </a:r>
          </a:p>
        </p:txBody>
      </p:sp>
      <p:sp>
        <p:nvSpPr>
          <p:cNvPr id="4" name="頁尾版面配置區 3">
            <a:extLst>
              <a:ext uri="{FF2B5EF4-FFF2-40B4-BE49-F238E27FC236}">
                <a16:creationId xmlns:a16="http://schemas.microsoft.com/office/drawing/2014/main" id="{4321BB31-863C-434D-9921-ADDB9CBD49A3}"/>
              </a:ext>
            </a:extLst>
          </p:cNvPr>
          <p:cNvSpPr>
            <a:spLocks noGrp="1"/>
          </p:cNvSpPr>
          <p:nvPr>
            <p:ph type="ftr" sz="quarter" idx="11"/>
          </p:nvPr>
        </p:nvSpPr>
        <p:spPr/>
        <p:txBody>
          <a:bodyPr/>
          <a:lstStyle/>
          <a:p>
            <a:pPr algn="r"/>
            <a:fld id="{215E7548-F18C-4C4B-B96B-B6533EE29CBB}" type="slidenum">
              <a:rPr lang="en-US" altLang="zh-MO" smtClean="0"/>
              <a:pPr algn="r"/>
              <a:t>88</a:t>
            </a:fld>
            <a:endParaRPr lang="en-US" dirty="0"/>
          </a:p>
        </p:txBody>
      </p:sp>
      <p:sp>
        <p:nvSpPr>
          <p:cNvPr id="5" name="文字版面配置區 4">
            <a:extLst>
              <a:ext uri="{FF2B5EF4-FFF2-40B4-BE49-F238E27FC236}">
                <a16:creationId xmlns:a16="http://schemas.microsoft.com/office/drawing/2014/main" id="{96D96DA7-63BE-4A6D-918C-73A25183ECFD}"/>
              </a:ext>
            </a:extLst>
          </p:cNvPr>
          <p:cNvSpPr>
            <a:spLocks noGrp="1"/>
          </p:cNvSpPr>
          <p:nvPr>
            <p:ph type="body" sz="quarter" idx="13"/>
          </p:nvPr>
        </p:nvSpPr>
        <p:spPr>
          <a:xfrm>
            <a:off x="838200" y="676829"/>
            <a:ext cx="8667143" cy="639324"/>
          </a:xfrm>
        </p:spPr>
        <p:txBody>
          <a:bodyPr>
            <a:noAutofit/>
          </a:bodyPr>
          <a:lstStyle/>
          <a:p>
            <a:r>
              <a:rPr lang="en-US" altLang="zh-MO" sz="3200" dirty="0">
                <a:solidFill>
                  <a:srgbClr val="C00000"/>
                </a:solidFill>
              </a:rPr>
              <a:t>CISC7204 Data Science and Data Visualization</a:t>
            </a:r>
            <a:endParaRPr lang="zh-MO" altLang="en-US" sz="3200" dirty="0"/>
          </a:p>
        </p:txBody>
      </p:sp>
    </p:spTree>
    <p:extLst>
      <p:ext uri="{BB962C8B-B14F-4D97-AF65-F5344CB8AC3E}">
        <p14:creationId xmlns:p14="http://schemas.microsoft.com/office/powerpoint/2010/main" val="4126928640"/>
      </p:ext>
    </p:extLst>
  </p:cSld>
  <p:clrMapOvr>
    <a:masterClrMapping/>
  </p:clrMapOvr>
  <mc:AlternateContent xmlns:mc="http://schemas.openxmlformats.org/markup-compatibility/2006" xmlns:p14="http://schemas.microsoft.com/office/powerpoint/2010/main">
    <mc:Choice Requires="p14">
      <p:transition spd="slow" p14:dur="2000" advTm="30010"/>
    </mc:Choice>
    <mc:Fallback xmlns="">
      <p:transition spd="slow" advTm="30010"/>
    </mc:Fallback>
  </mc:AlternateContent>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2C39319-C3EB-463D-A73C-2DEA9D750625}"/>
              </a:ext>
            </a:extLst>
          </p:cNvPr>
          <p:cNvSpPr>
            <a:spLocks noGrp="1"/>
          </p:cNvSpPr>
          <p:nvPr>
            <p:ph type="title"/>
          </p:nvPr>
        </p:nvSpPr>
        <p:spPr/>
        <p:txBody>
          <a:bodyPr>
            <a:normAutofit/>
          </a:bodyPr>
          <a:lstStyle/>
          <a:p>
            <a:r>
              <a:rPr lang="en-US" altLang="zh-MO" sz="2800" dirty="0"/>
              <a:t> Introduction to Data Visualization Plots</a:t>
            </a:r>
            <a:endParaRPr lang="zh-MO" altLang="en-US" sz="2800" dirty="0"/>
          </a:p>
        </p:txBody>
      </p:sp>
      <p:sp>
        <p:nvSpPr>
          <p:cNvPr id="3" name="內容版面配置區 2">
            <a:extLst>
              <a:ext uri="{FF2B5EF4-FFF2-40B4-BE49-F238E27FC236}">
                <a16:creationId xmlns:a16="http://schemas.microsoft.com/office/drawing/2014/main" id="{72697A5A-2B81-4055-BE38-FBF0028B433F}"/>
              </a:ext>
            </a:extLst>
          </p:cNvPr>
          <p:cNvSpPr>
            <a:spLocks noGrp="1"/>
          </p:cNvSpPr>
          <p:nvPr>
            <p:ph idx="1"/>
          </p:nvPr>
        </p:nvSpPr>
        <p:spPr>
          <a:xfrm>
            <a:off x="1026354" y="1858687"/>
            <a:ext cx="10211282" cy="4355546"/>
          </a:xfrm>
        </p:spPr>
        <p:txBody>
          <a:bodyPr anchor="ctr">
            <a:normAutofit/>
          </a:bodyPr>
          <a:lstStyle/>
          <a:p>
            <a:pPr marL="0" indent="0">
              <a:buNone/>
            </a:pPr>
            <a:r>
              <a:rPr lang="en-US" altLang="zh-MO" b="1" dirty="0">
                <a:solidFill>
                  <a:schemeClr val="accent4">
                    <a:lumMod val="75000"/>
                  </a:schemeClr>
                </a:solidFill>
              </a:rPr>
              <a:t>Part 7: What Makes a Good Visualization?</a:t>
            </a:r>
          </a:p>
          <a:p>
            <a:pPr marL="0" indent="0">
              <a:buNone/>
            </a:pPr>
            <a:r>
              <a:rPr lang="en-US" sz="2200" b="1" dirty="0">
                <a:solidFill>
                  <a:srgbClr val="FF0000"/>
                </a:solidFill>
              </a:rPr>
              <a:t>Common Design Practices</a:t>
            </a:r>
          </a:p>
          <a:p>
            <a:r>
              <a:rPr lang="en-US" sz="2000" b="1" dirty="0"/>
              <a:t>Use colors to differentiate variables/subjects rather than symbols, as colors are more perceptible.</a:t>
            </a:r>
          </a:p>
          <a:p>
            <a:r>
              <a:rPr lang="en-US" sz="2000" b="1" dirty="0"/>
              <a:t>To show additional variables on a 2D plot, use color, shape, and size.</a:t>
            </a:r>
          </a:p>
          <a:p>
            <a:r>
              <a:rPr lang="en-US" sz="2000" b="1" dirty="0"/>
              <a:t>Keep it simple and don’t overload the visualization with too much information.</a:t>
            </a:r>
          </a:p>
        </p:txBody>
      </p:sp>
      <p:sp>
        <p:nvSpPr>
          <p:cNvPr id="4" name="頁尾版面配置區 3">
            <a:extLst>
              <a:ext uri="{FF2B5EF4-FFF2-40B4-BE49-F238E27FC236}">
                <a16:creationId xmlns:a16="http://schemas.microsoft.com/office/drawing/2014/main" id="{4321BB31-863C-434D-9921-ADDB9CBD49A3}"/>
              </a:ext>
            </a:extLst>
          </p:cNvPr>
          <p:cNvSpPr>
            <a:spLocks noGrp="1"/>
          </p:cNvSpPr>
          <p:nvPr>
            <p:ph type="ftr" sz="quarter" idx="11"/>
          </p:nvPr>
        </p:nvSpPr>
        <p:spPr/>
        <p:txBody>
          <a:bodyPr/>
          <a:lstStyle/>
          <a:p>
            <a:pPr algn="r"/>
            <a:fld id="{215E7548-F18C-4C4B-B96B-B6533EE29CBB}" type="slidenum">
              <a:rPr lang="en-US" altLang="zh-MO" smtClean="0"/>
              <a:pPr algn="r"/>
              <a:t>89</a:t>
            </a:fld>
            <a:endParaRPr lang="en-US" dirty="0"/>
          </a:p>
        </p:txBody>
      </p:sp>
      <p:sp>
        <p:nvSpPr>
          <p:cNvPr id="5" name="文字版面配置區 4">
            <a:extLst>
              <a:ext uri="{FF2B5EF4-FFF2-40B4-BE49-F238E27FC236}">
                <a16:creationId xmlns:a16="http://schemas.microsoft.com/office/drawing/2014/main" id="{96D96DA7-63BE-4A6D-918C-73A25183ECFD}"/>
              </a:ext>
            </a:extLst>
          </p:cNvPr>
          <p:cNvSpPr>
            <a:spLocks noGrp="1"/>
          </p:cNvSpPr>
          <p:nvPr>
            <p:ph type="body" sz="quarter" idx="13"/>
          </p:nvPr>
        </p:nvSpPr>
        <p:spPr>
          <a:xfrm>
            <a:off x="838200" y="676829"/>
            <a:ext cx="8667143" cy="639324"/>
          </a:xfrm>
        </p:spPr>
        <p:txBody>
          <a:bodyPr>
            <a:noAutofit/>
          </a:bodyPr>
          <a:lstStyle/>
          <a:p>
            <a:r>
              <a:rPr lang="en-US" altLang="zh-MO" sz="3200" dirty="0">
                <a:solidFill>
                  <a:srgbClr val="C00000"/>
                </a:solidFill>
              </a:rPr>
              <a:t>CISC7204 Data Science and Data Visualization</a:t>
            </a:r>
            <a:endParaRPr lang="zh-MO" altLang="en-US" sz="3200" dirty="0"/>
          </a:p>
        </p:txBody>
      </p:sp>
    </p:spTree>
    <p:extLst>
      <p:ext uri="{BB962C8B-B14F-4D97-AF65-F5344CB8AC3E}">
        <p14:creationId xmlns:p14="http://schemas.microsoft.com/office/powerpoint/2010/main" val="1699053030"/>
      </p:ext>
    </p:extLst>
  </p:cSld>
  <p:clrMapOvr>
    <a:masterClrMapping/>
  </p:clrMapOvr>
  <mc:AlternateContent xmlns:mc="http://schemas.openxmlformats.org/markup-compatibility/2006" xmlns:p14="http://schemas.microsoft.com/office/powerpoint/2010/main">
    <mc:Choice Requires="p14">
      <p:transition spd="slow" p14:dur="2000" advTm="30010"/>
    </mc:Choice>
    <mc:Fallback xmlns="">
      <p:transition spd="slow" advTm="30010"/>
    </mc:Fallback>
  </mc:AlternateContent>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2C39319-C3EB-463D-A73C-2DEA9D750625}"/>
              </a:ext>
            </a:extLst>
          </p:cNvPr>
          <p:cNvSpPr>
            <a:spLocks noGrp="1"/>
          </p:cNvSpPr>
          <p:nvPr>
            <p:ph type="title"/>
          </p:nvPr>
        </p:nvSpPr>
        <p:spPr/>
        <p:txBody>
          <a:bodyPr>
            <a:normAutofit/>
          </a:bodyPr>
          <a:lstStyle/>
          <a:p>
            <a:r>
              <a:rPr lang="en-US" altLang="zh-MO" sz="2800" dirty="0"/>
              <a:t> Introduction to Data Visualization Plots</a:t>
            </a:r>
            <a:endParaRPr lang="zh-MO" altLang="en-US" sz="2800" dirty="0"/>
          </a:p>
        </p:txBody>
      </p:sp>
      <p:sp>
        <p:nvSpPr>
          <p:cNvPr id="3" name="內容版面配置區 2">
            <a:extLst>
              <a:ext uri="{FF2B5EF4-FFF2-40B4-BE49-F238E27FC236}">
                <a16:creationId xmlns:a16="http://schemas.microsoft.com/office/drawing/2014/main" id="{72697A5A-2B81-4055-BE38-FBF0028B433F}"/>
              </a:ext>
            </a:extLst>
          </p:cNvPr>
          <p:cNvSpPr>
            <a:spLocks noGrp="1"/>
          </p:cNvSpPr>
          <p:nvPr>
            <p:ph idx="1"/>
          </p:nvPr>
        </p:nvSpPr>
        <p:spPr>
          <a:xfrm>
            <a:off x="838200" y="1997612"/>
            <a:ext cx="10275277" cy="4192173"/>
          </a:xfrm>
        </p:spPr>
        <p:txBody>
          <a:bodyPr anchor="ctr">
            <a:normAutofit lnSpcReduction="10000"/>
          </a:bodyPr>
          <a:lstStyle/>
          <a:p>
            <a:pPr marL="0" indent="0">
              <a:buNone/>
            </a:pPr>
            <a:r>
              <a:rPr lang="en-US" altLang="zh-MO" sz="3600" b="1" dirty="0">
                <a:solidFill>
                  <a:schemeClr val="accent2"/>
                </a:solidFill>
              </a:rPr>
              <a:t>Part 8: Summary</a:t>
            </a:r>
          </a:p>
          <a:p>
            <a:pPr marL="342900" indent="-342900"/>
            <a:r>
              <a:rPr lang="en-US" sz="2400" dirty="0"/>
              <a:t>This lecture covered the most important visualizations, categorized into comparison, relation, composition, distribution, and geological plots. </a:t>
            </a:r>
          </a:p>
          <a:p>
            <a:pPr marL="342900" indent="-342900"/>
            <a:r>
              <a:rPr lang="en-US" sz="2400" dirty="0"/>
              <a:t>For each plot, a description, practical examples, and design practices were given. </a:t>
            </a:r>
          </a:p>
          <a:p>
            <a:pPr marL="342900" indent="-342900"/>
            <a:r>
              <a:rPr lang="en-US" sz="2400" dirty="0"/>
              <a:t>Comparison plots, such as line charts, bar charts, and radar charts, are well suited to comparing multiple variables or variables over time. </a:t>
            </a:r>
          </a:p>
          <a:p>
            <a:pPr marL="342900" indent="-342900"/>
            <a:r>
              <a:rPr lang="en-US" sz="2400" dirty="0"/>
              <a:t>Relation plots are perfectly suited to show relationships between variables. Scatter plots, bubble plots, which are an extension of scatter plots, </a:t>
            </a:r>
            <a:r>
              <a:rPr lang="en-US" sz="2400" dirty="0" err="1"/>
              <a:t>correlograms</a:t>
            </a:r>
            <a:r>
              <a:rPr lang="en-US" sz="2400" dirty="0"/>
              <a:t>, and </a:t>
            </a:r>
            <a:r>
              <a:rPr lang="en-US" sz="2400" dirty="0" err="1"/>
              <a:t>heatmaps</a:t>
            </a:r>
            <a:r>
              <a:rPr lang="en-US" sz="2400" dirty="0"/>
              <a:t> were considered.</a:t>
            </a:r>
            <a:endParaRPr lang="en-US" altLang="zh-HK" sz="2400" dirty="0"/>
          </a:p>
        </p:txBody>
      </p:sp>
      <p:sp>
        <p:nvSpPr>
          <p:cNvPr id="4" name="頁尾版面配置區 3">
            <a:extLst>
              <a:ext uri="{FF2B5EF4-FFF2-40B4-BE49-F238E27FC236}">
                <a16:creationId xmlns:a16="http://schemas.microsoft.com/office/drawing/2014/main" id="{4321BB31-863C-434D-9921-ADDB9CBD49A3}"/>
              </a:ext>
            </a:extLst>
          </p:cNvPr>
          <p:cNvSpPr>
            <a:spLocks noGrp="1"/>
          </p:cNvSpPr>
          <p:nvPr>
            <p:ph type="ftr" sz="quarter" idx="11"/>
          </p:nvPr>
        </p:nvSpPr>
        <p:spPr/>
        <p:txBody>
          <a:bodyPr/>
          <a:lstStyle/>
          <a:p>
            <a:pPr algn="r"/>
            <a:fld id="{215E7548-F18C-4C4B-B96B-B6533EE29CBB}" type="slidenum">
              <a:rPr lang="en-US" altLang="zh-MO" smtClean="0"/>
              <a:pPr algn="r"/>
              <a:t>90</a:t>
            </a:fld>
            <a:endParaRPr lang="en-US" dirty="0"/>
          </a:p>
        </p:txBody>
      </p:sp>
      <p:sp>
        <p:nvSpPr>
          <p:cNvPr id="5" name="文字版面配置區 4">
            <a:extLst>
              <a:ext uri="{FF2B5EF4-FFF2-40B4-BE49-F238E27FC236}">
                <a16:creationId xmlns:a16="http://schemas.microsoft.com/office/drawing/2014/main" id="{96D96DA7-63BE-4A6D-918C-73A25183ECFD}"/>
              </a:ext>
            </a:extLst>
          </p:cNvPr>
          <p:cNvSpPr>
            <a:spLocks noGrp="1"/>
          </p:cNvSpPr>
          <p:nvPr>
            <p:ph type="body" sz="quarter" idx="13"/>
          </p:nvPr>
        </p:nvSpPr>
        <p:spPr>
          <a:xfrm>
            <a:off x="838200" y="676829"/>
            <a:ext cx="8667143" cy="639324"/>
          </a:xfrm>
        </p:spPr>
        <p:txBody>
          <a:bodyPr>
            <a:noAutofit/>
          </a:bodyPr>
          <a:lstStyle/>
          <a:p>
            <a:r>
              <a:rPr lang="en-US" altLang="zh-MO" sz="3200" dirty="0">
                <a:solidFill>
                  <a:srgbClr val="C00000"/>
                </a:solidFill>
              </a:rPr>
              <a:t>CISC7204 Data Science and Data Visualization</a:t>
            </a:r>
            <a:endParaRPr lang="zh-MO" altLang="en-US" sz="3200" dirty="0"/>
          </a:p>
        </p:txBody>
      </p:sp>
    </p:spTree>
    <p:extLst>
      <p:ext uri="{BB962C8B-B14F-4D97-AF65-F5344CB8AC3E}">
        <p14:creationId xmlns:p14="http://schemas.microsoft.com/office/powerpoint/2010/main" val="314275197"/>
      </p:ext>
    </p:extLst>
  </p:cSld>
  <p:clrMapOvr>
    <a:masterClrMapping/>
  </p:clrMapOvr>
  <mc:AlternateContent xmlns:mc="http://schemas.openxmlformats.org/markup-compatibility/2006" xmlns:p14="http://schemas.microsoft.com/office/powerpoint/2010/main">
    <mc:Choice Requires="p14">
      <p:transition spd="slow" p14:dur="2000" advTm="30010"/>
    </mc:Choice>
    <mc:Fallback xmlns="">
      <p:transition spd="slow" advTm="30010"/>
    </mc:Fallback>
  </mc:AlternateContent>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2C39319-C3EB-463D-A73C-2DEA9D750625}"/>
              </a:ext>
            </a:extLst>
          </p:cNvPr>
          <p:cNvSpPr>
            <a:spLocks noGrp="1"/>
          </p:cNvSpPr>
          <p:nvPr>
            <p:ph type="title"/>
          </p:nvPr>
        </p:nvSpPr>
        <p:spPr/>
        <p:txBody>
          <a:bodyPr>
            <a:normAutofit/>
          </a:bodyPr>
          <a:lstStyle/>
          <a:p>
            <a:r>
              <a:rPr lang="en-US" altLang="zh-MO" sz="2800" dirty="0"/>
              <a:t> Introduction to Data Visualization Plots</a:t>
            </a:r>
            <a:endParaRPr lang="zh-MO" altLang="en-US" sz="2800" dirty="0"/>
          </a:p>
        </p:txBody>
      </p:sp>
      <p:sp>
        <p:nvSpPr>
          <p:cNvPr id="3" name="內容版面配置區 2">
            <a:extLst>
              <a:ext uri="{FF2B5EF4-FFF2-40B4-BE49-F238E27FC236}">
                <a16:creationId xmlns:a16="http://schemas.microsoft.com/office/drawing/2014/main" id="{72697A5A-2B81-4055-BE38-FBF0028B433F}"/>
              </a:ext>
            </a:extLst>
          </p:cNvPr>
          <p:cNvSpPr>
            <a:spLocks noGrp="1"/>
          </p:cNvSpPr>
          <p:nvPr>
            <p:ph idx="1"/>
          </p:nvPr>
        </p:nvSpPr>
        <p:spPr>
          <a:xfrm>
            <a:off x="838200" y="1997612"/>
            <a:ext cx="10275277" cy="4192173"/>
          </a:xfrm>
        </p:spPr>
        <p:txBody>
          <a:bodyPr anchor="ctr">
            <a:normAutofit/>
          </a:bodyPr>
          <a:lstStyle/>
          <a:p>
            <a:pPr marL="0" indent="0">
              <a:buNone/>
            </a:pPr>
            <a:r>
              <a:rPr lang="en-US" altLang="zh-MO" sz="3600" b="1" dirty="0">
                <a:solidFill>
                  <a:schemeClr val="accent2"/>
                </a:solidFill>
              </a:rPr>
              <a:t>Part 8: Summary</a:t>
            </a:r>
          </a:p>
          <a:p>
            <a:pPr marL="342900" indent="-342900"/>
            <a:r>
              <a:rPr lang="en-US" sz="2400" dirty="0"/>
              <a:t>Composition plots are ideal if you need to think about something as part of a whole. We first covered pie charts and continued with stacked bar charts, stacked area charts, and Venn diagrams. </a:t>
            </a:r>
          </a:p>
          <a:p>
            <a:pPr marL="342900" indent="-342900"/>
            <a:r>
              <a:rPr lang="en-US" sz="2400" dirty="0"/>
              <a:t>For distribution plots that give a deep insight into how your data is distributed, histograms, density plots, box plots, and violin plots were considered. </a:t>
            </a:r>
          </a:p>
          <a:p>
            <a:pPr marL="342900" indent="-342900"/>
            <a:r>
              <a:rPr lang="en-US" sz="2400" dirty="0"/>
              <a:t>Regarding geospatial data, we discussed dot maps, connection maps, and choropleth maps. Finally, some remarks were provided on what makes a good visualization.</a:t>
            </a:r>
            <a:endParaRPr lang="en-US" altLang="zh-HK" sz="2400" dirty="0"/>
          </a:p>
        </p:txBody>
      </p:sp>
      <p:sp>
        <p:nvSpPr>
          <p:cNvPr id="4" name="頁尾版面配置區 3">
            <a:extLst>
              <a:ext uri="{FF2B5EF4-FFF2-40B4-BE49-F238E27FC236}">
                <a16:creationId xmlns:a16="http://schemas.microsoft.com/office/drawing/2014/main" id="{4321BB31-863C-434D-9921-ADDB9CBD49A3}"/>
              </a:ext>
            </a:extLst>
          </p:cNvPr>
          <p:cNvSpPr>
            <a:spLocks noGrp="1"/>
          </p:cNvSpPr>
          <p:nvPr>
            <p:ph type="ftr" sz="quarter" idx="11"/>
          </p:nvPr>
        </p:nvSpPr>
        <p:spPr/>
        <p:txBody>
          <a:bodyPr/>
          <a:lstStyle/>
          <a:p>
            <a:pPr algn="r"/>
            <a:fld id="{215E7548-F18C-4C4B-B96B-B6533EE29CBB}" type="slidenum">
              <a:rPr lang="en-US" altLang="zh-MO" smtClean="0"/>
              <a:pPr algn="r"/>
              <a:t>91</a:t>
            </a:fld>
            <a:endParaRPr lang="en-US" dirty="0"/>
          </a:p>
        </p:txBody>
      </p:sp>
      <p:sp>
        <p:nvSpPr>
          <p:cNvPr id="5" name="文字版面配置區 4">
            <a:extLst>
              <a:ext uri="{FF2B5EF4-FFF2-40B4-BE49-F238E27FC236}">
                <a16:creationId xmlns:a16="http://schemas.microsoft.com/office/drawing/2014/main" id="{96D96DA7-63BE-4A6D-918C-73A25183ECFD}"/>
              </a:ext>
            </a:extLst>
          </p:cNvPr>
          <p:cNvSpPr>
            <a:spLocks noGrp="1"/>
          </p:cNvSpPr>
          <p:nvPr>
            <p:ph type="body" sz="quarter" idx="13"/>
          </p:nvPr>
        </p:nvSpPr>
        <p:spPr>
          <a:xfrm>
            <a:off x="838200" y="676829"/>
            <a:ext cx="8667143" cy="639324"/>
          </a:xfrm>
        </p:spPr>
        <p:txBody>
          <a:bodyPr>
            <a:noAutofit/>
          </a:bodyPr>
          <a:lstStyle/>
          <a:p>
            <a:r>
              <a:rPr lang="en-US" altLang="zh-MO" sz="3200" dirty="0">
                <a:solidFill>
                  <a:srgbClr val="C00000"/>
                </a:solidFill>
              </a:rPr>
              <a:t>CISC7204 Data Science and Data Visualization</a:t>
            </a:r>
            <a:endParaRPr lang="zh-MO" altLang="en-US" sz="3200" dirty="0"/>
          </a:p>
        </p:txBody>
      </p:sp>
    </p:spTree>
    <p:extLst>
      <p:ext uri="{BB962C8B-B14F-4D97-AF65-F5344CB8AC3E}">
        <p14:creationId xmlns:p14="http://schemas.microsoft.com/office/powerpoint/2010/main" val="2692925788"/>
      </p:ext>
    </p:extLst>
  </p:cSld>
  <p:clrMapOvr>
    <a:masterClrMapping/>
  </p:clrMapOvr>
  <mc:AlternateContent xmlns:mc="http://schemas.openxmlformats.org/markup-compatibility/2006" xmlns:p14="http://schemas.microsoft.com/office/powerpoint/2010/main">
    <mc:Choice Requires="p14">
      <p:transition spd="slow" p14:dur="2000" advTm="30010"/>
    </mc:Choice>
    <mc:Fallback xmlns="">
      <p:transition spd="slow" advTm="30010"/>
    </mc:Fallback>
  </mc:AlternateContent>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2C39319-C3EB-463D-A73C-2DEA9D750625}"/>
              </a:ext>
            </a:extLst>
          </p:cNvPr>
          <p:cNvSpPr>
            <a:spLocks noGrp="1"/>
          </p:cNvSpPr>
          <p:nvPr>
            <p:ph type="title"/>
          </p:nvPr>
        </p:nvSpPr>
        <p:spPr/>
        <p:txBody>
          <a:bodyPr>
            <a:normAutofit/>
          </a:bodyPr>
          <a:lstStyle/>
          <a:p>
            <a:r>
              <a:rPr lang="en-US" altLang="zh-MO" sz="2800" dirty="0"/>
              <a:t> Introduction to Data Visualization Plots</a:t>
            </a:r>
            <a:endParaRPr lang="zh-MO" altLang="en-US" sz="2800" dirty="0"/>
          </a:p>
        </p:txBody>
      </p:sp>
      <p:sp>
        <p:nvSpPr>
          <p:cNvPr id="3" name="內容版面配置區 2">
            <a:extLst>
              <a:ext uri="{FF2B5EF4-FFF2-40B4-BE49-F238E27FC236}">
                <a16:creationId xmlns:a16="http://schemas.microsoft.com/office/drawing/2014/main" id="{72697A5A-2B81-4055-BE38-FBF0028B433F}"/>
              </a:ext>
            </a:extLst>
          </p:cNvPr>
          <p:cNvSpPr>
            <a:spLocks noGrp="1"/>
          </p:cNvSpPr>
          <p:nvPr>
            <p:ph idx="1"/>
          </p:nvPr>
        </p:nvSpPr>
        <p:spPr>
          <a:xfrm>
            <a:off x="838200" y="1997612"/>
            <a:ext cx="10275277" cy="4192173"/>
          </a:xfrm>
        </p:spPr>
        <p:txBody>
          <a:bodyPr anchor="ctr">
            <a:normAutofit/>
          </a:bodyPr>
          <a:lstStyle/>
          <a:p>
            <a:pPr marL="0" indent="0">
              <a:buNone/>
            </a:pPr>
            <a:r>
              <a:rPr lang="en-US" altLang="zh-MO" sz="3600" b="1" dirty="0">
                <a:solidFill>
                  <a:schemeClr val="accent2"/>
                </a:solidFill>
              </a:rPr>
              <a:t>Part 8: Summary</a:t>
            </a:r>
          </a:p>
          <a:p>
            <a:pPr marL="0" indent="0">
              <a:buNone/>
            </a:pPr>
            <a:r>
              <a:rPr lang="en-US" altLang="zh-HK" sz="2800" b="1" dirty="0">
                <a:solidFill>
                  <a:schemeClr val="accent1"/>
                </a:solidFill>
              </a:rPr>
              <a:t>In this Lecture 05, you have learned from:</a:t>
            </a:r>
          </a:p>
          <a:p>
            <a:pPr marL="342900" indent="-342900"/>
            <a:r>
              <a:rPr lang="en-US" sz="2400" dirty="0" err="1"/>
              <a:t>Dobler</a:t>
            </a:r>
            <a:r>
              <a:rPr lang="en-US" sz="2400" dirty="0"/>
              <a:t>, Mario &amp; </a:t>
            </a:r>
            <a:r>
              <a:rPr lang="en-US" sz="2400" dirty="0" err="1"/>
              <a:t>GroBmann</a:t>
            </a:r>
            <a:r>
              <a:rPr lang="en-US" sz="2400" dirty="0"/>
              <a:t>, Tim (2020) </a:t>
            </a:r>
            <a:r>
              <a:rPr lang="en-US" sz="2400" i="1" dirty="0"/>
              <a:t>The Data Visualization Workshop</a:t>
            </a:r>
            <a:r>
              <a:rPr lang="en-US" sz="2400" dirty="0"/>
              <a:t>. </a:t>
            </a:r>
            <a:r>
              <a:rPr lang="en-US" sz="2400" dirty="0" err="1"/>
              <a:t>Packt</a:t>
            </a:r>
            <a:r>
              <a:rPr lang="en-US" sz="2400" dirty="0"/>
              <a:t>.</a:t>
            </a:r>
          </a:p>
        </p:txBody>
      </p:sp>
      <p:sp>
        <p:nvSpPr>
          <p:cNvPr id="4" name="頁尾版面配置區 3">
            <a:extLst>
              <a:ext uri="{FF2B5EF4-FFF2-40B4-BE49-F238E27FC236}">
                <a16:creationId xmlns:a16="http://schemas.microsoft.com/office/drawing/2014/main" id="{4321BB31-863C-434D-9921-ADDB9CBD49A3}"/>
              </a:ext>
            </a:extLst>
          </p:cNvPr>
          <p:cNvSpPr>
            <a:spLocks noGrp="1"/>
          </p:cNvSpPr>
          <p:nvPr>
            <p:ph type="ftr" sz="quarter" idx="11"/>
          </p:nvPr>
        </p:nvSpPr>
        <p:spPr/>
        <p:txBody>
          <a:bodyPr/>
          <a:lstStyle/>
          <a:p>
            <a:pPr algn="r"/>
            <a:fld id="{215E7548-F18C-4C4B-B96B-B6533EE29CBB}" type="slidenum">
              <a:rPr lang="en-US" altLang="zh-MO" smtClean="0"/>
              <a:pPr algn="r"/>
              <a:t>92</a:t>
            </a:fld>
            <a:endParaRPr lang="en-US" dirty="0"/>
          </a:p>
        </p:txBody>
      </p:sp>
      <p:sp>
        <p:nvSpPr>
          <p:cNvPr id="5" name="文字版面配置區 4">
            <a:extLst>
              <a:ext uri="{FF2B5EF4-FFF2-40B4-BE49-F238E27FC236}">
                <a16:creationId xmlns:a16="http://schemas.microsoft.com/office/drawing/2014/main" id="{96D96DA7-63BE-4A6D-918C-73A25183ECFD}"/>
              </a:ext>
            </a:extLst>
          </p:cNvPr>
          <p:cNvSpPr>
            <a:spLocks noGrp="1"/>
          </p:cNvSpPr>
          <p:nvPr>
            <p:ph type="body" sz="quarter" idx="13"/>
          </p:nvPr>
        </p:nvSpPr>
        <p:spPr>
          <a:xfrm>
            <a:off x="838200" y="676829"/>
            <a:ext cx="8667143" cy="639324"/>
          </a:xfrm>
        </p:spPr>
        <p:txBody>
          <a:bodyPr>
            <a:noAutofit/>
          </a:bodyPr>
          <a:lstStyle/>
          <a:p>
            <a:r>
              <a:rPr lang="en-US" altLang="zh-MO" sz="3200" dirty="0">
                <a:solidFill>
                  <a:srgbClr val="C00000"/>
                </a:solidFill>
              </a:rPr>
              <a:t>CISC7204 Data Science and Data Visualization</a:t>
            </a:r>
            <a:endParaRPr lang="zh-MO" altLang="en-US" sz="3200" dirty="0"/>
          </a:p>
        </p:txBody>
      </p:sp>
    </p:spTree>
    <p:extLst>
      <p:ext uri="{BB962C8B-B14F-4D97-AF65-F5344CB8AC3E}">
        <p14:creationId xmlns:p14="http://schemas.microsoft.com/office/powerpoint/2010/main" val="1810132976"/>
      </p:ext>
    </p:extLst>
  </p:cSld>
  <p:clrMapOvr>
    <a:masterClrMapping/>
  </p:clrMapOvr>
  <mc:AlternateContent xmlns:mc="http://schemas.openxmlformats.org/markup-compatibility/2006" xmlns:p14="http://schemas.microsoft.com/office/powerpoint/2010/main">
    <mc:Choice Requires="p14">
      <p:transition spd="slow" p14:dur="2000" advTm="30010"/>
    </mc:Choice>
    <mc:Fallback xmlns="">
      <p:transition spd="slow" advTm="30010"/>
    </mc:Fallback>
  </mc:AlternateContent>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2C39319-C3EB-463D-A73C-2DEA9D750625}"/>
              </a:ext>
            </a:extLst>
          </p:cNvPr>
          <p:cNvSpPr>
            <a:spLocks noGrp="1"/>
          </p:cNvSpPr>
          <p:nvPr>
            <p:ph type="title"/>
          </p:nvPr>
        </p:nvSpPr>
        <p:spPr/>
        <p:txBody>
          <a:bodyPr>
            <a:normAutofit/>
          </a:bodyPr>
          <a:lstStyle/>
          <a:p>
            <a:r>
              <a:rPr lang="en-US" altLang="zh-MO" sz="2800" dirty="0"/>
              <a:t> Introduction to Data Visualization Plots</a:t>
            </a:r>
            <a:endParaRPr lang="zh-MO" altLang="en-US" sz="2800" dirty="0"/>
          </a:p>
        </p:txBody>
      </p:sp>
      <p:sp>
        <p:nvSpPr>
          <p:cNvPr id="3" name="內容版面配置區 2">
            <a:extLst>
              <a:ext uri="{FF2B5EF4-FFF2-40B4-BE49-F238E27FC236}">
                <a16:creationId xmlns:a16="http://schemas.microsoft.com/office/drawing/2014/main" id="{72697A5A-2B81-4055-BE38-FBF0028B433F}"/>
              </a:ext>
            </a:extLst>
          </p:cNvPr>
          <p:cNvSpPr>
            <a:spLocks noGrp="1"/>
          </p:cNvSpPr>
          <p:nvPr>
            <p:ph idx="1"/>
          </p:nvPr>
        </p:nvSpPr>
        <p:spPr>
          <a:xfrm>
            <a:off x="838200" y="1997612"/>
            <a:ext cx="10275277" cy="4192173"/>
          </a:xfrm>
        </p:spPr>
        <p:txBody>
          <a:bodyPr anchor="ctr">
            <a:normAutofit/>
          </a:bodyPr>
          <a:lstStyle/>
          <a:p>
            <a:pPr marL="0" indent="0">
              <a:buNone/>
            </a:pPr>
            <a:r>
              <a:rPr lang="en-US" altLang="zh-MO" sz="4400" b="1" dirty="0">
                <a:solidFill>
                  <a:srgbClr val="C00000"/>
                </a:solidFill>
              </a:rPr>
              <a:t>THANK YOU!</a:t>
            </a:r>
          </a:p>
          <a:p>
            <a:pPr marL="0" indent="0">
              <a:buNone/>
            </a:pPr>
            <a:r>
              <a:rPr lang="en-US" altLang="zh-MO" sz="2600" b="1" dirty="0">
                <a:solidFill>
                  <a:srgbClr val="002060"/>
                </a:solidFill>
              </a:rPr>
              <a:t>Questions and Answers (Q &amp; A)</a:t>
            </a:r>
          </a:p>
          <a:p>
            <a:pPr marL="0" indent="0">
              <a:buNone/>
            </a:pPr>
            <a:r>
              <a:rPr lang="en-US" altLang="zh-MO" sz="2600" b="1" dirty="0">
                <a:solidFill>
                  <a:srgbClr val="00B0F0"/>
                </a:solidFill>
              </a:rPr>
              <a:t>Lecture 05 - </a:t>
            </a:r>
            <a:r>
              <a:rPr lang="zh-TW" altLang="en-US" sz="2800" b="1" dirty="0"/>
              <a:t>授人以魚不如授之以漁</a:t>
            </a:r>
          </a:p>
          <a:p>
            <a:pPr marL="0" indent="0">
              <a:buNone/>
            </a:pPr>
            <a:endParaRPr lang="en-US" altLang="zh-MO" sz="2600" b="1" dirty="0">
              <a:solidFill>
                <a:srgbClr val="00B0F0"/>
              </a:solidFill>
            </a:endParaRPr>
          </a:p>
        </p:txBody>
      </p:sp>
      <p:sp>
        <p:nvSpPr>
          <p:cNvPr id="4" name="頁尾版面配置區 3">
            <a:extLst>
              <a:ext uri="{FF2B5EF4-FFF2-40B4-BE49-F238E27FC236}">
                <a16:creationId xmlns:a16="http://schemas.microsoft.com/office/drawing/2014/main" id="{4321BB31-863C-434D-9921-ADDB9CBD49A3}"/>
              </a:ext>
            </a:extLst>
          </p:cNvPr>
          <p:cNvSpPr>
            <a:spLocks noGrp="1"/>
          </p:cNvSpPr>
          <p:nvPr>
            <p:ph type="ftr" sz="quarter" idx="11"/>
          </p:nvPr>
        </p:nvSpPr>
        <p:spPr/>
        <p:txBody>
          <a:bodyPr/>
          <a:lstStyle/>
          <a:p>
            <a:pPr algn="r"/>
            <a:fld id="{215E7548-F18C-4C4B-B96B-B6533EE29CBB}" type="slidenum">
              <a:rPr lang="en-US" altLang="zh-MO" smtClean="0"/>
              <a:pPr algn="r"/>
              <a:t>93</a:t>
            </a:fld>
            <a:endParaRPr lang="en-US" dirty="0"/>
          </a:p>
        </p:txBody>
      </p:sp>
      <p:sp>
        <p:nvSpPr>
          <p:cNvPr id="5" name="文字版面配置區 4">
            <a:extLst>
              <a:ext uri="{FF2B5EF4-FFF2-40B4-BE49-F238E27FC236}">
                <a16:creationId xmlns:a16="http://schemas.microsoft.com/office/drawing/2014/main" id="{96D96DA7-63BE-4A6D-918C-73A25183ECFD}"/>
              </a:ext>
            </a:extLst>
          </p:cNvPr>
          <p:cNvSpPr>
            <a:spLocks noGrp="1"/>
          </p:cNvSpPr>
          <p:nvPr>
            <p:ph type="body" sz="quarter" idx="13"/>
          </p:nvPr>
        </p:nvSpPr>
        <p:spPr>
          <a:xfrm>
            <a:off x="838200" y="676829"/>
            <a:ext cx="8667143" cy="639324"/>
          </a:xfrm>
        </p:spPr>
        <p:txBody>
          <a:bodyPr>
            <a:noAutofit/>
          </a:bodyPr>
          <a:lstStyle/>
          <a:p>
            <a:r>
              <a:rPr lang="en-US" altLang="zh-MO" sz="3200">
                <a:solidFill>
                  <a:srgbClr val="C00000"/>
                </a:solidFill>
              </a:rPr>
              <a:t>CISC7204 Data Science and Data Visualization</a:t>
            </a:r>
            <a:endParaRPr lang="zh-MO" altLang="en-US" sz="3200" dirty="0"/>
          </a:p>
        </p:txBody>
      </p:sp>
    </p:spTree>
    <p:extLst>
      <p:ext uri="{BB962C8B-B14F-4D97-AF65-F5344CB8AC3E}">
        <p14:creationId xmlns:p14="http://schemas.microsoft.com/office/powerpoint/2010/main" val="34214390"/>
      </p:ext>
    </p:extLst>
  </p:cSld>
  <p:clrMapOvr>
    <a:masterClrMapping/>
  </p:clrMapOvr>
  <mc:AlternateContent xmlns:mc="http://schemas.openxmlformats.org/markup-compatibility/2006" xmlns:p14="http://schemas.microsoft.com/office/powerpoint/2010/main">
    <mc:Choice Requires="p14">
      <p:transition spd="slow" p14:dur="2000" advTm="30010"/>
    </mc:Choice>
    <mc:Fallback xmlns="">
      <p:transition spd="slow" advTm="30010"/>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58020</TotalTime>
  <Words>6896</Words>
  <Application>Microsoft Office PowerPoint</Application>
  <PresentationFormat>Widescreen</PresentationFormat>
  <Paragraphs>754</Paragraphs>
  <Slides>93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93</vt:i4>
      </vt:variant>
    </vt:vector>
  </HeadingPairs>
  <TitlesOfParts>
    <vt:vector size="98" baseType="lpstr">
      <vt:lpstr>Gill Sans</vt:lpstr>
      <vt:lpstr>Arial</vt:lpstr>
      <vt:lpstr>Calibri</vt:lpstr>
      <vt:lpstr>Microsoft New Tai Lue</vt:lpstr>
      <vt:lpstr>Office Theme</vt:lpstr>
      <vt:lpstr>     CISC7204 Data Science and Data Visualization Day 05, 2026 September 16 07:00 pm – 08:00 pm E4-G078</vt:lpstr>
      <vt:lpstr>Introduction to Data Visualization Plots</vt:lpstr>
      <vt:lpstr> Introduction to Data Visualization Plots</vt:lpstr>
      <vt:lpstr> Introduction to Data Visualization Plots</vt:lpstr>
      <vt:lpstr> Introduction to Data Visualization Plots</vt:lpstr>
      <vt:lpstr> Introduction to Data Visualization Plots</vt:lpstr>
      <vt:lpstr> Introduction to Data Visualization Plots</vt:lpstr>
      <vt:lpstr> Introduction to Data Visualization Plots</vt:lpstr>
      <vt:lpstr> Introduction to Data Visualization Plots</vt:lpstr>
      <vt:lpstr> Introduction to Data Visualization Plots</vt:lpstr>
      <vt:lpstr> Introduction to Data Visualization Plots</vt:lpstr>
      <vt:lpstr> Introduction to Data Visualization Plots</vt:lpstr>
      <vt:lpstr> Introduction to Data Visualization Plots</vt:lpstr>
      <vt:lpstr> Introduction to Data Visualization Plots</vt:lpstr>
      <vt:lpstr> Introduction to Data Visualization Plots</vt:lpstr>
      <vt:lpstr> Introduction to Data Visualization Plots</vt:lpstr>
      <vt:lpstr> Introduction to Data Visualization Plots</vt:lpstr>
      <vt:lpstr> Introduction to Data Visualization Plots</vt:lpstr>
      <vt:lpstr> Introduction to Data Visualization Plots</vt:lpstr>
      <vt:lpstr> Introduction to Data Visualization Plots</vt:lpstr>
      <vt:lpstr> Introduction to Data Visualization Plots</vt:lpstr>
      <vt:lpstr> Introduction to Data Visualization Plots</vt:lpstr>
      <vt:lpstr> Introduction to Data Visualization Plots</vt:lpstr>
      <vt:lpstr> Introduction to Data Visualization Plots</vt:lpstr>
      <vt:lpstr> Introduction to Data Visualization Plots</vt:lpstr>
      <vt:lpstr> Introduction to Data Visualization Plots</vt:lpstr>
      <vt:lpstr> Introduction to Data Visualization Plots</vt:lpstr>
      <vt:lpstr> Introduction to Data Visualization Plots</vt:lpstr>
      <vt:lpstr> Introduction to Data Visualization Plots</vt:lpstr>
      <vt:lpstr> Introduction to Data Visualization Plots</vt:lpstr>
      <vt:lpstr> Introduction to Data Visualization Plots</vt:lpstr>
      <vt:lpstr> Introduction to Data Visualization Plots</vt:lpstr>
      <vt:lpstr> Introduction to Data Visualization Plots</vt:lpstr>
      <vt:lpstr> Introduction to Data Visualization Plots</vt:lpstr>
      <vt:lpstr> Introduction to Data Visualization Plots</vt:lpstr>
      <vt:lpstr> Introduction to Data Visualization Plots</vt:lpstr>
      <vt:lpstr> Introduction to Data Visualization Plots</vt:lpstr>
      <vt:lpstr> Introduction to Data Visualization Plots</vt:lpstr>
      <vt:lpstr> Introduction to Data Visualization Plots</vt:lpstr>
      <vt:lpstr> Introduction to Data Visualization Plots</vt:lpstr>
      <vt:lpstr> Introduction to Data Visualization Plots</vt:lpstr>
      <vt:lpstr> Introduction to Data Visualization Plots</vt:lpstr>
      <vt:lpstr> Introduction to Data Visualization Plots</vt:lpstr>
      <vt:lpstr> Introduction to Data Visualization Plots</vt:lpstr>
      <vt:lpstr> Introduction to Data Visualization Plots</vt:lpstr>
      <vt:lpstr> Introduction to Data Visualization Plots</vt:lpstr>
      <vt:lpstr> Introduction to Data Visualization Plots</vt:lpstr>
      <vt:lpstr> Introduction to Data Visualization Plots</vt:lpstr>
      <vt:lpstr> Introduction to Data Visualization Plots</vt:lpstr>
      <vt:lpstr> Introduction to Data Visualization Plots</vt:lpstr>
      <vt:lpstr> Introduction to Data Visualization Plots</vt:lpstr>
      <vt:lpstr> Introduction to Data Visualization Plots</vt:lpstr>
      <vt:lpstr> Introduction to Data Visualization Plots</vt:lpstr>
      <vt:lpstr> Introduction to Data Visualization Plots</vt:lpstr>
      <vt:lpstr> Introduction to Data Visualization Plots</vt:lpstr>
      <vt:lpstr> Introduction to Data Visualization Plots</vt:lpstr>
      <vt:lpstr> Introduction to Data Visualization Plots</vt:lpstr>
      <vt:lpstr> Introduction to Data Visualization Plots</vt:lpstr>
      <vt:lpstr> Introduction to Data Visualization Plots</vt:lpstr>
      <vt:lpstr> Introduction to Data Visualization Plots</vt:lpstr>
      <vt:lpstr> Introduction to Data Visualization Plots</vt:lpstr>
      <vt:lpstr> Introduction to Data Visualization Plots</vt:lpstr>
      <vt:lpstr> Introduction to Data Visualization Plots</vt:lpstr>
      <vt:lpstr> Introduction to Data Visualization Plots</vt:lpstr>
      <vt:lpstr> Introduction to Data Visualization Plots</vt:lpstr>
      <vt:lpstr> Introduction to Data Visualization Plots</vt:lpstr>
      <vt:lpstr> Introduction to Data Visualization Plots</vt:lpstr>
      <vt:lpstr> Introduction to Data Visualization Plots</vt:lpstr>
      <vt:lpstr> Introduction to Data Visualization Plots</vt:lpstr>
      <vt:lpstr> Introduction to Data Visualization Plots</vt:lpstr>
      <vt:lpstr> Introduction to Data Visualization Plots</vt:lpstr>
      <vt:lpstr> Introduction to Data Visualization Plots</vt:lpstr>
      <vt:lpstr> Introduction to Data Visualization Plots</vt:lpstr>
      <vt:lpstr> Introduction to Data Visualization Plots</vt:lpstr>
      <vt:lpstr> Introduction to Data Visualization Plots</vt:lpstr>
      <vt:lpstr> Introduction to Data Visualization Plots</vt:lpstr>
      <vt:lpstr> Introduction to Data Visualization Plots</vt:lpstr>
      <vt:lpstr> Introduction to Data Visualization Plots</vt:lpstr>
      <vt:lpstr> Introduction to Data Visualization Plots</vt:lpstr>
      <vt:lpstr> Introduction to Data Visualization Plots</vt:lpstr>
      <vt:lpstr> Introduction to Data Visualization Plots</vt:lpstr>
      <vt:lpstr> Introduction to Data Visualization Plots</vt:lpstr>
      <vt:lpstr> Introduction to Data Visualization Plots</vt:lpstr>
      <vt:lpstr> Introduction to Data Visualization Plots</vt:lpstr>
      <vt:lpstr> Introduction to Data Visualization Plots</vt:lpstr>
      <vt:lpstr> Introduction to Data Visualization Plots</vt:lpstr>
      <vt:lpstr> Introduction to Data Visualization Plots</vt:lpstr>
      <vt:lpstr> Introduction to Data Visualization Plots</vt:lpstr>
      <vt:lpstr> Introduction to Data Visualization Plots</vt:lpstr>
      <vt:lpstr> Introduction to Data Visualization Plots</vt:lpstr>
      <vt:lpstr> Introduction to Data Visualization Plots</vt:lpstr>
      <vt:lpstr> Introduction to Data Visualization Plots</vt:lpstr>
      <vt:lpstr> Introduction to Data Visualization Plots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 Contribute DO Help</dc:title>
  <dc:creator>lidiasc</dc:creator>
  <cp:lastModifiedBy>fstkhv</cp:lastModifiedBy>
  <cp:revision>678</cp:revision>
  <cp:lastPrinted>2018-07-26T04:14:03Z</cp:lastPrinted>
  <dcterms:created xsi:type="dcterms:W3CDTF">2017-04-18T04:00:56Z</dcterms:created>
  <dcterms:modified xsi:type="dcterms:W3CDTF">2026-09-12T02:49:07Z</dcterms:modified>
</cp:coreProperties>
</file>